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3" r:id="rId1"/>
    <p:sldMasterId id="2147483708" r:id="rId2"/>
  </p:sldMasterIdLst>
  <p:notesMasterIdLst>
    <p:notesMasterId r:id="rId19"/>
  </p:notesMasterIdLst>
  <p:sldIdLst>
    <p:sldId id="334" r:id="rId3"/>
    <p:sldId id="333" r:id="rId4"/>
    <p:sldId id="341" r:id="rId5"/>
    <p:sldId id="369" r:id="rId6"/>
    <p:sldId id="347" r:id="rId7"/>
    <p:sldId id="343" r:id="rId8"/>
    <p:sldId id="349" r:id="rId9"/>
    <p:sldId id="353" r:id="rId10"/>
    <p:sldId id="359" r:id="rId11"/>
    <p:sldId id="360" r:id="rId12"/>
    <p:sldId id="370" r:id="rId13"/>
    <p:sldId id="362" r:id="rId14"/>
    <p:sldId id="372" r:id="rId15"/>
    <p:sldId id="371" r:id="rId16"/>
    <p:sldId id="373" r:id="rId17"/>
    <p:sldId id="379"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0033CC"/>
    <a:srgbClr val="008000"/>
    <a:srgbClr val="FCD4D4"/>
    <a:srgbClr val="E1F2F3"/>
    <a:srgbClr val="FFFFC0"/>
    <a:srgbClr val="FFF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23" autoAdjust="0"/>
    <p:restoredTop sz="88785" autoAdjust="0"/>
  </p:normalViewPr>
  <p:slideViewPr>
    <p:cSldViewPr>
      <p:cViewPr varScale="1">
        <p:scale>
          <a:sx n="66" d="100"/>
          <a:sy n="66" d="100"/>
        </p:scale>
        <p:origin x="-1152" y="-6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200" smtClean="0"/>
            </a:lvl1pPr>
          </a:lstStyle>
          <a:p>
            <a:pPr>
              <a:defRPr/>
            </a:pPr>
            <a:endParaRPr lang="en-US" altLang="en-US"/>
          </a:p>
        </p:txBody>
      </p:sp>
      <p:sp>
        <p:nvSpPr>
          <p:cNvPr id="512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endParaRPr lang="en-US" alt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smtClean="0"/>
            </a:lvl1pPr>
          </a:lstStyle>
          <a:p>
            <a:pPr>
              <a:defRPr/>
            </a:pPr>
            <a:endParaRPr lang="en-US" alt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E1CAB84F-B75A-4984-8F3C-AF33274BE414}" type="slidenum">
              <a:rPr lang="en-US" altLang="en-US"/>
              <a:pPr>
                <a:defRPr/>
              </a:pPr>
              <a:t>‹#›</a:t>
            </a:fld>
            <a:endParaRPr lang="en-US" altLang="en-US"/>
          </a:p>
        </p:txBody>
      </p:sp>
    </p:spTree>
    <p:extLst>
      <p:ext uri="{BB962C8B-B14F-4D97-AF65-F5344CB8AC3E}">
        <p14:creationId xmlns:p14="http://schemas.microsoft.com/office/powerpoint/2010/main" val="14381812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Rectangle 2"/>
          <p:cNvSpPr>
            <a:spLocks noGrp="1" noRot="1" noChangeAspect="1" noChangeArrowheads="1" noTextEdit="1"/>
          </p:cNvSpPr>
          <p:nvPr>
            <p:ph type="sldImg"/>
          </p:nvPr>
        </p:nvSpPr>
        <p:spPr>
          <a:xfrm>
            <a:off x="989013" y="731838"/>
            <a:ext cx="4883150" cy="3662362"/>
          </a:xfrm>
          <a:ln/>
        </p:spPr>
      </p:sp>
      <p:sp>
        <p:nvSpPr>
          <p:cNvPr id="756739" name="Rectangle 3"/>
          <p:cNvSpPr>
            <a:spLocks noGrp="1" noChangeArrowheads="1"/>
          </p:cNvSpPr>
          <p:nvPr>
            <p:ph type="body" idx="1"/>
          </p:nvPr>
        </p:nvSpPr>
        <p:spPr>
          <a:xfrm>
            <a:off x="914400" y="4640263"/>
            <a:ext cx="5029200" cy="4394200"/>
          </a:xfrm>
        </p:spPr>
        <p:txBody>
          <a:bodyPr/>
          <a:lstStyle/>
          <a:p>
            <a:endParaRPr lang="en-US" altLang="en-US"/>
          </a:p>
        </p:txBody>
      </p:sp>
    </p:spTree>
    <p:extLst>
      <p:ext uri="{BB962C8B-B14F-4D97-AF65-F5344CB8AC3E}">
        <p14:creationId xmlns:p14="http://schemas.microsoft.com/office/powerpoint/2010/main" val="183445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90" name="Rectangle 2"/>
          <p:cNvSpPr>
            <a:spLocks noGrp="1" noRot="1" noChangeAspect="1" noChangeArrowheads="1" noTextEdit="1"/>
          </p:cNvSpPr>
          <p:nvPr>
            <p:ph type="sldImg"/>
          </p:nvPr>
        </p:nvSpPr>
        <p:spPr>
          <a:xfrm>
            <a:off x="987425" y="731838"/>
            <a:ext cx="4883150" cy="3662362"/>
          </a:xfrm>
          <a:ln/>
        </p:spPr>
      </p:sp>
      <p:sp>
        <p:nvSpPr>
          <p:cNvPr id="626691" name="Rectangle 3"/>
          <p:cNvSpPr>
            <a:spLocks noGrp="1" noChangeArrowheads="1"/>
          </p:cNvSpPr>
          <p:nvPr>
            <p:ph type="body" idx="1"/>
          </p:nvPr>
        </p:nvSpPr>
        <p:spPr>
          <a:xfrm>
            <a:off x="1123950" y="4640263"/>
            <a:ext cx="4610100" cy="4394200"/>
          </a:xfrm>
        </p:spPr>
        <p:txBody>
          <a:bodyPr lIns="91426" tIns="45713" rIns="91426" bIns="45713"/>
          <a:lstStyle/>
          <a:p>
            <a:r>
              <a:rPr lang="en-US" altLang="en-US" sz="1400" dirty="0"/>
              <a:t>Actors</a:t>
            </a:r>
          </a:p>
          <a:p>
            <a:r>
              <a:rPr lang="en-US" altLang="en-US" sz="1400" dirty="0"/>
              <a:t>7) Does one person play several different roles?</a:t>
            </a:r>
          </a:p>
          <a:p>
            <a:pPr lvl="1">
              <a:buFontTx/>
              <a:buChar char="•"/>
            </a:pPr>
            <a:r>
              <a:rPr lang="en-US" altLang="en-US" sz="1400" u="sng" dirty="0"/>
              <a:t>May</a:t>
            </a:r>
            <a:r>
              <a:rPr lang="en-US" altLang="en-US" sz="1400" dirty="0"/>
              <a:t> have an actor for each role</a:t>
            </a:r>
          </a:p>
          <a:p>
            <a:r>
              <a:rPr lang="en-US" altLang="en-US" sz="1400" dirty="0"/>
              <a:t>8) Do several people play the same role?</a:t>
            </a:r>
          </a:p>
          <a:p>
            <a:pPr lvl="1">
              <a:buFontTx/>
              <a:buChar char="•"/>
            </a:pPr>
            <a:r>
              <a:rPr lang="en-US" altLang="en-US" sz="1400" dirty="0"/>
              <a:t>Only use one actor per role (no matter how many people play that role)</a:t>
            </a:r>
          </a:p>
          <a:p>
            <a:endParaRPr lang="en-US" altLang="en-US" sz="1400" dirty="0"/>
          </a:p>
          <a:p>
            <a:pPr>
              <a:buFontTx/>
              <a:buChar char="•"/>
            </a:pPr>
            <a:r>
              <a:rPr lang="en-US" altLang="en-US" sz="1400" dirty="0"/>
              <a:t>Identifying actors is an </a:t>
            </a:r>
            <a:r>
              <a:rPr lang="en-US" altLang="en-US" sz="1400" b="1" dirty="0"/>
              <a:t>iterative</a:t>
            </a:r>
            <a:r>
              <a:rPr lang="en-US" altLang="en-US" sz="1400" dirty="0"/>
              <a:t> process</a:t>
            </a:r>
          </a:p>
          <a:p>
            <a:pPr>
              <a:buFontTx/>
              <a:buChar char="•"/>
            </a:pPr>
            <a:r>
              <a:rPr lang="en-US" altLang="en-US" sz="1400" dirty="0"/>
              <a:t>Defining </a:t>
            </a:r>
            <a:r>
              <a:rPr lang="en-US" altLang="en-US" sz="1400" b="1" dirty="0"/>
              <a:t>how</a:t>
            </a:r>
            <a:r>
              <a:rPr lang="en-US" altLang="en-US" sz="1400" dirty="0"/>
              <a:t> an actor interacts with the system may clarify whether there are duplicate actors or not</a:t>
            </a:r>
          </a:p>
          <a:p>
            <a:endParaRPr lang="en-US" altLang="en-US" sz="1400" dirty="0"/>
          </a:p>
          <a:p>
            <a:endParaRPr lang="en-US" altLang="en-US" sz="1400" dirty="0"/>
          </a:p>
        </p:txBody>
      </p:sp>
    </p:spTree>
    <p:extLst>
      <p:ext uri="{BB962C8B-B14F-4D97-AF65-F5344CB8AC3E}">
        <p14:creationId xmlns:p14="http://schemas.microsoft.com/office/powerpoint/2010/main" val="3893485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Rot="1" noChangeAspect="1" noChangeArrowheads="1" noTextEdit="1"/>
          </p:cNvSpPr>
          <p:nvPr>
            <p:ph type="sldImg"/>
          </p:nvPr>
        </p:nvSpPr>
        <p:spPr>
          <a:xfrm>
            <a:off x="989013" y="731838"/>
            <a:ext cx="4883150" cy="3662362"/>
          </a:xfrm>
          <a:ln/>
        </p:spPr>
      </p:sp>
      <p:sp>
        <p:nvSpPr>
          <p:cNvPr id="610307" name="Rectangle 3"/>
          <p:cNvSpPr>
            <a:spLocks noGrp="1" noChangeArrowheads="1"/>
          </p:cNvSpPr>
          <p:nvPr>
            <p:ph type="body" idx="1"/>
          </p:nvPr>
        </p:nvSpPr>
        <p:spPr>
          <a:xfrm>
            <a:off x="914400" y="4640263"/>
            <a:ext cx="5029200" cy="4394200"/>
          </a:xfrm>
        </p:spPr>
        <p:txBody>
          <a:bodyPr/>
          <a:lstStyle/>
          <a:p>
            <a:endParaRPr lang="en-US" altLang="en-US"/>
          </a:p>
        </p:txBody>
      </p:sp>
    </p:spTree>
    <p:extLst>
      <p:ext uri="{BB962C8B-B14F-4D97-AF65-F5344CB8AC3E}">
        <p14:creationId xmlns:p14="http://schemas.microsoft.com/office/powerpoint/2010/main" val="398422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6" name="Rectangle 2"/>
          <p:cNvSpPr>
            <a:spLocks noGrp="1" noRot="1" noChangeAspect="1" noChangeArrowheads="1" noTextEdit="1"/>
          </p:cNvSpPr>
          <p:nvPr>
            <p:ph type="sldImg"/>
          </p:nvPr>
        </p:nvSpPr>
        <p:spPr>
          <a:xfrm>
            <a:off x="987425" y="731838"/>
            <a:ext cx="4883150" cy="3662362"/>
          </a:xfrm>
          <a:ln/>
        </p:spPr>
      </p:sp>
      <p:sp>
        <p:nvSpPr>
          <p:cNvPr id="630787" name="Rectangle 3"/>
          <p:cNvSpPr>
            <a:spLocks noGrp="1" noChangeArrowheads="1"/>
          </p:cNvSpPr>
          <p:nvPr>
            <p:ph type="body" idx="1"/>
          </p:nvPr>
        </p:nvSpPr>
        <p:spPr>
          <a:xfrm>
            <a:off x="1123950" y="4640263"/>
            <a:ext cx="4610100" cy="4394200"/>
          </a:xfrm>
        </p:spPr>
        <p:txBody>
          <a:bodyPr lIns="91426" tIns="45713" rIns="91426" bIns="45713"/>
          <a:lstStyle/>
          <a:p>
            <a:r>
              <a:rPr lang="en-US" altLang="en-US" sz="1400"/>
              <a:t>Actors</a:t>
            </a:r>
          </a:p>
          <a:p>
            <a:pPr>
              <a:buFontTx/>
              <a:buChar char="•"/>
            </a:pPr>
            <a:r>
              <a:rPr lang="en-US" altLang="en-US" sz="1400"/>
              <a:t>Are </a:t>
            </a:r>
            <a:r>
              <a:rPr lang="en-US" altLang="en-US" sz="1400" b="1"/>
              <a:t>NOT a part</a:t>
            </a:r>
            <a:r>
              <a:rPr lang="en-US" altLang="en-US" sz="1400"/>
              <a:t> of the system (</a:t>
            </a:r>
            <a:r>
              <a:rPr lang="en-US" altLang="en-US" sz="1400" b="1"/>
              <a:t>external</a:t>
            </a:r>
            <a:r>
              <a:rPr lang="en-US" altLang="en-US" sz="1400"/>
              <a:t> to the system)</a:t>
            </a:r>
          </a:p>
          <a:p>
            <a:pPr>
              <a:buFontTx/>
              <a:buChar char="•"/>
            </a:pPr>
            <a:r>
              <a:rPr lang="en-US" altLang="en-US" sz="1400"/>
              <a:t>A single actor may represent multiple physical users</a:t>
            </a:r>
          </a:p>
          <a:p>
            <a:pPr>
              <a:buFontTx/>
              <a:buChar char="•"/>
            </a:pPr>
            <a:r>
              <a:rPr lang="en-US" altLang="en-US" sz="1400"/>
              <a:t>Whether human or not, represented by stick figure</a:t>
            </a:r>
          </a:p>
          <a:p>
            <a:pPr lvl="1">
              <a:buFontTx/>
              <a:buChar char="•"/>
            </a:pPr>
            <a:r>
              <a:rPr lang="en-US" altLang="en-US" sz="1400" b="1"/>
              <a:t>MUST label</a:t>
            </a:r>
            <a:r>
              <a:rPr lang="en-US" altLang="en-US" sz="1400"/>
              <a:t> stick figure with the name of the actor</a:t>
            </a:r>
          </a:p>
          <a:p>
            <a:endParaRPr lang="en-US" altLang="en-US" sz="1400"/>
          </a:p>
          <a:p>
            <a:endParaRPr lang="en-US" altLang="en-US" sz="1400"/>
          </a:p>
          <a:p>
            <a:endParaRPr lang="en-US" altLang="en-US" sz="1400"/>
          </a:p>
        </p:txBody>
      </p:sp>
    </p:spTree>
    <p:extLst>
      <p:ext uri="{BB962C8B-B14F-4D97-AF65-F5344CB8AC3E}">
        <p14:creationId xmlns:p14="http://schemas.microsoft.com/office/powerpoint/2010/main" val="4267326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2"/>
          <p:cNvSpPr>
            <a:spLocks noGrp="1" noRot="1" noChangeAspect="1" noChangeArrowheads="1" noTextEdit="1"/>
          </p:cNvSpPr>
          <p:nvPr>
            <p:ph type="sldImg"/>
          </p:nvPr>
        </p:nvSpPr>
        <p:spPr>
          <a:xfrm>
            <a:off x="989013" y="731838"/>
            <a:ext cx="4883150" cy="3662362"/>
          </a:xfrm>
          <a:ln/>
        </p:spPr>
      </p:sp>
      <p:sp>
        <p:nvSpPr>
          <p:cNvPr id="618499" name="Rectangle 3"/>
          <p:cNvSpPr>
            <a:spLocks noGrp="1" noChangeArrowheads="1"/>
          </p:cNvSpPr>
          <p:nvPr>
            <p:ph type="body" idx="1"/>
          </p:nvPr>
        </p:nvSpPr>
        <p:spPr>
          <a:xfrm>
            <a:off x="914400" y="4640263"/>
            <a:ext cx="5029200" cy="4394200"/>
          </a:xfrm>
        </p:spPr>
        <p:txBody>
          <a:bodyPr/>
          <a:lstStyle/>
          <a:p>
            <a:endParaRPr lang="en-US" altLang="en-US"/>
          </a:p>
        </p:txBody>
      </p:sp>
    </p:spTree>
    <p:extLst>
      <p:ext uri="{BB962C8B-B14F-4D97-AF65-F5344CB8AC3E}">
        <p14:creationId xmlns:p14="http://schemas.microsoft.com/office/powerpoint/2010/main" val="3505518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Rectangle 2"/>
          <p:cNvSpPr>
            <a:spLocks noGrp="1" noRot="1" noChangeAspect="1" noChangeArrowheads="1" noTextEdit="1"/>
          </p:cNvSpPr>
          <p:nvPr>
            <p:ph type="sldImg"/>
          </p:nvPr>
        </p:nvSpPr>
        <p:spPr>
          <a:xfrm>
            <a:off x="987425" y="731838"/>
            <a:ext cx="4883150" cy="3662362"/>
          </a:xfrm>
          <a:ln/>
        </p:spPr>
      </p:sp>
      <p:sp>
        <p:nvSpPr>
          <p:cNvPr id="651267" name="Rectangle 3"/>
          <p:cNvSpPr>
            <a:spLocks noGrp="1" noChangeArrowheads="1"/>
          </p:cNvSpPr>
          <p:nvPr>
            <p:ph type="body" idx="1"/>
          </p:nvPr>
        </p:nvSpPr>
        <p:spPr>
          <a:xfrm>
            <a:off x="1123950" y="4640263"/>
            <a:ext cx="4610100" cy="4394200"/>
          </a:xfrm>
        </p:spPr>
        <p:txBody>
          <a:bodyPr lIns="91426" tIns="45713" rIns="91426" bIns="45713"/>
          <a:lstStyle/>
          <a:p>
            <a:endParaRPr lang="en-US" altLang="en-US" sz="1400" dirty="0"/>
          </a:p>
        </p:txBody>
      </p:sp>
    </p:spTree>
    <p:extLst>
      <p:ext uri="{BB962C8B-B14F-4D97-AF65-F5344CB8AC3E}">
        <p14:creationId xmlns:p14="http://schemas.microsoft.com/office/powerpoint/2010/main" val="1926346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p:cNvSpPr>
            <a:spLocks noGrp="1" noRot="1" noChangeAspect="1" noChangeArrowheads="1" noTextEdit="1"/>
          </p:cNvSpPr>
          <p:nvPr>
            <p:ph type="sldImg"/>
          </p:nvPr>
        </p:nvSpPr>
        <p:spPr>
          <a:xfrm>
            <a:off x="987425" y="731838"/>
            <a:ext cx="4883150" cy="3662362"/>
          </a:xfrm>
          <a:ln/>
        </p:spPr>
      </p:sp>
      <p:sp>
        <p:nvSpPr>
          <p:cNvPr id="707587" name="Rectangle 3"/>
          <p:cNvSpPr>
            <a:spLocks noGrp="1" noChangeArrowheads="1"/>
          </p:cNvSpPr>
          <p:nvPr>
            <p:ph type="body" idx="1"/>
          </p:nvPr>
        </p:nvSpPr>
        <p:spPr>
          <a:xfrm>
            <a:off x="1123950" y="4640263"/>
            <a:ext cx="4610100" cy="4394200"/>
          </a:xfrm>
        </p:spPr>
        <p:txBody>
          <a:bodyPr lIns="91426" tIns="45713" rIns="91426" bIns="45713"/>
          <a:lstStyle/>
          <a:p>
            <a:r>
              <a:rPr lang="en-US" altLang="en-US" b="1" dirty="0"/>
              <a:t>System boundary:</a:t>
            </a:r>
            <a:r>
              <a:rPr lang="en-US" altLang="en-US" dirty="0"/>
              <a:t> A system boundary defines the scope of what a system will be. A system cannot have infinite functionality. So, it follows that use cases also need to have definitive limits defined. A system boundary of a use case diagram defines the limits of the system. The system boundary is shown as a rectangle spanning all the use cases in the system. </a:t>
            </a:r>
          </a:p>
          <a:p>
            <a:r>
              <a:rPr lang="en-US" altLang="en-US" dirty="0"/>
              <a:t>Other use cases in this lecture also show the system boundary of the clinic application. The use cases of this system are enclosed in a rectangle. Note that the actors in the system are outside the system boundary.</a:t>
            </a:r>
          </a:p>
          <a:p>
            <a:r>
              <a:rPr lang="en-US" altLang="en-US" dirty="0"/>
              <a:t>The system boundary is potentially the entire system as defined in the problem statement. But this is not always the case. For large and complex systems, each of the modules may be the system boundary. For example, for an ERP system for an organization, each of the modules such as personnel, payroll, accounting, and so forth, can form the system boundary for use cases specific to each of these business functions. The entire system can span all of these modules depicting the overall system boundary. </a:t>
            </a:r>
          </a:p>
          <a:p>
            <a:endParaRPr lang="en-US" altLang="en-US" dirty="0"/>
          </a:p>
        </p:txBody>
      </p:sp>
    </p:spTree>
    <p:extLst>
      <p:ext uri="{BB962C8B-B14F-4D97-AF65-F5344CB8AC3E}">
        <p14:creationId xmlns:p14="http://schemas.microsoft.com/office/powerpoint/2010/main" val="3164522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Rectangle 2"/>
          <p:cNvSpPr>
            <a:spLocks noGrp="1" noRot="1" noChangeAspect="1" noChangeArrowheads="1" noTextEdit="1"/>
          </p:cNvSpPr>
          <p:nvPr>
            <p:ph type="sldImg"/>
          </p:nvPr>
        </p:nvSpPr>
        <p:spPr>
          <a:xfrm>
            <a:off x="987425" y="731838"/>
            <a:ext cx="4883150" cy="3662362"/>
          </a:xfrm>
          <a:ln/>
        </p:spPr>
      </p:sp>
      <p:sp>
        <p:nvSpPr>
          <p:cNvPr id="653315" name="Rectangle 3"/>
          <p:cNvSpPr>
            <a:spLocks noGrp="1" noChangeArrowheads="1"/>
          </p:cNvSpPr>
          <p:nvPr>
            <p:ph type="body" idx="1"/>
          </p:nvPr>
        </p:nvSpPr>
        <p:spPr>
          <a:xfrm>
            <a:off x="1123950" y="4640263"/>
            <a:ext cx="4610100" cy="4394200"/>
          </a:xfrm>
        </p:spPr>
        <p:txBody>
          <a:bodyPr lIns="91426" tIns="45713" rIns="91426" bIns="45713"/>
          <a:lstStyle/>
          <a:p>
            <a:r>
              <a:rPr lang="en-US" altLang="en-US" sz="1400"/>
              <a:t>Inheritance</a:t>
            </a:r>
          </a:p>
        </p:txBody>
      </p:sp>
    </p:spTree>
    <p:extLst>
      <p:ext uri="{BB962C8B-B14F-4D97-AF65-F5344CB8AC3E}">
        <p14:creationId xmlns:p14="http://schemas.microsoft.com/office/powerpoint/2010/main" val="1808977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57B80F6-D8F9-4861-A47D-FB5C54C59CB3}" type="datetime1">
              <a:rPr lang="en-US" smtClean="0"/>
              <a:t>3/3/2020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228785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112033"/>
            <a:ext cx="7886700" cy="859516"/>
          </a:xfrm>
        </p:spPr>
        <p:txBody>
          <a:bodyPr/>
          <a:lstStyle>
            <a:lvl1pPr algn="ctr">
              <a:defRPr>
                <a:solidFill>
                  <a:srgbClr val="0033CC"/>
                </a:solidFill>
                <a:latin typeface="Arial Rounded MT Bold" panose="020F0704030504030204" pitchFamily="34" charset="0"/>
              </a:defRPr>
            </a:lvl1pPr>
          </a:lstStyle>
          <a:p>
            <a:r>
              <a:rPr lang="en-US" smtClean="0"/>
              <a:t>Click to edit Master title style</a:t>
            </a:r>
            <a:endParaRPr lang="en-US"/>
          </a:p>
        </p:txBody>
      </p:sp>
      <p:sp>
        <p:nvSpPr>
          <p:cNvPr id="3" name="Content Placeholder 2"/>
          <p:cNvSpPr>
            <a:spLocks noGrp="1"/>
          </p:cNvSpPr>
          <p:nvPr>
            <p:ph idx="1"/>
          </p:nvPr>
        </p:nvSpPr>
        <p:spPr>
          <a:xfrm>
            <a:off x="628650" y="1216479"/>
            <a:ext cx="7886700" cy="4960484"/>
          </a:xfrm>
        </p:spPr>
        <p:txBody>
          <a:bodyPr/>
          <a:lstStyle>
            <a:lvl2pPr marL="514350" indent="-171450">
              <a:buFont typeface="Calibri" panose="020F0502020204030204" pitchFamily="34" charset="0"/>
              <a:buChar char="ꟷ"/>
              <a:defRPr/>
            </a:lvl2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FB0078F-E661-48DF-8D03-D0A50507C023}" type="datetime1">
              <a:rPr lang="en-US" smtClean="0"/>
              <a:t>3/3/2020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0940418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19983A8-167A-4325-AC58-C125C20F04E5}" type="datetime1">
              <a:rPr lang="en-US" smtClean="0"/>
              <a:t>3/3/2020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3060661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A79C363-00E5-4873-92AC-6FCDF94FB804}" type="datetime1">
              <a:rPr lang="en-US" smtClean="0"/>
              <a:t>3/3/2020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0717664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300710-5570-4B4A-AE9F-426CB1D545EA}" type="datetime1">
              <a:rPr lang="en-US" smtClean="0"/>
              <a:t>3/3/2020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15428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23DCFBE-BA8E-42DA-94C4-303826948E42}" type="datetime1">
              <a:rPr lang="en-US" smtClean="0"/>
              <a:t>3/3/2020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49026024"/>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40F559-AD7B-4E56-ABF5-FF34E2DBC8A2}" type="datetime1">
              <a:rPr lang="en-US" smtClean="0"/>
              <a:t>3/3/2020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71498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250D64ED-635C-40CA-8BE7-BE2C04A36912}" type="datetime1">
              <a:rPr lang="en-US" smtClean="0"/>
              <a:t>3/3/2020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48907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6AB4CA45-0C1D-4CDA-AED5-977A475009FE}" type="datetime1">
              <a:rPr lang="en-US" smtClean="0"/>
              <a:t>3/3/2020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9587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EF6BA6-EDF0-41F8-A44F-28D36A9FF955}" type="datetime1">
              <a:rPr lang="en-US" smtClean="0"/>
              <a:t>3/3/2020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67344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C1F9962-6CD1-4735-8959-BF829C68AEB8}" type="datetime1">
              <a:rPr lang="en-US" smtClean="0"/>
              <a:t>3/3/2020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368009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88023CF-EEE8-42B3-B379-29CA3A9AD32E}" type="datetime1">
              <a:rPr lang="en-US" smtClean="0"/>
              <a:t>3/3/2020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t>‹#›</a:t>
            </a:fld>
            <a:endParaRPr lang="en-US"/>
          </a:p>
        </p:txBody>
      </p:sp>
    </p:spTree>
    <p:extLst>
      <p:ext uri="{BB962C8B-B14F-4D97-AF65-F5344CB8AC3E}">
        <p14:creationId xmlns:p14="http://schemas.microsoft.com/office/powerpoint/2010/main" val="17339690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F94CBB-8DC2-4B02-880A-5B1B61C50280}" type="datetime1">
              <a:rPr lang="en-US" smtClean="0"/>
              <a:t>3/3/2020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t>‹#›</a:t>
            </a:fld>
            <a:endParaRPr lang="en-US"/>
          </a:p>
        </p:txBody>
      </p:sp>
    </p:spTree>
    <p:extLst>
      <p:ext uri="{BB962C8B-B14F-4D97-AF65-F5344CB8AC3E}">
        <p14:creationId xmlns:p14="http://schemas.microsoft.com/office/powerpoint/2010/main" val="26466159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12423"/>
            <a:ext cx="7886700" cy="2851208"/>
          </a:xfrm>
        </p:spPr>
        <p:txBody>
          <a:bodyPr anchor="b">
            <a:normAutofit/>
          </a:bodyPr>
          <a:lstStyle>
            <a:lvl1pPr>
              <a:defRPr sz="4500" b="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52634"/>
            <a:ext cx="7886700" cy="1500187"/>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B3360FF-FF94-4CBA-8E0A-430FBA53ACAB}" type="datetime1">
              <a:rPr lang="en-US" smtClean="0"/>
              <a:t>3/3/2020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t>‹#›</a:t>
            </a:fld>
            <a:endParaRPr lang="en-US"/>
          </a:p>
        </p:txBody>
      </p:sp>
    </p:spTree>
    <p:extLst>
      <p:ext uri="{BB962C8B-B14F-4D97-AF65-F5344CB8AC3E}">
        <p14:creationId xmlns:p14="http://schemas.microsoft.com/office/powerpoint/2010/main" val="2977636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33845" y="1828801"/>
            <a:ext cx="3886200" cy="435133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8801"/>
            <a:ext cx="3886200" cy="435133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26BA2FF-3C94-4AD5-ADB2-25FC35199BC0}" type="datetime1">
              <a:rPr lang="en-US" smtClean="0"/>
              <a:t>3/3/2020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F71B0-1015-4D31-8384-23A63624B7DC}" type="slidenum">
              <a:rPr lang="en-US" smtClean="0"/>
              <a:t>‹#›</a:t>
            </a:fld>
            <a:endParaRPr lang="en-US"/>
          </a:p>
        </p:txBody>
      </p:sp>
    </p:spTree>
    <p:extLst>
      <p:ext uri="{BB962C8B-B14F-4D97-AF65-F5344CB8AC3E}">
        <p14:creationId xmlns:p14="http://schemas.microsoft.com/office/powerpoint/2010/main" val="13438485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33845" y="2507551"/>
            <a:ext cx="3867150" cy="36805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7551"/>
            <a:ext cx="3886201" cy="36805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D71118A-8C73-4274-903B-9E0E12B37512}" type="datetime1">
              <a:rPr lang="en-US" smtClean="0"/>
              <a:t>3/3/2020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9F71B0-1015-4D31-8384-23A63624B7DC}" type="slidenum">
              <a:rPr lang="en-US" smtClean="0"/>
              <a:t>‹#›</a:t>
            </a:fld>
            <a:endParaRPr lang="en-US"/>
          </a:p>
        </p:txBody>
      </p:sp>
      <p:sp>
        <p:nvSpPr>
          <p:cNvPr id="10" name="Title 9"/>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8588469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EF3F233-675C-4E2D-ADE1-062026707D88}" type="datetime1">
              <a:rPr lang="en-US" smtClean="0"/>
              <a:t>3/3/2020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9F71B0-1015-4D31-8384-23A63624B7DC}" type="slidenum">
              <a:rPr lang="en-US" smtClean="0"/>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2622403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B5D0C5-1A3B-4AF9-B1AF-82EC1777D8DE}" type="datetime1">
              <a:rPr lang="en-US" smtClean="0"/>
              <a:t>3/3/2020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9F71B0-1015-4D31-8384-23A63624B7DC}" type="slidenum">
              <a:rPr lang="en-US" smtClean="0"/>
              <a:t>‹#›</a:t>
            </a:fld>
            <a:endParaRPr lang="en-US"/>
          </a:p>
        </p:txBody>
      </p:sp>
    </p:spTree>
    <p:extLst>
      <p:ext uri="{BB962C8B-B14F-4D97-AF65-F5344CB8AC3E}">
        <p14:creationId xmlns:p14="http://schemas.microsoft.com/office/powerpoint/2010/main" val="15615246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30936" y="2057399"/>
            <a:ext cx="294894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B677B099-D8CB-4603-B933-8D2B27420331}" type="datetime1">
              <a:rPr lang="en-US" smtClean="0"/>
              <a:t>3/3/2020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F71B0-1015-4D31-8384-23A63624B7DC}" type="slidenum">
              <a:rPr lang="en-US" smtClean="0"/>
              <a:t>‹#›</a:t>
            </a:fld>
            <a:endParaRPr lang="en-US"/>
          </a:p>
        </p:txBody>
      </p:sp>
    </p:spTree>
    <p:extLst>
      <p:ext uri="{BB962C8B-B14F-4D97-AF65-F5344CB8AC3E}">
        <p14:creationId xmlns:p14="http://schemas.microsoft.com/office/powerpoint/2010/main" val="23659083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3886200" y="990600"/>
            <a:ext cx="462915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630936" y="2057400"/>
            <a:ext cx="294894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4547F949-74B6-4108-8BF4-F11AB8FB4A07}" type="datetime1">
              <a:rPr lang="en-US" smtClean="0"/>
              <a:t>3/3/2020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F71B0-1015-4D31-8384-23A63624B7DC}" type="slidenum">
              <a:rPr lang="en-US" smtClean="0"/>
              <a:t>‹#›</a:t>
            </a:fld>
            <a:endParaRPr lang="en-US"/>
          </a:p>
        </p:txBody>
      </p:sp>
    </p:spTree>
    <p:extLst>
      <p:ext uri="{BB962C8B-B14F-4D97-AF65-F5344CB8AC3E}">
        <p14:creationId xmlns:p14="http://schemas.microsoft.com/office/powerpoint/2010/main" val="5115771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05ABA2-14F6-4CC3-9DAC-BBBB0D99BD97}" type="datetime1">
              <a:rPr lang="en-US" smtClean="0"/>
              <a:t>3/3/2020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t>‹#›</a:t>
            </a:fld>
            <a:endParaRPr lang="en-US"/>
          </a:p>
        </p:txBody>
      </p:sp>
    </p:spTree>
    <p:extLst>
      <p:ext uri="{BB962C8B-B14F-4D97-AF65-F5344CB8AC3E}">
        <p14:creationId xmlns:p14="http://schemas.microsoft.com/office/powerpoint/2010/main" val="17392558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DAFC58A-6D66-4D15-BB59-04E72387B4C0}" type="datetime1">
              <a:rPr lang="en-US" smtClean="0"/>
              <a:t>3/3/2020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t>‹#›</a:t>
            </a:fld>
            <a:endParaRPr lang="en-US"/>
          </a:p>
        </p:txBody>
      </p:sp>
    </p:spTree>
    <p:extLst>
      <p:ext uri="{BB962C8B-B14F-4D97-AF65-F5344CB8AC3E}">
        <p14:creationId xmlns:p14="http://schemas.microsoft.com/office/powerpoint/2010/main" val="3935732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868349D-D56D-48A9-A584-3FF7CB447BAA}" type="datetime1">
              <a:rPr lang="en-US" smtClean="0"/>
              <a:t>3/3/2020</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t>‹#›</a:t>
            </a:fld>
            <a:endParaRPr lang="en-US" dirty="0"/>
          </a:p>
        </p:txBody>
      </p:sp>
      <p:sp>
        <p:nvSpPr>
          <p:cNvPr id="7" name="Rectangle 2"/>
          <p:cNvSpPr txBox="1">
            <a:spLocks noChangeArrowheads="1"/>
          </p:cNvSpPr>
          <p:nvPr/>
        </p:nvSpPr>
        <p:spPr bwMode="auto">
          <a:xfrm>
            <a:off x="0" y="6692348"/>
            <a:ext cx="9144001" cy="165652"/>
          </a:xfrm>
          <a:prstGeom prst="rect">
            <a:avLst/>
          </a:prstGeom>
          <a:solidFill>
            <a:srgbClr val="66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mj-lt"/>
                <a:ea typeface="+mj-ea"/>
                <a:cs typeface="+mj-cs"/>
              </a:defRPr>
            </a:lvl1pPr>
            <a:lvl2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2pPr>
            <a:lvl3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3pPr>
            <a:lvl4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4pPr>
            <a:lvl5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5pPr>
            <a:lvl6pPr marL="4572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6pPr>
            <a:lvl7pPr marL="9144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7pPr>
            <a:lvl8pPr marL="13716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8pPr>
            <a:lvl9pPr marL="18288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9pPr>
          </a:lstStyle>
          <a:p>
            <a:endParaRPr lang="en-US" kern="0" dirty="0" smtClean="0"/>
          </a:p>
        </p:txBody>
      </p:sp>
      <p:sp>
        <p:nvSpPr>
          <p:cNvPr id="9" name="Slide Number Placeholder 3"/>
          <p:cNvSpPr txBox="1">
            <a:spLocks noGrp="1"/>
          </p:cNvSpPr>
          <p:nvPr userDrawn="1"/>
        </p:nvSpPr>
        <p:spPr bwMode="auto">
          <a:xfrm>
            <a:off x="8305800" y="6262916"/>
            <a:ext cx="762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lgn="r">
              <a:defRPr>
                <a:solidFill>
                  <a:schemeClr val="tx1"/>
                </a:solidFill>
                <a:latin typeface="Arial" panose="020B0604020202020204" pitchFamily="34" charset="0"/>
              </a:defRPr>
            </a:lvl1pPr>
            <a:lvl2pPr marL="742950" indent="-285750" algn="r">
              <a:defRPr>
                <a:solidFill>
                  <a:schemeClr val="tx1"/>
                </a:solidFill>
                <a:latin typeface="Arial" panose="020B0604020202020204" pitchFamily="34" charset="0"/>
              </a:defRPr>
            </a:lvl2pPr>
            <a:lvl3pPr marL="1143000" indent="-228600" algn="r">
              <a:defRPr>
                <a:solidFill>
                  <a:schemeClr val="tx1"/>
                </a:solidFill>
                <a:latin typeface="Arial" panose="020B0604020202020204" pitchFamily="34" charset="0"/>
              </a:defRPr>
            </a:lvl3pPr>
            <a:lvl4pPr marL="1600200" indent="-228600" algn="r">
              <a:defRPr>
                <a:solidFill>
                  <a:schemeClr val="tx1"/>
                </a:solidFill>
                <a:latin typeface="Arial" panose="020B0604020202020204" pitchFamily="34" charset="0"/>
              </a:defRPr>
            </a:lvl4pPr>
            <a:lvl5pPr marL="2057400" indent="-228600" algn="r">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500"/>
              </a:spcBef>
            </a:pPr>
            <a:fld id="{F7051C5F-0994-4C42-8BDD-F9DE4AC27786}" type="slidenum">
              <a:rPr lang="en-US" altLang="en-US" sz="1200">
                <a:solidFill>
                  <a:srgbClr val="424242"/>
                </a:solidFill>
                <a:latin typeface="+mn-lt"/>
              </a:rPr>
              <a:pPr eaLnBrk="1" hangingPunct="1">
                <a:spcBef>
                  <a:spcPts val="500"/>
                </a:spcBef>
              </a:pPr>
              <a:t>‹#›</a:t>
            </a:fld>
            <a:endParaRPr lang="en-US" altLang="en-US" dirty="0">
              <a:latin typeface="+mn-lt"/>
            </a:endParaRPr>
          </a:p>
        </p:txBody>
      </p:sp>
    </p:spTree>
    <p:extLst>
      <p:ext uri="{BB962C8B-B14F-4D97-AF65-F5344CB8AC3E}">
        <p14:creationId xmlns:p14="http://schemas.microsoft.com/office/powerpoint/2010/main" val="3713765220"/>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timing>
    <p:tnLst>
      <p:par>
        <p:cTn id="1" dur="indefinite" restart="never" nodeType="tmRoot"/>
      </p:par>
    </p:tnLst>
  </p:timing>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3845" y="14700"/>
            <a:ext cx="7886700" cy="8997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33845" y="1118507"/>
            <a:ext cx="7886700" cy="506163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fld id="{8E797AAD-96CD-4A47-B0D1-61BA85EB678F}" type="datetime1">
              <a:rPr lang="en-US" smtClean="0"/>
              <a:t>3/3/2020</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6463145" y="6356351"/>
            <a:ext cx="20574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B49F71B0-1015-4D31-8384-23A63624B7DC}" type="slidenum">
              <a:rPr lang="en-US" smtClean="0"/>
              <a:t>‹#›</a:t>
            </a:fld>
            <a:endParaRPr lang="en-US"/>
          </a:p>
        </p:txBody>
      </p:sp>
    </p:spTree>
    <p:extLst>
      <p:ext uri="{BB962C8B-B14F-4D97-AF65-F5344CB8AC3E}">
        <p14:creationId xmlns:p14="http://schemas.microsoft.com/office/powerpoint/2010/main" val="41187715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685800" rtl="0" eaLnBrk="1" latinLnBrk="0" hangingPunct="1">
        <a:lnSpc>
          <a:spcPct val="90000"/>
        </a:lnSpc>
        <a:spcBef>
          <a:spcPct val="0"/>
        </a:spcBef>
        <a:buNone/>
        <a:defRPr sz="3300" kern="1200">
          <a:solidFill>
            <a:srgbClr val="0033CC"/>
          </a:solidFill>
          <a:latin typeface="+mj-lt"/>
          <a:ea typeface="+mj-ea"/>
          <a:cs typeface="+mj-cs"/>
        </a:defRPr>
      </a:lvl1pPr>
    </p:titleStyle>
    <p:body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argouml.tigris.org/" TargetMode="External"/><Relationship Id="rId7" Type="http://schemas.openxmlformats.org/officeDocument/2006/relationships/hyperlink" Target="http://www.umlet.com/" TargetMode="External"/><Relationship Id="rId2" Type="http://schemas.openxmlformats.org/officeDocument/2006/relationships/hyperlink" Target="http://www-03.ibm.com/software/products/en/ratirosefami" TargetMode="External"/><Relationship Id="rId1" Type="http://schemas.openxmlformats.org/officeDocument/2006/relationships/slideLayout" Target="../slideLayouts/slideLayout2.xml"/><Relationship Id="rId6" Type="http://schemas.openxmlformats.org/officeDocument/2006/relationships/hyperlink" Target="http://staruml.io/" TargetMode="External"/><Relationship Id="rId5" Type="http://schemas.openxmlformats.org/officeDocument/2006/relationships/hyperlink" Target="http://www.visual-paradigm.com/solution/freeumltool/" TargetMode="External"/><Relationship Id="rId4" Type="http://schemas.openxmlformats.org/officeDocument/2006/relationships/hyperlink" Target="http://alexdp.free.fr/violetumleditor/page.ph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UML?</a:t>
            </a:r>
            <a:endParaRPr lang="en-US" dirty="0"/>
          </a:p>
        </p:txBody>
      </p:sp>
      <p:sp>
        <p:nvSpPr>
          <p:cNvPr id="3" name="Content Placeholder 2"/>
          <p:cNvSpPr>
            <a:spLocks noGrp="1"/>
          </p:cNvSpPr>
          <p:nvPr>
            <p:ph idx="1"/>
          </p:nvPr>
        </p:nvSpPr>
        <p:spPr>
          <a:xfrm>
            <a:off x="628650" y="1216479"/>
            <a:ext cx="6915150" cy="4960484"/>
          </a:xfrm>
        </p:spPr>
        <p:txBody>
          <a:bodyPr>
            <a:normAutofit/>
          </a:bodyPr>
          <a:lstStyle/>
          <a:p>
            <a:pPr>
              <a:spcBef>
                <a:spcPts val="600"/>
              </a:spcBef>
              <a:spcAft>
                <a:spcPts val="1200"/>
              </a:spcAft>
            </a:pPr>
            <a:r>
              <a:rPr lang="en-US" sz="2800" dirty="0" smtClean="0"/>
              <a:t>An international industry standard graphical notation for describing software analysis and design. </a:t>
            </a:r>
          </a:p>
          <a:p>
            <a:pPr lvl="1">
              <a:spcBef>
                <a:spcPts val="600"/>
              </a:spcBef>
              <a:spcAft>
                <a:spcPts val="1200"/>
              </a:spcAft>
            </a:pPr>
            <a:r>
              <a:rPr lang="en-US" sz="2400" dirty="0" smtClean="0"/>
              <a:t>pictures </a:t>
            </a:r>
            <a:r>
              <a:rPr lang="en-US" sz="2400" dirty="0"/>
              <a:t>or views of an OO </a:t>
            </a:r>
            <a:r>
              <a:rPr lang="en-US" sz="2400" dirty="0" smtClean="0"/>
              <a:t>system</a:t>
            </a:r>
          </a:p>
          <a:p>
            <a:pPr lvl="1">
              <a:spcBef>
                <a:spcPts val="600"/>
              </a:spcBef>
              <a:spcAft>
                <a:spcPts val="1200"/>
              </a:spcAft>
            </a:pPr>
            <a:r>
              <a:rPr lang="en-US" sz="2400" dirty="0" smtClean="0"/>
              <a:t>helps better understanding</a:t>
            </a:r>
          </a:p>
          <a:p>
            <a:pPr lvl="1">
              <a:spcBef>
                <a:spcPts val="600"/>
              </a:spcBef>
              <a:spcAft>
                <a:spcPts val="1200"/>
              </a:spcAft>
            </a:pPr>
            <a:r>
              <a:rPr lang="en-US" sz="2400" dirty="0" smtClean="0"/>
              <a:t>a picture is worth a thousand words</a:t>
            </a:r>
          </a:p>
          <a:p>
            <a:pPr lvl="1">
              <a:spcBef>
                <a:spcPts val="600"/>
              </a:spcBef>
              <a:spcAft>
                <a:spcPts val="1200"/>
              </a:spcAft>
            </a:pPr>
            <a:endParaRPr lang="en-US" sz="2400" dirty="0"/>
          </a:p>
        </p:txBody>
      </p:sp>
      <p:pic>
        <p:nvPicPr>
          <p:cNvPr id="4" name="Picture 2" descr="https://upload.wikimedia.org/wikipedia/en/2/2d/UML_logo.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4215785"/>
            <a:ext cx="2800350" cy="199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3505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diagrams</a:t>
            </a:r>
            <a:endParaRPr lang="en-US" dirty="0"/>
          </a:p>
        </p:txBody>
      </p:sp>
      <p:sp>
        <p:nvSpPr>
          <p:cNvPr id="3" name="Content Placeholder 2"/>
          <p:cNvSpPr>
            <a:spLocks noGrp="1"/>
          </p:cNvSpPr>
          <p:nvPr>
            <p:ph idx="1"/>
          </p:nvPr>
        </p:nvSpPr>
        <p:spPr>
          <a:xfrm>
            <a:off x="628650" y="1216479"/>
            <a:ext cx="4933950" cy="4960484"/>
          </a:xfrm>
        </p:spPr>
        <p:txBody>
          <a:bodyPr>
            <a:normAutofit/>
          </a:bodyPr>
          <a:lstStyle/>
          <a:p>
            <a:pPr>
              <a:spcBef>
                <a:spcPts val="600"/>
              </a:spcBef>
              <a:spcAft>
                <a:spcPts val="600"/>
              </a:spcAft>
            </a:pPr>
            <a:r>
              <a:rPr lang="en-US" sz="2400" dirty="0"/>
              <a:t>UML = </a:t>
            </a:r>
            <a:r>
              <a:rPr lang="en-US" sz="2400" dirty="0" smtClean="0"/>
              <a:t>Unified Modeling Language</a:t>
            </a:r>
          </a:p>
          <a:p>
            <a:pPr lvl="1">
              <a:spcBef>
                <a:spcPts val="600"/>
              </a:spcBef>
              <a:spcAft>
                <a:spcPts val="600"/>
              </a:spcAft>
            </a:pPr>
            <a:r>
              <a:rPr lang="en-US" sz="2000" dirty="0"/>
              <a:t>Use case diagrams</a:t>
            </a:r>
          </a:p>
          <a:p>
            <a:pPr lvl="1">
              <a:spcBef>
                <a:spcPts val="600"/>
              </a:spcBef>
              <a:spcAft>
                <a:spcPts val="600"/>
              </a:spcAft>
            </a:pPr>
            <a:r>
              <a:rPr lang="en-US" sz="2000" dirty="0" smtClean="0"/>
              <a:t>Class </a:t>
            </a:r>
            <a:r>
              <a:rPr lang="en-US" sz="2000" dirty="0"/>
              <a:t>diagrams</a:t>
            </a:r>
          </a:p>
          <a:p>
            <a:pPr lvl="1">
              <a:spcBef>
                <a:spcPts val="600"/>
              </a:spcBef>
              <a:spcAft>
                <a:spcPts val="600"/>
              </a:spcAft>
            </a:pPr>
            <a:r>
              <a:rPr lang="en-US" sz="2000" dirty="0" smtClean="0"/>
              <a:t>Sequence </a:t>
            </a:r>
            <a:r>
              <a:rPr lang="en-US" sz="2000" dirty="0"/>
              <a:t>diagrams</a:t>
            </a:r>
          </a:p>
          <a:p>
            <a:pPr lvl="1">
              <a:spcBef>
                <a:spcPts val="600"/>
              </a:spcBef>
              <a:spcAft>
                <a:spcPts val="600"/>
              </a:spcAft>
            </a:pPr>
            <a:r>
              <a:rPr lang="en-US" sz="2000" dirty="0" smtClean="0"/>
              <a:t>Collaboration </a:t>
            </a:r>
            <a:r>
              <a:rPr lang="en-US" sz="2000" dirty="0"/>
              <a:t>diagrams</a:t>
            </a:r>
          </a:p>
          <a:p>
            <a:pPr lvl="1">
              <a:spcBef>
                <a:spcPts val="600"/>
              </a:spcBef>
              <a:spcAft>
                <a:spcPts val="600"/>
              </a:spcAft>
            </a:pPr>
            <a:r>
              <a:rPr lang="en-US" sz="2000" dirty="0" err="1" smtClean="0"/>
              <a:t>Statechart</a:t>
            </a:r>
            <a:r>
              <a:rPr lang="en-US" sz="2000" dirty="0" smtClean="0"/>
              <a:t> diagrams</a:t>
            </a:r>
          </a:p>
          <a:p>
            <a:pPr lvl="1">
              <a:spcBef>
                <a:spcPts val="600"/>
              </a:spcBef>
              <a:spcAft>
                <a:spcPts val="600"/>
              </a:spcAft>
            </a:pPr>
            <a:r>
              <a:rPr lang="en-US" sz="2000" dirty="0"/>
              <a:t>Object diagrams</a:t>
            </a:r>
          </a:p>
          <a:p>
            <a:pPr lvl="1">
              <a:spcBef>
                <a:spcPts val="600"/>
              </a:spcBef>
              <a:spcAft>
                <a:spcPts val="600"/>
              </a:spcAft>
            </a:pPr>
            <a:r>
              <a:rPr lang="en-US" sz="2000" dirty="0" smtClean="0"/>
              <a:t>Activity </a:t>
            </a:r>
            <a:r>
              <a:rPr lang="en-US" sz="2000" dirty="0"/>
              <a:t>diagrams</a:t>
            </a:r>
          </a:p>
          <a:p>
            <a:pPr lvl="1">
              <a:spcBef>
                <a:spcPts val="600"/>
              </a:spcBef>
              <a:spcAft>
                <a:spcPts val="600"/>
              </a:spcAft>
            </a:pPr>
            <a:r>
              <a:rPr lang="en-US" sz="2000" dirty="0" smtClean="0"/>
              <a:t>Component </a:t>
            </a:r>
            <a:r>
              <a:rPr lang="en-US" sz="2000" dirty="0"/>
              <a:t>diagrams</a:t>
            </a:r>
          </a:p>
          <a:p>
            <a:pPr lvl="1">
              <a:spcBef>
                <a:spcPts val="600"/>
              </a:spcBef>
              <a:spcAft>
                <a:spcPts val="600"/>
              </a:spcAft>
            </a:pPr>
            <a:r>
              <a:rPr lang="en-US" sz="2000" dirty="0" smtClean="0"/>
              <a:t>Deployment diagrams</a:t>
            </a:r>
          </a:p>
          <a:p>
            <a:pPr lvl="1">
              <a:spcBef>
                <a:spcPts val="600"/>
              </a:spcBef>
              <a:spcAft>
                <a:spcPts val="600"/>
              </a:spcAft>
            </a:pPr>
            <a:r>
              <a:rPr lang="en-US" sz="2000" dirty="0" smtClean="0"/>
              <a:t>…</a:t>
            </a:r>
            <a:endParaRPr lang="en-US" sz="2400" dirty="0"/>
          </a:p>
        </p:txBody>
      </p:sp>
    </p:spTree>
    <p:extLst>
      <p:ext uri="{BB962C8B-B14F-4D97-AF65-F5344CB8AC3E}">
        <p14:creationId xmlns:p14="http://schemas.microsoft.com/office/powerpoint/2010/main" val="817462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3">
                                            <p:txEl>
                                              <p:pRg st="1" end="1"/>
                                            </p:txEl>
                                          </p:spTgt>
                                        </p:tgtEl>
                                        <p:attrNameLst>
                                          <p:attrName>style.color</p:attrName>
                                        </p:attrNameLst>
                                      </p:cBhvr>
                                      <p:to>
                                        <a:srgbClr val="FF0000"/>
                                      </p:to>
                                    </p:animClr>
                                  </p:childTnLst>
                                </p:cTn>
                              </p:par>
                              <p:par>
                                <p:cTn id="7" presetID="3" presetClass="emph" presetSubtype="2" fill="hold" nodeType="withEffect">
                                  <p:stCondLst>
                                    <p:cond delay="0"/>
                                  </p:stCondLst>
                                  <p:childTnLst>
                                    <p:animClr clrSpc="rgb" dir="cw">
                                      <p:cBhvr override="childStyle">
                                        <p:cTn id="8" dur="2000" fill="hold"/>
                                        <p:tgtEl>
                                          <p:spTgt spid="3">
                                            <p:txEl>
                                              <p:pRg st="2" end="2"/>
                                            </p:txEl>
                                          </p:spTgt>
                                        </p:tgtEl>
                                        <p:attrNameLst>
                                          <p:attrName>style.color</p:attrName>
                                        </p:attrNameLst>
                                      </p:cBhvr>
                                      <p:to>
                                        <a:srgbClr val="FF0000"/>
                                      </p:to>
                                    </p:animClr>
                                  </p:childTnLst>
                                </p:cTn>
                              </p:par>
                              <p:par>
                                <p:cTn id="9" presetID="3" presetClass="emph" presetSubtype="2" fill="hold" nodeType="withEffect">
                                  <p:stCondLst>
                                    <p:cond delay="0"/>
                                  </p:stCondLst>
                                  <p:childTnLst>
                                    <p:animClr clrSpc="rgb" dir="cw">
                                      <p:cBhvr override="childStyle">
                                        <p:cTn id="10" dur="2000" fill="hold"/>
                                        <p:tgtEl>
                                          <p:spTgt spid="3">
                                            <p:txEl>
                                              <p:pRg st="3" end="3"/>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714" name="Rectangle 2"/>
          <p:cNvSpPr>
            <a:spLocks noGrp="1" noChangeArrowheads="1"/>
          </p:cNvSpPr>
          <p:nvPr>
            <p:ph type="title"/>
          </p:nvPr>
        </p:nvSpPr>
        <p:spPr/>
        <p:txBody>
          <a:bodyPr/>
          <a:lstStyle/>
          <a:p>
            <a:r>
              <a:rPr lang="en-US" altLang="en-US" smtClean="0"/>
              <a:t>Use Cases</a:t>
            </a:r>
            <a:endParaRPr lang="en-US" altLang="en-US"/>
          </a:p>
        </p:txBody>
      </p:sp>
      <p:sp>
        <p:nvSpPr>
          <p:cNvPr id="755715" name="Rectangle 3"/>
          <p:cNvSpPr>
            <a:spLocks noGrp="1" noChangeArrowheads="1"/>
          </p:cNvSpPr>
          <p:nvPr>
            <p:ph type="body" idx="1"/>
          </p:nvPr>
        </p:nvSpPr>
        <p:spPr/>
        <p:txBody>
          <a:bodyPr>
            <a:normAutofit/>
          </a:bodyPr>
          <a:lstStyle/>
          <a:p>
            <a:pPr>
              <a:spcBef>
                <a:spcPts val="600"/>
              </a:spcBef>
              <a:spcAft>
                <a:spcPts val="600"/>
              </a:spcAft>
            </a:pPr>
            <a:r>
              <a:rPr lang="en-GB" altLang="en-US" sz="2800" dirty="0" smtClean="0"/>
              <a:t>What is a Use Case?</a:t>
            </a:r>
          </a:p>
          <a:p>
            <a:pPr lvl="1">
              <a:spcBef>
                <a:spcPts val="600"/>
              </a:spcBef>
              <a:spcAft>
                <a:spcPts val="600"/>
              </a:spcAft>
            </a:pPr>
            <a:r>
              <a:rPr lang="en-GB" altLang="en-US" sz="2400" dirty="0" smtClean="0"/>
              <a:t>A formal way of representing how a business system interacts with its environment</a:t>
            </a:r>
          </a:p>
          <a:p>
            <a:pPr lvl="1">
              <a:spcBef>
                <a:spcPts val="600"/>
              </a:spcBef>
              <a:spcAft>
                <a:spcPts val="600"/>
              </a:spcAft>
            </a:pPr>
            <a:r>
              <a:rPr lang="en-GB" altLang="en-US" sz="2400" dirty="0" smtClean="0"/>
              <a:t>Illustrates the activities that are performed by the users of the system</a:t>
            </a:r>
          </a:p>
          <a:p>
            <a:pPr lvl="1">
              <a:spcBef>
                <a:spcPts val="600"/>
              </a:spcBef>
              <a:spcAft>
                <a:spcPts val="600"/>
              </a:spcAft>
            </a:pPr>
            <a:r>
              <a:rPr lang="en-GB" altLang="en-US" sz="2400" dirty="0" smtClean="0"/>
              <a:t>A scenario-based technique in the UML</a:t>
            </a:r>
          </a:p>
          <a:p>
            <a:pPr lvl="1">
              <a:spcBef>
                <a:spcPts val="600"/>
              </a:spcBef>
              <a:spcAft>
                <a:spcPts val="600"/>
              </a:spcAft>
            </a:pPr>
            <a:r>
              <a:rPr lang="en-US" altLang="en-US" sz="2400" dirty="0" smtClean="0"/>
              <a:t>A sequence of actions a system performs that yields a valuable result for a particular actor.</a:t>
            </a:r>
            <a:endParaRPr lang="en-US" altLang="en-US" sz="2400" dirty="0"/>
          </a:p>
        </p:txBody>
      </p:sp>
    </p:spTree>
    <p:extLst>
      <p:ext uri="{BB962C8B-B14F-4D97-AF65-F5344CB8AC3E}">
        <p14:creationId xmlns:p14="http://schemas.microsoft.com/office/powerpoint/2010/main" val="23920090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2"/>
          <p:cNvSpPr>
            <a:spLocks noGrp="1" noChangeArrowheads="1"/>
          </p:cNvSpPr>
          <p:nvPr>
            <p:ph type="title"/>
          </p:nvPr>
        </p:nvSpPr>
        <p:spPr/>
        <p:txBody>
          <a:bodyPr/>
          <a:lstStyle/>
          <a:p>
            <a:r>
              <a:rPr lang="en-US" altLang="en-US" smtClean="0"/>
              <a:t>Actors and stakeholders</a:t>
            </a:r>
            <a:endParaRPr lang="en-US" altLang="en-US"/>
          </a:p>
        </p:txBody>
      </p:sp>
      <p:sp>
        <p:nvSpPr>
          <p:cNvPr id="604163" name="Rectangle 3"/>
          <p:cNvSpPr>
            <a:spLocks noGrp="1" noChangeArrowheads="1"/>
          </p:cNvSpPr>
          <p:nvPr>
            <p:ph type="body" idx="1"/>
          </p:nvPr>
        </p:nvSpPr>
        <p:spPr/>
        <p:txBody>
          <a:bodyPr>
            <a:normAutofit/>
          </a:bodyPr>
          <a:lstStyle/>
          <a:p>
            <a:r>
              <a:rPr lang="en-US" altLang="en-US" sz="2800" dirty="0" smtClean="0"/>
              <a:t>What is an actor?  A primary actor?</a:t>
            </a:r>
          </a:p>
          <a:p>
            <a:endParaRPr lang="en-US" altLang="en-US" sz="2800" dirty="0" smtClean="0"/>
          </a:p>
          <a:p>
            <a:endParaRPr lang="en-US" altLang="en-US" sz="2800" dirty="0" smtClean="0"/>
          </a:p>
          <a:p>
            <a:endParaRPr lang="en-US" altLang="en-US" sz="2800" dirty="0" smtClean="0"/>
          </a:p>
          <a:p>
            <a:endParaRPr lang="en-US" altLang="en-US" sz="2800" dirty="0" smtClean="0"/>
          </a:p>
          <a:p>
            <a:r>
              <a:rPr lang="en-US" altLang="en-US" sz="2800" dirty="0" smtClean="0"/>
              <a:t>What is the difference between an actor and a stakeholder?</a:t>
            </a:r>
            <a:endParaRPr lang="en-US" altLang="en-US" sz="2800" dirty="0"/>
          </a:p>
        </p:txBody>
      </p:sp>
      <p:sp>
        <p:nvSpPr>
          <p:cNvPr id="6" name="Slide Number Placeholder 5"/>
          <p:cNvSpPr>
            <a:spLocks noGrp="1"/>
          </p:cNvSpPr>
          <p:nvPr>
            <p:ph type="sldNum" sz="quarter" idx="10"/>
          </p:nvPr>
        </p:nvSpPr>
        <p:spPr/>
        <p:txBody>
          <a:bodyPr/>
          <a:lstStyle/>
          <a:p>
            <a:fld id="{D3D8692C-0AC0-46C2-A708-53C4FD202B44}" type="slidenum">
              <a:rPr lang="en-US" altLang="en-US" smtClean="0"/>
              <a:pPr/>
              <a:t>4</a:t>
            </a:fld>
            <a:endParaRPr lang="en-US" altLang="en-US"/>
          </a:p>
        </p:txBody>
      </p:sp>
      <p:sp>
        <p:nvSpPr>
          <p:cNvPr id="604164" name="Text Box 4"/>
          <p:cNvSpPr txBox="1">
            <a:spLocks noChangeArrowheads="1"/>
          </p:cNvSpPr>
          <p:nvPr/>
        </p:nvSpPr>
        <p:spPr bwMode="auto">
          <a:xfrm>
            <a:off x="304800" y="1676400"/>
            <a:ext cx="8001000"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defRPr>
            </a:lvl1pPr>
            <a:lvl2pPr marL="742950" indent="-285750" eaLnBrk="0" hangingPunct="0">
              <a:defRPr kumimoji="1" sz="2400">
                <a:solidFill>
                  <a:schemeClr val="tx1"/>
                </a:solidFill>
                <a:latin typeface="Times New Roman" panose="02020603050405020304" pitchFamily="18" charset="0"/>
              </a:defRPr>
            </a:lvl2pPr>
            <a:lvl3pPr eaLnBrk="0" hangingPunct="0">
              <a:defRPr kumimoji="1" sz="2400">
                <a:solidFill>
                  <a:schemeClr val="tx1"/>
                </a:solidFill>
                <a:latin typeface="Times New Roman" panose="02020603050405020304" pitchFamily="18" charset="0"/>
              </a:defRPr>
            </a:lvl3pPr>
            <a:lvl4pPr eaLnBrk="0" hangingPunct="0">
              <a:defRPr kumimoji="1" sz="2400">
                <a:solidFill>
                  <a:schemeClr val="tx1"/>
                </a:solidFill>
                <a:latin typeface="Times New Roman" panose="02020603050405020304" pitchFamily="18" charset="0"/>
              </a:defRPr>
            </a:lvl4pPr>
            <a:lvl5pPr eaLnBrk="0" hangingPunct="0">
              <a:defRPr kumimoji="1" sz="2400">
                <a:solidFill>
                  <a:schemeClr val="tx1"/>
                </a:solidFill>
                <a:latin typeface="Times New Roman" panose="02020603050405020304" pitchFamily="18" charset="0"/>
              </a:defRPr>
            </a:lvl5pPr>
            <a:lvl6pPr eaLnBrk="0" fontAlgn="base" hangingPunct="0">
              <a:spcBef>
                <a:spcPct val="0"/>
              </a:spcBef>
              <a:spcAft>
                <a:spcPct val="0"/>
              </a:spcAft>
              <a:defRPr kumimoji="1" sz="2400">
                <a:solidFill>
                  <a:schemeClr val="tx1"/>
                </a:solidFill>
                <a:latin typeface="Times New Roman" panose="02020603050405020304" pitchFamily="18" charset="0"/>
              </a:defRPr>
            </a:lvl6pPr>
            <a:lvl7pPr eaLnBrk="0" fontAlgn="base" hangingPunct="0">
              <a:spcBef>
                <a:spcPct val="0"/>
              </a:spcBef>
              <a:spcAft>
                <a:spcPct val="0"/>
              </a:spcAft>
              <a:defRPr kumimoji="1" sz="2400">
                <a:solidFill>
                  <a:schemeClr val="tx1"/>
                </a:solidFill>
                <a:latin typeface="Times New Roman" panose="02020603050405020304" pitchFamily="18" charset="0"/>
              </a:defRPr>
            </a:lvl7pPr>
            <a:lvl8pPr eaLnBrk="0" fontAlgn="base" hangingPunct="0">
              <a:spcBef>
                <a:spcPct val="0"/>
              </a:spcBef>
              <a:spcAft>
                <a:spcPct val="0"/>
              </a:spcAft>
              <a:defRPr kumimoji="1" sz="2400">
                <a:solidFill>
                  <a:schemeClr val="tx1"/>
                </a:solidFill>
                <a:latin typeface="Times New Roman" panose="02020603050405020304" pitchFamily="18" charset="0"/>
              </a:defRPr>
            </a:lvl8pPr>
            <a:lvl9pPr eaLnBrk="0" fontAlgn="base" hangingPunct="0">
              <a:spcBef>
                <a:spcPct val="0"/>
              </a:spcBef>
              <a:spcAft>
                <a:spcPct val="0"/>
              </a:spcAft>
              <a:defRPr kumimoji="1" sz="2400">
                <a:solidFill>
                  <a:schemeClr val="tx1"/>
                </a:solidFill>
                <a:latin typeface="Times New Roman" panose="02020603050405020304" pitchFamily="18" charset="0"/>
              </a:defRPr>
            </a:lvl9pPr>
          </a:lstStyle>
          <a:p>
            <a:pPr lvl="1" eaLnBrk="1" hangingPunct="1">
              <a:lnSpc>
                <a:spcPct val="80000"/>
              </a:lnSpc>
              <a:spcBef>
                <a:spcPct val="20000"/>
              </a:spcBef>
              <a:spcAft>
                <a:spcPts val="600"/>
              </a:spcAft>
              <a:buClr>
                <a:schemeClr val="hlink"/>
              </a:buClr>
              <a:buSzPct val="55000"/>
              <a:buFont typeface="Wingdings" panose="05000000000000000000" pitchFamily="2" charset="2"/>
              <a:buChar char="n"/>
            </a:pPr>
            <a:r>
              <a:rPr kumimoji="0" lang="en-US" altLang="en-US" sz="2000" b="1" dirty="0">
                <a:latin typeface="+mn-lt"/>
              </a:rPr>
              <a:t>actor</a:t>
            </a:r>
            <a:r>
              <a:rPr kumimoji="0" lang="en-US" altLang="en-US" sz="2000" dirty="0">
                <a:latin typeface="+mn-lt"/>
              </a:rPr>
              <a:t>: anything with behavior that acts on the system</a:t>
            </a:r>
          </a:p>
          <a:p>
            <a:pPr lvl="1" eaLnBrk="1" hangingPunct="1">
              <a:lnSpc>
                <a:spcPct val="80000"/>
              </a:lnSpc>
              <a:spcBef>
                <a:spcPct val="20000"/>
              </a:spcBef>
              <a:spcAft>
                <a:spcPts val="600"/>
              </a:spcAft>
              <a:buClr>
                <a:schemeClr val="hlink"/>
              </a:buClr>
              <a:buSzPct val="55000"/>
              <a:buFont typeface="Wingdings" panose="05000000000000000000" pitchFamily="2" charset="2"/>
              <a:buChar char="n"/>
            </a:pPr>
            <a:r>
              <a:rPr kumimoji="0" lang="en-US" altLang="en-US" sz="2000" b="1" dirty="0">
                <a:latin typeface="+mn-lt"/>
              </a:rPr>
              <a:t>primary actor</a:t>
            </a:r>
            <a:r>
              <a:rPr kumimoji="0" lang="en-US" altLang="en-US" sz="2000" dirty="0">
                <a:latin typeface="+mn-lt"/>
              </a:rPr>
              <a:t>: initiates interaction to achieve goal</a:t>
            </a:r>
            <a:br>
              <a:rPr kumimoji="0" lang="en-US" altLang="en-US" sz="2000" dirty="0">
                <a:latin typeface="+mn-lt"/>
              </a:rPr>
            </a:br>
            <a:r>
              <a:rPr kumimoji="0" lang="en-US" altLang="en-US" sz="2000" dirty="0">
                <a:latin typeface="+mn-lt"/>
              </a:rPr>
              <a:t>(when system is a software product, primary actor is often the computer user)</a:t>
            </a:r>
          </a:p>
          <a:p>
            <a:pPr lvl="1" eaLnBrk="1" hangingPunct="1">
              <a:lnSpc>
                <a:spcPct val="80000"/>
              </a:lnSpc>
              <a:spcBef>
                <a:spcPct val="20000"/>
              </a:spcBef>
              <a:spcAft>
                <a:spcPts val="600"/>
              </a:spcAft>
              <a:buClr>
                <a:schemeClr val="hlink"/>
              </a:buClr>
              <a:buSzPct val="55000"/>
              <a:buFont typeface="Wingdings" panose="05000000000000000000" pitchFamily="2" charset="2"/>
              <a:buChar char="n"/>
            </a:pPr>
            <a:r>
              <a:rPr kumimoji="0" lang="en-US" altLang="en-US" sz="2000" b="1" dirty="0">
                <a:latin typeface="+mn-lt"/>
              </a:rPr>
              <a:t>supporting actor</a:t>
            </a:r>
            <a:r>
              <a:rPr kumimoji="0" lang="en-US" altLang="en-US" sz="2000" dirty="0">
                <a:latin typeface="+mn-lt"/>
              </a:rPr>
              <a:t>: performs sub-goals to help use case</a:t>
            </a:r>
          </a:p>
        </p:txBody>
      </p:sp>
      <p:sp>
        <p:nvSpPr>
          <p:cNvPr id="604165" name="Text Box 5"/>
          <p:cNvSpPr txBox="1">
            <a:spLocks noChangeArrowheads="1"/>
          </p:cNvSpPr>
          <p:nvPr/>
        </p:nvSpPr>
        <p:spPr bwMode="auto">
          <a:xfrm>
            <a:off x="284972" y="4495800"/>
            <a:ext cx="8782828"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defRPr>
            </a:lvl1pPr>
            <a:lvl2pPr marL="742950" indent="-285750" eaLnBrk="0" hangingPunct="0">
              <a:defRPr kumimoji="1" sz="2400">
                <a:solidFill>
                  <a:schemeClr val="tx1"/>
                </a:solidFill>
                <a:latin typeface="Times New Roman" panose="02020603050405020304" pitchFamily="18" charset="0"/>
              </a:defRPr>
            </a:lvl2pPr>
            <a:lvl3pPr marL="1200150" indent="-285750" eaLnBrk="0" hangingPunct="0">
              <a:defRPr kumimoji="1" sz="2400">
                <a:solidFill>
                  <a:schemeClr val="tx1"/>
                </a:solidFill>
                <a:latin typeface="Times New Roman" panose="02020603050405020304" pitchFamily="18" charset="0"/>
              </a:defRPr>
            </a:lvl3pPr>
            <a:lvl4pPr eaLnBrk="0" hangingPunct="0">
              <a:defRPr kumimoji="1" sz="2400">
                <a:solidFill>
                  <a:schemeClr val="tx1"/>
                </a:solidFill>
                <a:latin typeface="Times New Roman" panose="02020603050405020304" pitchFamily="18" charset="0"/>
              </a:defRPr>
            </a:lvl4pPr>
            <a:lvl5pPr eaLnBrk="0" hangingPunct="0">
              <a:defRPr kumimoji="1" sz="2400">
                <a:solidFill>
                  <a:schemeClr val="tx1"/>
                </a:solidFill>
                <a:latin typeface="Times New Roman" panose="02020603050405020304" pitchFamily="18" charset="0"/>
              </a:defRPr>
            </a:lvl5pPr>
            <a:lvl6pPr eaLnBrk="0" fontAlgn="base" hangingPunct="0">
              <a:spcBef>
                <a:spcPct val="0"/>
              </a:spcBef>
              <a:spcAft>
                <a:spcPct val="0"/>
              </a:spcAft>
              <a:defRPr kumimoji="1" sz="2400">
                <a:solidFill>
                  <a:schemeClr val="tx1"/>
                </a:solidFill>
                <a:latin typeface="Times New Roman" panose="02020603050405020304" pitchFamily="18" charset="0"/>
              </a:defRPr>
            </a:lvl6pPr>
            <a:lvl7pPr eaLnBrk="0" fontAlgn="base" hangingPunct="0">
              <a:spcBef>
                <a:spcPct val="0"/>
              </a:spcBef>
              <a:spcAft>
                <a:spcPct val="0"/>
              </a:spcAft>
              <a:defRPr kumimoji="1" sz="2400">
                <a:solidFill>
                  <a:schemeClr val="tx1"/>
                </a:solidFill>
                <a:latin typeface="Times New Roman" panose="02020603050405020304" pitchFamily="18" charset="0"/>
              </a:defRPr>
            </a:lvl7pPr>
            <a:lvl8pPr eaLnBrk="0" fontAlgn="base" hangingPunct="0">
              <a:spcBef>
                <a:spcPct val="0"/>
              </a:spcBef>
              <a:spcAft>
                <a:spcPct val="0"/>
              </a:spcAft>
              <a:defRPr kumimoji="1" sz="2400">
                <a:solidFill>
                  <a:schemeClr val="tx1"/>
                </a:solidFill>
                <a:latin typeface="Times New Roman" panose="02020603050405020304" pitchFamily="18" charset="0"/>
              </a:defRPr>
            </a:lvl8pPr>
            <a:lvl9pPr eaLnBrk="0" fontAlgn="base" hangingPunct="0">
              <a:spcBef>
                <a:spcPct val="0"/>
              </a:spcBef>
              <a:spcAft>
                <a:spcPct val="0"/>
              </a:spcAft>
              <a:defRPr kumimoji="1" sz="2400">
                <a:solidFill>
                  <a:schemeClr val="tx1"/>
                </a:solidFill>
                <a:latin typeface="Times New Roman" panose="02020603050405020304" pitchFamily="18" charset="0"/>
              </a:defRPr>
            </a:lvl9pPr>
          </a:lstStyle>
          <a:p>
            <a:pPr lvl="1" eaLnBrk="1" hangingPunct="1">
              <a:lnSpc>
                <a:spcPct val="80000"/>
              </a:lnSpc>
              <a:spcBef>
                <a:spcPct val="20000"/>
              </a:spcBef>
              <a:buClr>
                <a:schemeClr val="hlink"/>
              </a:buClr>
              <a:buSzPct val="55000"/>
              <a:buFont typeface="Wingdings" panose="05000000000000000000" pitchFamily="2" charset="2"/>
              <a:buChar char="n"/>
            </a:pPr>
            <a:r>
              <a:rPr kumimoji="0" lang="en-US" altLang="en-US" sz="2000" b="1" dirty="0">
                <a:latin typeface="+mn-lt"/>
              </a:rPr>
              <a:t>stakeholder</a:t>
            </a:r>
            <a:r>
              <a:rPr kumimoji="0" lang="en-US" altLang="en-US" sz="2000" dirty="0">
                <a:latin typeface="+mn-lt"/>
              </a:rPr>
              <a:t>: anyone interested in the system</a:t>
            </a:r>
          </a:p>
          <a:p>
            <a:pPr lvl="2" eaLnBrk="1" hangingPunct="1">
              <a:lnSpc>
                <a:spcPct val="80000"/>
              </a:lnSpc>
              <a:spcBef>
                <a:spcPct val="20000"/>
              </a:spcBef>
              <a:buClr>
                <a:schemeClr val="hlink"/>
              </a:buClr>
              <a:buSzPct val="55000"/>
              <a:buFont typeface="Wingdings" panose="05000000000000000000" pitchFamily="2" charset="2"/>
              <a:buChar char="n"/>
            </a:pPr>
            <a:r>
              <a:rPr kumimoji="0" lang="en-US" altLang="en-US" sz="2000" dirty="0">
                <a:latin typeface="+mn-lt"/>
              </a:rPr>
              <a:t>examples: supplier, stock agency, vendor</a:t>
            </a:r>
          </a:p>
          <a:p>
            <a:pPr lvl="1" eaLnBrk="1" hangingPunct="1">
              <a:lnSpc>
                <a:spcPct val="80000"/>
              </a:lnSpc>
              <a:spcBef>
                <a:spcPct val="20000"/>
              </a:spcBef>
              <a:buClr>
                <a:schemeClr val="hlink"/>
              </a:buClr>
              <a:buSzPct val="55000"/>
              <a:buFont typeface="Wingdings" panose="05000000000000000000" pitchFamily="2" charset="2"/>
              <a:buChar char="n"/>
            </a:pPr>
            <a:endParaRPr kumimoji="0" lang="en-US" altLang="en-US" sz="2000" dirty="0">
              <a:latin typeface="+mn-lt"/>
            </a:endParaRPr>
          </a:p>
          <a:p>
            <a:pPr lvl="1" eaLnBrk="1" hangingPunct="1">
              <a:lnSpc>
                <a:spcPct val="80000"/>
              </a:lnSpc>
              <a:spcBef>
                <a:spcPct val="20000"/>
              </a:spcBef>
              <a:buClr>
                <a:schemeClr val="hlink"/>
              </a:buClr>
              <a:buSzPct val="55000"/>
              <a:buFont typeface="Wingdings" panose="05000000000000000000" pitchFamily="2" charset="2"/>
              <a:buChar char="n"/>
            </a:pPr>
            <a:r>
              <a:rPr kumimoji="0" lang="en-US" altLang="en-US" sz="2000" dirty="0">
                <a:latin typeface="+mn-lt"/>
              </a:rPr>
              <a:t>the difference: stakeholder might not "act" in any scenario</a:t>
            </a:r>
          </a:p>
        </p:txBody>
      </p:sp>
    </p:spTree>
    <p:extLst>
      <p:ext uri="{BB962C8B-B14F-4D97-AF65-F5344CB8AC3E}">
        <p14:creationId xmlns:p14="http://schemas.microsoft.com/office/powerpoint/2010/main" val="8185353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4164"/>
                                        </p:tgtEl>
                                        <p:attrNameLst>
                                          <p:attrName>style.visibility</p:attrName>
                                        </p:attrNameLst>
                                      </p:cBhvr>
                                      <p:to>
                                        <p:strVal val="visible"/>
                                      </p:to>
                                    </p:set>
                                    <p:anim calcmode="lin" valueType="num">
                                      <p:cBhvr additive="base">
                                        <p:cTn id="7" dur="500" fill="hold"/>
                                        <p:tgtEl>
                                          <p:spTgt spid="604164"/>
                                        </p:tgtEl>
                                        <p:attrNameLst>
                                          <p:attrName>ppt_x</p:attrName>
                                        </p:attrNameLst>
                                      </p:cBhvr>
                                      <p:tavLst>
                                        <p:tav tm="0">
                                          <p:val>
                                            <p:strVal val="0-#ppt_w/2"/>
                                          </p:val>
                                        </p:tav>
                                        <p:tav tm="100000">
                                          <p:val>
                                            <p:strVal val="#ppt_x"/>
                                          </p:val>
                                        </p:tav>
                                      </p:tavLst>
                                    </p:anim>
                                    <p:anim calcmode="lin" valueType="num">
                                      <p:cBhvr additive="base">
                                        <p:cTn id="8" dur="500" fill="hold"/>
                                        <p:tgtEl>
                                          <p:spTgt spid="60416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04165"/>
                                        </p:tgtEl>
                                        <p:attrNameLst>
                                          <p:attrName>style.visibility</p:attrName>
                                        </p:attrNameLst>
                                      </p:cBhvr>
                                      <p:to>
                                        <p:strVal val="visible"/>
                                      </p:to>
                                    </p:set>
                                    <p:anim calcmode="lin" valueType="num">
                                      <p:cBhvr additive="base">
                                        <p:cTn id="13" dur="500" fill="hold"/>
                                        <p:tgtEl>
                                          <p:spTgt spid="604165"/>
                                        </p:tgtEl>
                                        <p:attrNameLst>
                                          <p:attrName>ppt_x</p:attrName>
                                        </p:attrNameLst>
                                      </p:cBhvr>
                                      <p:tavLst>
                                        <p:tav tm="0">
                                          <p:val>
                                            <p:strVal val="#ppt_x"/>
                                          </p:val>
                                        </p:tav>
                                        <p:tav tm="100000">
                                          <p:val>
                                            <p:strVal val="#ppt_x"/>
                                          </p:val>
                                        </p:tav>
                                      </p:tavLst>
                                    </p:anim>
                                    <p:anim calcmode="lin" valueType="num">
                                      <p:cBhvr additive="base">
                                        <p:cTn id="14" dur="500" fill="hold"/>
                                        <p:tgtEl>
                                          <p:spTgt spid="6041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64" grpId="0" autoUpdateAnimBg="0"/>
      <p:bldP spid="604165"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Rectangle 2"/>
          <p:cNvSpPr>
            <a:spLocks noGrp="1" noChangeArrowheads="1"/>
          </p:cNvSpPr>
          <p:nvPr>
            <p:ph type="title"/>
          </p:nvPr>
        </p:nvSpPr>
        <p:spPr/>
        <p:txBody>
          <a:bodyPr>
            <a:normAutofit/>
          </a:bodyPr>
          <a:lstStyle/>
          <a:p>
            <a:r>
              <a:rPr lang="en-GB" altLang="en-US" dirty="0" smtClean="0"/>
              <a:t>How to identify actors?</a:t>
            </a:r>
            <a:endParaRPr lang="en-GB" altLang="en-US" dirty="0"/>
          </a:p>
        </p:txBody>
      </p:sp>
      <p:sp>
        <p:nvSpPr>
          <p:cNvPr id="625667" name="Rectangle 3"/>
          <p:cNvSpPr>
            <a:spLocks noGrp="1" noChangeArrowheads="1"/>
          </p:cNvSpPr>
          <p:nvPr>
            <p:ph type="body" idx="1"/>
          </p:nvPr>
        </p:nvSpPr>
        <p:spPr/>
        <p:txBody>
          <a:bodyPr>
            <a:normAutofit/>
          </a:bodyPr>
          <a:lstStyle/>
          <a:p>
            <a:pPr>
              <a:spcAft>
                <a:spcPts val="1200"/>
              </a:spcAft>
            </a:pPr>
            <a:r>
              <a:rPr lang="en-GB" altLang="en-US" sz="2400" b="1" dirty="0" smtClean="0"/>
              <a:t>Who is interested </a:t>
            </a:r>
            <a:r>
              <a:rPr lang="en-GB" altLang="en-US" sz="2400" dirty="0" smtClean="0"/>
              <a:t>in the scenario/system?</a:t>
            </a:r>
          </a:p>
          <a:p>
            <a:pPr>
              <a:spcAft>
                <a:spcPts val="1200"/>
              </a:spcAft>
            </a:pPr>
            <a:r>
              <a:rPr lang="en-GB" altLang="en-US" sz="2400" b="1" dirty="0" smtClean="0"/>
              <a:t>Where</a:t>
            </a:r>
            <a:r>
              <a:rPr lang="en-GB" altLang="en-US" sz="2400" dirty="0" smtClean="0"/>
              <a:t> in the organization is the scenario/system be used?</a:t>
            </a:r>
          </a:p>
          <a:p>
            <a:pPr>
              <a:spcAft>
                <a:spcPts val="1200"/>
              </a:spcAft>
            </a:pPr>
            <a:r>
              <a:rPr lang="en-GB" altLang="en-US" sz="2400" b="1" dirty="0" smtClean="0"/>
              <a:t>Who will benefit </a:t>
            </a:r>
            <a:r>
              <a:rPr lang="en-GB" altLang="en-US" sz="2400" dirty="0" smtClean="0"/>
              <a:t>from the use of the scenario/system?</a:t>
            </a:r>
          </a:p>
          <a:p>
            <a:pPr>
              <a:spcAft>
                <a:spcPts val="1200"/>
              </a:spcAft>
            </a:pPr>
            <a:r>
              <a:rPr lang="en-GB" altLang="en-US" sz="2400" b="1" dirty="0" smtClean="0"/>
              <a:t>Who will supply </a:t>
            </a:r>
            <a:r>
              <a:rPr lang="en-GB" altLang="en-US" sz="2400" dirty="0" smtClean="0"/>
              <a:t>the scenario/system with this information, use this information, and remove this information?</a:t>
            </a:r>
          </a:p>
          <a:p>
            <a:pPr>
              <a:spcAft>
                <a:spcPts val="1200"/>
              </a:spcAft>
            </a:pPr>
            <a:r>
              <a:rPr lang="en-GB" altLang="en-US" sz="2400" b="1" dirty="0" smtClean="0"/>
              <a:t>Does one person </a:t>
            </a:r>
            <a:r>
              <a:rPr lang="en-GB" altLang="en-US" sz="2400" dirty="0" smtClean="0"/>
              <a:t>play several different roles?</a:t>
            </a:r>
          </a:p>
          <a:p>
            <a:pPr>
              <a:spcAft>
                <a:spcPts val="1200"/>
              </a:spcAft>
            </a:pPr>
            <a:r>
              <a:rPr lang="en-GB" altLang="en-US" sz="2400" b="1" dirty="0" smtClean="0"/>
              <a:t>Do several people </a:t>
            </a:r>
            <a:r>
              <a:rPr lang="en-GB" altLang="en-US" sz="2400" dirty="0" smtClean="0"/>
              <a:t>play the same role?</a:t>
            </a:r>
            <a:endParaRPr lang="en-GB" altLang="en-US" sz="2400" dirty="0"/>
          </a:p>
        </p:txBody>
      </p:sp>
    </p:spTree>
    <p:extLst>
      <p:ext uri="{BB962C8B-B14F-4D97-AF65-F5344CB8AC3E}">
        <p14:creationId xmlns:p14="http://schemas.microsoft.com/office/powerpoint/2010/main" val="6332396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Rectangle 2"/>
          <p:cNvSpPr>
            <a:spLocks noGrp="1" noChangeArrowheads="1"/>
          </p:cNvSpPr>
          <p:nvPr>
            <p:ph type="title"/>
          </p:nvPr>
        </p:nvSpPr>
        <p:spPr/>
        <p:txBody>
          <a:bodyPr/>
          <a:lstStyle/>
          <a:p>
            <a:r>
              <a:rPr lang="en-US" altLang="en-US" dirty="0" smtClean="0"/>
              <a:t>Use Case Diagrams</a:t>
            </a:r>
            <a:endParaRPr lang="en-US" altLang="en-US" dirty="0"/>
          </a:p>
        </p:txBody>
      </p:sp>
      <p:sp>
        <p:nvSpPr>
          <p:cNvPr id="609283" name="Rectangle 3"/>
          <p:cNvSpPr>
            <a:spLocks noGrp="1" noChangeArrowheads="1"/>
          </p:cNvSpPr>
          <p:nvPr>
            <p:ph type="body" idx="1"/>
          </p:nvPr>
        </p:nvSpPr>
        <p:spPr/>
        <p:txBody>
          <a:bodyPr>
            <a:normAutofit/>
          </a:bodyPr>
          <a:lstStyle/>
          <a:p>
            <a:r>
              <a:rPr lang="en-US" altLang="en-US" sz="2400" dirty="0" smtClean="0"/>
              <a:t>Use case diagrams describe what a system does from the standpoint of an external observer. The emphasis is on what a system does rather than how.</a:t>
            </a:r>
          </a:p>
          <a:p>
            <a:endParaRPr lang="en-US" altLang="en-US" sz="2400" dirty="0" smtClean="0"/>
          </a:p>
          <a:p>
            <a:r>
              <a:rPr lang="en-US" altLang="en-US" sz="2400" dirty="0" smtClean="0"/>
              <a:t>Use case diagrams are closely connected to scenarios. A scenario is an example of what happens when someone interacts with the system. </a:t>
            </a:r>
            <a:endParaRPr lang="en-US" altLang="en-US" sz="2400" dirty="0"/>
          </a:p>
        </p:txBody>
      </p:sp>
    </p:spTree>
    <p:extLst>
      <p:ext uri="{BB962C8B-B14F-4D97-AF65-F5344CB8AC3E}">
        <p14:creationId xmlns:p14="http://schemas.microsoft.com/office/powerpoint/2010/main" val="15253675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Rectangle 2"/>
          <p:cNvSpPr>
            <a:spLocks noGrp="1" noChangeArrowheads="1"/>
          </p:cNvSpPr>
          <p:nvPr>
            <p:ph type="title"/>
          </p:nvPr>
        </p:nvSpPr>
        <p:spPr/>
        <p:txBody>
          <a:bodyPr/>
          <a:lstStyle/>
          <a:p>
            <a:r>
              <a:rPr lang="en-GB" altLang="en-US" smtClean="0"/>
              <a:t>Actors</a:t>
            </a:r>
            <a:endParaRPr lang="en-GB" altLang="en-US"/>
          </a:p>
        </p:txBody>
      </p:sp>
      <p:sp>
        <p:nvSpPr>
          <p:cNvPr id="629763" name="Rectangle 3"/>
          <p:cNvSpPr>
            <a:spLocks noGrp="1" noChangeArrowheads="1"/>
          </p:cNvSpPr>
          <p:nvPr>
            <p:ph type="body" idx="1"/>
          </p:nvPr>
        </p:nvSpPr>
        <p:spPr>
          <a:xfrm>
            <a:off x="628650" y="1216479"/>
            <a:ext cx="6586165" cy="4960484"/>
          </a:xfrm>
        </p:spPr>
        <p:txBody>
          <a:bodyPr>
            <a:normAutofit/>
          </a:bodyPr>
          <a:lstStyle/>
          <a:p>
            <a:r>
              <a:rPr lang="en-GB" altLang="en-US" sz="3200" dirty="0" smtClean="0"/>
              <a:t>An Actor is outside or external the system.</a:t>
            </a:r>
          </a:p>
          <a:p>
            <a:r>
              <a:rPr lang="en-GB" altLang="en-US" sz="3200" dirty="0" smtClean="0"/>
              <a:t>It can be a:</a:t>
            </a:r>
          </a:p>
          <a:p>
            <a:pPr lvl="1"/>
            <a:r>
              <a:rPr lang="en-GB" altLang="en-US" sz="2800" dirty="0" smtClean="0"/>
              <a:t>Human</a:t>
            </a:r>
          </a:p>
          <a:p>
            <a:pPr lvl="1"/>
            <a:r>
              <a:rPr lang="en-GB" altLang="en-US" sz="2800" dirty="0" smtClean="0"/>
              <a:t>Peripheral device (hardware)</a:t>
            </a:r>
          </a:p>
          <a:p>
            <a:pPr lvl="1"/>
            <a:r>
              <a:rPr lang="en-GB" altLang="en-US" sz="2800" dirty="0" smtClean="0"/>
              <a:t>External system or subsystem</a:t>
            </a:r>
          </a:p>
          <a:p>
            <a:pPr lvl="1"/>
            <a:r>
              <a:rPr lang="en-GB" altLang="en-US" sz="2800" dirty="0" smtClean="0"/>
              <a:t>Time or time-based event</a:t>
            </a:r>
          </a:p>
          <a:p>
            <a:pPr lvl="1"/>
            <a:endParaRPr lang="en-GB" altLang="en-US" sz="2800" dirty="0" smtClean="0"/>
          </a:p>
          <a:p>
            <a:r>
              <a:rPr lang="en-GB" altLang="en-US" sz="3200" dirty="0" smtClean="0"/>
              <a:t>Represented by stick figure with name below</a:t>
            </a:r>
            <a:endParaRPr lang="en-GB" altLang="en-US" sz="3200" dirty="0"/>
          </a:p>
        </p:txBody>
      </p:sp>
      <p:grpSp>
        <p:nvGrpSpPr>
          <p:cNvPr id="629769" name="Group 9"/>
          <p:cNvGrpSpPr>
            <a:grpSpLocks/>
          </p:cNvGrpSpPr>
          <p:nvPr/>
        </p:nvGrpSpPr>
        <p:grpSpPr bwMode="auto">
          <a:xfrm>
            <a:off x="7391400" y="4038600"/>
            <a:ext cx="841316" cy="1990159"/>
            <a:chOff x="4254" y="2630"/>
            <a:chExt cx="528" cy="1249"/>
          </a:xfrm>
        </p:grpSpPr>
        <p:sp>
          <p:nvSpPr>
            <p:cNvPr id="629764" name="Line 4"/>
            <p:cNvSpPr>
              <a:spLocks noChangeShapeType="1"/>
            </p:cNvSpPr>
            <p:nvPr/>
          </p:nvSpPr>
          <p:spPr bwMode="auto">
            <a:xfrm>
              <a:off x="4493" y="2917"/>
              <a:ext cx="1" cy="762"/>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629765" name="Oval 5"/>
            <p:cNvSpPr>
              <a:spLocks noChangeArrowheads="1"/>
            </p:cNvSpPr>
            <p:nvPr/>
          </p:nvSpPr>
          <p:spPr bwMode="auto">
            <a:xfrm>
              <a:off x="4350" y="2630"/>
              <a:ext cx="303" cy="286"/>
            </a:xfrm>
            <a:prstGeom prst="ellipse">
              <a:avLst/>
            </a:prstGeom>
            <a:solidFill>
              <a:srgbClr val="D3EFC5"/>
            </a:solidFill>
            <a:ln w="39688">
              <a:solidFill>
                <a:srgbClr val="000000"/>
              </a:solidFill>
              <a:round/>
              <a:headEnd/>
              <a:tailEnd/>
            </a:ln>
          </p:spPr>
          <p:txBody>
            <a:bodyPr/>
            <a:lstStyle/>
            <a:p>
              <a:endParaRPr lang="en-US" sz="2000"/>
            </a:p>
          </p:txBody>
        </p:sp>
        <p:sp>
          <p:nvSpPr>
            <p:cNvPr id="629766" name="Line 6"/>
            <p:cNvSpPr>
              <a:spLocks noChangeShapeType="1"/>
            </p:cNvSpPr>
            <p:nvPr/>
          </p:nvSpPr>
          <p:spPr bwMode="auto">
            <a:xfrm>
              <a:off x="4254" y="3204"/>
              <a:ext cx="528" cy="1"/>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629767" name="Line 7"/>
            <p:cNvSpPr>
              <a:spLocks noChangeShapeType="1"/>
            </p:cNvSpPr>
            <p:nvPr/>
          </p:nvSpPr>
          <p:spPr bwMode="auto">
            <a:xfrm flipH="1">
              <a:off x="4285" y="3658"/>
              <a:ext cx="201" cy="191"/>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629768" name="Line 8"/>
            <p:cNvSpPr>
              <a:spLocks noChangeShapeType="1"/>
            </p:cNvSpPr>
            <p:nvPr/>
          </p:nvSpPr>
          <p:spPr bwMode="auto">
            <a:xfrm>
              <a:off x="4502" y="3664"/>
              <a:ext cx="200" cy="215"/>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grpSp>
      <p:sp>
        <p:nvSpPr>
          <p:cNvPr id="12" name="Rectangle 9"/>
          <p:cNvSpPr>
            <a:spLocks noChangeArrowheads="1"/>
          </p:cNvSpPr>
          <p:nvPr/>
        </p:nvSpPr>
        <p:spPr bwMode="auto">
          <a:xfrm>
            <a:off x="7483350" y="6038463"/>
            <a:ext cx="7181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it-IT" altLang="en-US" dirty="0" smtClean="0">
                <a:solidFill>
                  <a:srgbClr val="000000"/>
                </a:solidFill>
                <a:latin typeface="Arial" panose="020B0604020202020204" pitchFamily="34" charset="0"/>
              </a:rPr>
              <a:t>Patient</a:t>
            </a:r>
            <a:endParaRPr lang="it-IT" altLang="en-US" sz="3200" dirty="0">
              <a:latin typeface="Times New Roman" panose="02020603050405020304" pitchFamily="18" charset="0"/>
            </a:endParaRPr>
          </a:p>
        </p:txBody>
      </p:sp>
    </p:spTree>
    <p:extLst>
      <p:ext uri="{BB962C8B-B14F-4D97-AF65-F5344CB8AC3E}">
        <p14:creationId xmlns:p14="http://schemas.microsoft.com/office/powerpoint/2010/main" val="3710117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97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976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2976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2976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2976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976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2976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2976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63" grpId="0" uiExpand="1" build="p"/>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p:cNvSpPr>
            <a:spLocks noGrp="1" noChangeArrowheads="1"/>
          </p:cNvSpPr>
          <p:nvPr>
            <p:ph type="title"/>
          </p:nvPr>
        </p:nvSpPr>
        <p:spPr/>
        <p:txBody>
          <a:bodyPr/>
          <a:lstStyle/>
          <a:p>
            <a:r>
              <a:rPr lang="en-US" altLang="en-US" smtClean="0"/>
              <a:t>Use Cases</a:t>
            </a:r>
            <a:endParaRPr lang="en-US" altLang="en-US"/>
          </a:p>
        </p:txBody>
      </p:sp>
      <p:sp>
        <p:nvSpPr>
          <p:cNvPr id="617475" name="Rectangle 3"/>
          <p:cNvSpPr>
            <a:spLocks noGrp="1" noChangeArrowheads="1"/>
          </p:cNvSpPr>
          <p:nvPr>
            <p:ph type="body" idx="1"/>
          </p:nvPr>
        </p:nvSpPr>
        <p:spPr>
          <a:xfrm>
            <a:off x="619088" y="996431"/>
            <a:ext cx="7886700" cy="4960484"/>
          </a:xfrm>
        </p:spPr>
        <p:txBody>
          <a:bodyPr>
            <a:normAutofit/>
          </a:bodyPr>
          <a:lstStyle/>
          <a:p>
            <a:r>
              <a:rPr lang="en-GB" altLang="en-US" sz="2400" dirty="0"/>
              <a:t>Each use case in a use case diagram describes one and only one function in which users interact with the </a:t>
            </a:r>
            <a:r>
              <a:rPr lang="en-GB" altLang="en-US" sz="2400" dirty="0" smtClean="0"/>
              <a:t>system</a:t>
            </a:r>
            <a:endParaRPr lang="en-GB" altLang="en-US" sz="2000" dirty="0"/>
          </a:p>
          <a:p>
            <a:pPr lvl="1"/>
            <a:r>
              <a:rPr lang="en-GB" altLang="en-US" sz="2000" dirty="0"/>
              <a:t>May contain several “paths” that a user can take while interacting with the system</a:t>
            </a:r>
          </a:p>
          <a:p>
            <a:pPr lvl="1"/>
            <a:r>
              <a:rPr lang="en-GB" altLang="en-US" sz="2000" dirty="0"/>
              <a:t>Each path is referred to as a </a:t>
            </a:r>
            <a:r>
              <a:rPr lang="en-GB" altLang="en-US" sz="2000" dirty="0" smtClean="0"/>
              <a:t>scenario</a:t>
            </a:r>
          </a:p>
          <a:p>
            <a:pPr lvl="1"/>
            <a:endParaRPr lang="en-GB" altLang="en-US" sz="2000" dirty="0"/>
          </a:p>
          <a:p>
            <a:pPr>
              <a:spcAft>
                <a:spcPts val="1200"/>
              </a:spcAft>
            </a:pPr>
            <a:r>
              <a:rPr lang="en-US" altLang="en-US" sz="2400" dirty="0" smtClean="0"/>
              <a:t>Represents an activity of an actor</a:t>
            </a:r>
          </a:p>
          <a:p>
            <a:pPr>
              <a:spcAft>
                <a:spcPts val="1200"/>
              </a:spcAft>
            </a:pPr>
            <a:r>
              <a:rPr lang="en-US" altLang="en-US" sz="2400" dirty="0" smtClean="0"/>
              <a:t>Use </a:t>
            </a:r>
            <a:r>
              <a:rPr lang="en-US" altLang="en-US" sz="2400" dirty="0"/>
              <a:t>cases as ellipses with their names below or </a:t>
            </a:r>
            <a:r>
              <a:rPr lang="en-US" altLang="en-US" sz="2400" dirty="0" smtClean="0"/>
              <a:t>inside</a:t>
            </a:r>
            <a:endParaRPr lang="en-US" altLang="en-US" sz="2400" dirty="0"/>
          </a:p>
        </p:txBody>
      </p:sp>
      <p:sp>
        <p:nvSpPr>
          <p:cNvPr id="617481" name="Text Box 9"/>
          <p:cNvSpPr txBox="1">
            <a:spLocks noChangeArrowheads="1"/>
          </p:cNvSpPr>
          <p:nvPr/>
        </p:nvSpPr>
        <p:spPr bwMode="auto">
          <a:xfrm>
            <a:off x="135970" y="5494049"/>
            <a:ext cx="8852939" cy="650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7">
                <a:solidFill>
                  <a:schemeClr val="bg1"/>
                </a:solidFill>
              </a:rPr>
              <a:t>Actors are stick figures. Use cases are ovals. Communications are lines that link actors to use cases.</a:t>
            </a:r>
          </a:p>
        </p:txBody>
      </p:sp>
      <p:sp>
        <p:nvSpPr>
          <p:cNvPr id="12" name="Oval 10"/>
          <p:cNvSpPr>
            <a:spLocks noChangeArrowheads="1"/>
          </p:cNvSpPr>
          <p:nvPr/>
        </p:nvSpPr>
        <p:spPr bwMode="auto">
          <a:xfrm>
            <a:off x="2498725" y="4724400"/>
            <a:ext cx="3521075" cy="1273176"/>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 name="Rectangle 11"/>
          <p:cNvSpPr>
            <a:spLocks noChangeArrowheads="1"/>
          </p:cNvSpPr>
          <p:nvPr/>
        </p:nvSpPr>
        <p:spPr bwMode="auto">
          <a:xfrm>
            <a:off x="3414428" y="5247370"/>
            <a:ext cx="189795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it-IT" altLang="en-US" dirty="0" smtClean="0">
                <a:solidFill>
                  <a:srgbClr val="000000"/>
                </a:solidFill>
                <a:latin typeface="Arial" panose="020B0604020202020204" pitchFamily="34" charset="0"/>
              </a:rPr>
              <a:t>Make appointment</a:t>
            </a:r>
            <a:endParaRPr lang="it-IT" altLang="en-US" sz="3200" dirty="0">
              <a:latin typeface="Times New Roman" panose="02020603050405020304" pitchFamily="18" charset="0"/>
            </a:endParaRPr>
          </a:p>
        </p:txBody>
      </p:sp>
    </p:spTree>
    <p:extLst>
      <p:ext uri="{BB962C8B-B14F-4D97-AF65-F5344CB8AC3E}">
        <p14:creationId xmlns:p14="http://schemas.microsoft.com/office/powerpoint/2010/main" val="3656465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Rectangle 2"/>
          <p:cNvSpPr>
            <a:spLocks noGrp="1" noChangeArrowheads="1"/>
          </p:cNvSpPr>
          <p:nvPr>
            <p:ph type="title"/>
          </p:nvPr>
        </p:nvSpPr>
        <p:spPr/>
        <p:txBody>
          <a:bodyPr/>
          <a:lstStyle/>
          <a:p>
            <a:r>
              <a:rPr lang="en-US" altLang="en-US" smtClean="0"/>
              <a:t>Use Case  - Relationships</a:t>
            </a:r>
            <a:endParaRPr lang="en-GB" altLang="en-US"/>
          </a:p>
        </p:txBody>
      </p:sp>
      <p:sp>
        <p:nvSpPr>
          <p:cNvPr id="650243" name="Rectangle 3"/>
          <p:cNvSpPr>
            <a:spLocks noGrp="1" noChangeArrowheads="1"/>
          </p:cNvSpPr>
          <p:nvPr>
            <p:ph type="body" idx="1"/>
          </p:nvPr>
        </p:nvSpPr>
        <p:spPr/>
        <p:txBody>
          <a:bodyPr>
            <a:normAutofit/>
          </a:bodyPr>
          <a:lstStyle/>
          <a:p>
            <a:pPr>
              <a:spcBef>
                <a:spcPts val="600"/>
              </a:spcBef>
              <a:spcAft>
                <a:spcPts val="1200"/>
              </a:spcAft>
            </a:pPr>
            <a:r>
              <a:rPr lang="en-GB" altLang="en-US" sz="2800" dirty="0" smtClean="0"/>
              <a:t>Relationships</a:t>
            </a:r>
          </a:p>
          <a:p>
            <a:pPr lvl="1">
              <a:spcBef>
                <a:spcPts val="600"/>
              </a:spcBef>
              <a:spcAft>
                <a:spcPts val="1200"/>
              </a:spcAft>
            </a:pPr>
            <a:r>
              <a:rPr lang="en-GB" altLang="en-US" sz="2400" dirty="0" smtClean="0"/>
              <a:t>Represent communication between actor and use case</a:t>
            </a:r>
          </a:p>
          <a:p>
            <a:pPr lvl="1">
              <a:spcBef>
                <a:spcPts val="600"/>
              </a:spcBef>
              <a:spcAft>
                <a:spcPts val="1200"/>
              </a:spcAft>
            </a:pPr>
            <a:r>
              <a:rPr lang="en-GB" altLang="en-US" sz="2400" dirty="0" smtClean="0"/>
              <a:t>Depicted by line or double-headed arrow line</a:t>
            </a:r>
          </a:p>
          <a:p>
            <a:pPr lvl="1">
              <a:spcBef>
                <a:spcPts val="600"/>
              </a:spcBef>
              <a:spcAft>
                <a:spcPts val="1200"/>
              </a:spcAft>
            </a:pPr>
            <a:r>
              <a:rPr lang="en-GB" altLang="en-US" sz="2400" dirty="0" smtClean="0"/>
              <a:t>Also called association relationship</a:t>
            </a:r>
            <a:endParaRPr lang="en-GB" altLang="en-US" sz="2400" dirty="0"/>
          </a:p>
        </p:txBody>
      </p:sp>
      <p:sp>
        <p:nvSpPr>
          <p:cNvPr id="650245" name="Oval 5"/>
          <p:cNvSpPr>
            <a:spLocks noChangeArrowheads="1"/>
          </p:cNvSpPr>
          <p:nvPr/>
        </p:nvSpPr>
        <p:spPr bwMode="auto">
          <a:xfrm>
            <a:off x="4877934" y="4729216"/>
            <a:ext cx="2208454" cy="1142469"/>
          </a:xfrm>
          <a:prstGeom prst="ellipse">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7">
                <a:solidFill>
                  <a:schemeClr val="bg1"/>
                </a:solidFill>
              </a:rPr>
              <a:t>Make </a:t>
            </a:r>
          </a:p>
          <a:p>
            <a:pPr algn="ctr"/>
            <a:r>
              <a:rPr lang="en-US" altLang="en-US" sz="1807">
                <a:solidFill>
                  <a:schemeClr val="bg1"/>
                </a:solidFill>
              </a:rPr>
              <a:t>Appointment</a:t>
            </a:r>
          </a:p>
        </p:txBody>
      </p:sp>
      <p:sp>
        <p:nvSpPr>
          <p:cNvPr id="650246" name="Line 6"/>
          <p:cNvSpPr>
            <a:spLocks noChangeShapeType="1"/>
          </p:cNvSpPr>
          <p:nvPr/>
        </p:nvSpPr>
        <p:spPr bwMode="auto">
          <a:xfrm>
            <a:off x="2201019" y="5264599"/>
            <a:ext cx="2600431" cy="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807"/>
          </a:p>
        </p:txBody>
      </p:sp>
      <p:grpSp>
        <p:nvGrpSpPr>
          <p:cNvPr id="6" name="Group 5"/>
          <p:cNvGrpSpPr/>
          <p:nvPr/>
        </p:nvGrpSpPr>
        <p:grpSpPr>
          <a:xfrm>
            <a:off x="914698" y="3792432"/>
            <a:ext cx="920795" cy="2371136"/>
            <a:chOff x="914698" y="3792432"/>
            <a:chExt cx="920795" cy="2371136"/>
          </a:xfrm>
        </p:grpSpPr>
        <p:grpSp>
          <p:nvGrpSpPr>
            <p:cNvPr id="9" name="Group 9"/>
            <p:cNvGrpSpPr>
              <a:grpSpLocks/>
            </p:cNvGrpSpPr>
            <p:nvPr/>
          </p:nvGrpSpPr>
          <p:grpSpPr bwMode="auto">
            <a:xfrm>
              <a:off x="994177" y="3792432"/>
              <a:ext cx="841316" cy="1990159"/>
              <a:chOff x="4254" y="2630"/>
              <a:chExt cx="528" cy="1249"/>
            </a:xfrm>
          </p:grpSpPr>
          <p:sp>
            <p:nvSpPr>
              <p:cNvPr id="10" name="Line 4"/>
              <p:cNvSpPr>
                <a:spLocks noChangeShapeType="1"/>
              </p:cNvSpPr>
              <p:nvPr/>
            </p:nvSpPr>
            <p:spPr bwMode="auto">
              <a:xfrm>
                <a:off x="4493" y="2917"/>
                <a:ext cx="1" cy="762"/>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11" name="Oval 5"/>
              <p:cNvSpPr>
                <a:spLocks noChangeArrowheads="1"/>
              </p:cNvSpPr>
              <p:nvPr/>
            </p:nvSpPr>
            <p:spPr bwMode="auto">
              <a:xfrm>
                <a:off x="4350" y="2630"/>
                <a:ext cx="303" cy="286"/>
              </a:xfrm>
              <a:prstGeom prst="ellipse">
                <a:avLst/>
              </a:prstGeom>
              <a:solidFill>
                <a:srgbClr val="D3EFC5"/>
              </a:solidFill>
              <a:ln w="39688">
                <a:solidFill>
                  <a:srgbClr val="000000"/>
                </a:solidFill>
                <a:round/>
                <a:headEnd/>
                <a:tailEnd/>
              </a:ln>
            </p:spPr>
            <p:txBody>
              <a:bodyPr/>
              <a:lstStyle/>
              <a:p>
                <a:endParaRPr lang="en-US" sz="2000"/>
              </a:p>
            </p:txBody>
          </p:sp>
          <p:sp>
            <p:nvSpPr>
              <p:cNvPr id="12" name="Line 6"/>
              <p:cNvSpPr>
                <a:spLocks noChangeShapeType="1"/>
              </p:cNvSpPr>
              <p:nvPr/>
            </p:nvSpPr>
            <p:spPr bwMode="auto">
              <a:xfrm>
                <a:off x="4254" y="3204"/>
                <a:ext cx="528" cy="1"/>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13" name="Line 7"/>
              <p:cNvSpPr>
                <a:spLocks noChangeShapeType="1"/>
              </p:cNvSpPr>
              <p:nvPr/>
            </p:nvSpPr>
            <p:spPr bwMode="auto">
              <a:xfrm flipH="1">
                <a:off x="4285" y="3658"/>
                <a:ext cx="201" cy="191"/>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14" name="Line 8"/>
              <p:cNvSpPr>
                <a:spLocks noChangeShapeType="1"/>
              </p:cNvSpPr>
              <p:nvPr/>
            </p:nvSpPr>
            <p:spPr bwMode="auto">
              <a:xfrm>
                <a:off x="4502" y="3664"/>
                <a:ext cx="200" cy="215"/>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grpSp>
        <p:sp>
          <p:nvSpPr>
            <p:cNvPr id="15" name="Rectangle 9"/>
            <p:cNvSpPr>
              <a:spLocks noChangeArrowheads="1"/>
            </p:cNvSpPr>
            <p:nvPr/>
          </p:nvSpPr>
          <p:spPr bwMode="auto">
            <a:xfrm>
              <a:off x="914698" y="5886569"/>
              <a:ext cx="7181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it-IT" altLang="en-US" dirty="0" smtClean="0">
                  <a:solidFill>
                    <a:srgbClr val="000000"/>
                  </a:solidFill>
                  <a:latin typeface="Arial" panose="020B0604020202020204" pitchFamily="34" charset="0"/>
                </a:rPr>
                <a:t>Patient</a:t>
              </a:r>
              <a:endParaRPr lang="it-IT" altLang="en-US" sz="3200" dirty="0">
                <a:latin typeface="Times New Roman" panose="02020603050405020304" pitchFamily="18" charset="0"/>
              </a:endParaRPr>
            </a:p>
          </p:txBody>
        </p:sp>
      </p:grpSp>
      <p:sp>
        <p:nvSpPr>
          <p:cNvPr id="16" name="Oval 10"/>
          <p:cNvSpPr>
            <a:spLocks noChangeArrowheads="1"/>
          </p:cNvSpPr>
          <p:nvPr/>
        </p:nvSpPr>
        <p:spPr bwMode="auto">
          <a:xfrm>
            <a:off x="5201355" y="4250182"/>
            <a:ext cx="3521075" cy="1273176"/>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Rectangle 11"/>
          <p:cNvSpPr>
            <a:spLocks noChangeArrowheads="1"/>
          </p:cNvSpPr>
          <p:nvPr/>
        </p:nvSpPr>
        <p:spPr bwMode="auto">
          <a:xfrm>
            <a:off x="6137410" y="4758027"/>
            <a:ext cx="189795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it-IT" altLang="en-US" dirty="0" smtClean="0">
                <a:solidFill>
                  <a:srgbClr val="000000"/>
                </a:solidFill>
                <a:latin typeface="Arial" panose="020B0604020202020204" pitchFamily="34" charset="0"/>
              </a:rPr>
              <a:t>Make appointment</a:t>
            </a:r>
            <a:endParaRPr lang="it-IT" altLang="en-US" sz="3200" dirty="0">
              <a:latin typeface="Times New Roman" panose="02020603050405020304" pitchFamily="18" charset="0"/>
            </a:endParaRPr>
          </a:p>
        </p:txBody>
      </p:sp>
      <p:cxnSp>
        <p:nvCxnSpPr>
          <p:cNvPr id="5" name="Straight Connector 4"/>
          <p:cNvCxnSpPr/>
          <p:nvPr/>
        </p:nvCxnSpPr>
        <p:spPr>
          <a:xfrm>
            <a:off x="1981200" y="4877013"/>
            <a:ext cx="3220155" cy="19514"/>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71295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2" name="Rectangle 2"/>
          <p:cNvSpPr>
            <a:spLocks noGrp="1" noChangeArrowheads="1"/>
          </p:cNvSpPr>
          <p:nvPr>
            <p:ph type="title"/>
          </p:nvPr>
        </p:nvSpPr>
        <p:spPr/>
        <p:txBody>
          <a:bodyPr/>
          <a:lstStyle/>
          <a:p>
            <a:r>
              <a:rPr lang="en-US" altLang="en-US" smtClean="0"/>
              <a:t>Use Case  - Relationships</a:t>
            </a:r>
            <a:endParaRPr lang="en-GB" altLang="en-US"/>
          </a:p>
        </p:txBody>
      </p:sp>
      <p:sp>
        <p:nvSpPr>
          <p:cNvPr id="706563" name="Rectangle 3"/>
          <p:cNvSpPr>
            <a:spLocks noGrp="1" noChangeArrowheads="1"/>
          </p:cNvSpPr>
          <p:nvPr>
            <p:ph type="body" idx="1"/>
          </p:nvPr>
        </p:nvSpPr>
        <p:spPr/>
        <p:txBody>
          <a:bodyPr>
            <a:normAutofit/>
          </a:bodyPr>
          <a:lstStyle/>
          <a:p>
            <a:r>
              <a:rPr lang="en-GB" altLang="en-US" sz="3200" dirty="0" smtClean="0"/>
              <a:t>Boundary</a:t>
            </a:r>
          </a:p>
          <a:p>
            <a:pPr lvl="1"/>
            <a:r>
              <a:rPr lang="en-GB" altLang="en-US" sz="2800" dirty="0" smtClean="0"/>
              <a:t>A boundary rectangle is placed around the perimeter of the system to show how the actors communicate with the system.  </a:t>
            </a:r>
          </a:p>
          <a:p>
            <a:pPr lvl="1"/>
            <a:endParaRPr lang="en-GB" altLang="en-US" sz="2800" dirty="0"/>
          </a:p>
        </p:txBody>
      </p:sp>
      <p:sp>
        <p:nvSpPr>
          <p:cNvPr id="706565" name="Oval 5"/>
          <p:cNvSpPr>
            <a:spLocks noChangeArrowheads="1"/>
          </p:cNvSpPr>
          <p:nvPr/>
        </p:nvSpPr>
        <p:spPr bwMode="auto">
          <a:xfrm>
            <a:off x="4877934" y="4729216"/>
            <a:ext cx="2208454" cy="1142469"/>
          </a:xfrm>
          <a:prstGeom prst="ellipse">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7">
                <a:solidFill>
                  <a:schemeClr val="bg1"/>
                </a:solidFill>
              </a:rPr>
              <a:t>Make </a:t>
            </a:r>
          </a:p>
          <a:p>
            <a:pPr algn="ctr"/>
            <a:r>
              <a:rPr lang="en-US" altLang="en-US" sz="1807">
                <a:solidFill>
                  <a:schemeClr val="bg1"/>
                </a:solidFill>
              </a:rPr>
              <a:t>Appointment</a:t>
            </a:r>
          </a:p>
        </p:txBody>
      </p:sp>
      <p:sp>
        <p:nvSpPr>
          <p:cNvPr id="706566" name="Line 6"/>
          <p:cNvSpPr>
            <a:spLocks noChangeShapeType="1"/>
          </p:cNvSpPr>
          <p:nvPr/>
        </p:nvSpPr>
        <p:spPr bwMode="auto">
          <a:xfrm>
            <a:off x="2201019" y="5264599"/>
            <a:ext cx="2600431" cy="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807"/>
          </a:p>
        </p:txBody>
      </p:sp>
      <p:sp>
        <p:nvSpPr>
          <p:cNvPr id="706567" name="Rectangle 7"/>
          <p:cNvSpPr>
            <a:spLocks noChangeArrowheads="1"/>
          </p:cNvSpPr>
          <p:nvPr/>
        </p:nvSpPr>
        <p:spPr bwMode="auto">
          <a:xfrm>
            <a:off x="2713617" y="3352800"/>
            <a:ext cx="4971413" cy="2667000"/>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7"/>
          </a:p>
        </p:txBody>
      </p:sp>
      <p:grpSp>
        <p:nvGrpSpPr>
          <p:cNvPr id="10" name="Group 9"/>
          <p:cNvGrpSpPr/>
          <p:nvPr/>
        </p:nvGrpSpPr>
        <p:grpSpPr>
          <a:xfrm>
            <a:off x="914698" y="3792432"/>
            <a:ext cx="920795" cy="2371136"/>
            <a:chOff x="914698" y="3792432"/>
            <a:chExt cx="920795" cy="2371136"/>
          </a:xfrm>
        </p:grpSpPr>
        <p:grpSp>
          <p:nvGrpSpPr>
            <p:cNvPr id="11" name="Group 9"/>
            <p:cNvGrpSpPr>
              <a:grpSpLocks/>
            </p:cNvGrpSpPr>
            <p:nvPr/>
          </p:nvGrpSpPr>
          <p:grpSpPr bwMode="auto">
            <a:xfrm>
              <a:off x="994177" y="3792432"/>
              <a:ext cx="841316" cy="1990159"/>
              <a:chOff x="4254" y="2630"/>
              <a:chExt cx="528" cy="1249"/>
            </a:xfrm>
          </p:grpSpPr>
          <p:sp>
            <p:nvSpPr>
              <p:cNvPr id="13" name="Line 4"/>
              <p:cNvSpPr>
                <a:spLocks noChangeShapeType="1"/>
              </p:cNvSpPr>
              <p:nvPr/>
            </p:nvSpPr>
            <p:spPr bwMode="auto">
              <a:xfrm>
                <a:off x="4493" y="2917"/>
                <a:ext cx="1" cy="762"/>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14" name="Oval 5"/>
              <p:cNvSpPr>
                <a:spLocks noChangeArrowheads="1"/>
              </p:cNvSpPr>
              <p:nvPr/>
            </p:nvSpPr>
            <p:spPr bwMode="auto">
              <a:xfrm>
                <a:off x="4350" y="2630"/>
                <a:ext cx="303" cy="286"/>
              </a:xfrm>
              <a:prstGeom prst="ellipse">
                <a:avLst/>
              </a:prstGeom>
              <a:solidFill>
                <a:srgbClr val="D3EFC5"/>
              </a:solidFill>
              <a:ln w="39688">
                <a:solidFill>
                  <a:srgbClr val="000000"/>
                </a:solidFill>
                <a:round/>
                <a:headEnd/>
                <a:tailEnd/>
              </a:ln>
            </p:spPr>
            <p:txBody>
              <a:bodyPr/>
              <a:lstStyle/>
              <a:p>
                <a:endParaRPr lang="en-US" sz="2000"/>
              </a:p>
            </p:txBody>
          </p:sp>
          <p:sp>
            <p:nvSpPr>
              <p:cNvPr id="15" name="Line 6"/>
              <p:cNvSpPr>
                <a:spLocks noChangeShapeType="1"/>
              </p:cNvSpPr>
              <p:nvPr/>
            </p:nvSpPr>
            <p:spPr bwMode="auto">
              <a:xfrm>
                <a:off x="4254" y="3204"/>
                <a:ext cx="528" cy="1"/>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16" name="Line 7"/>
              <p:cNvSpPr>
                <a:spLocks noChangeShapeType="1"/>
              </p:cNvSpPr>
              <p:nvPr/>
            </p:nvSpPr>
            <p:spPr bwMode="auto">
              <a:xfrm flipH="1">
                <a:off x="4285" y="3658"/>
                <a:ext cx="201" cy="191"/>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17" name="Line 8"/>
              <p:cNvSpPr>
                <a:spLocks noChangeShapeType="1"/>
              </p:cNvSpPr>
              <p:nvPr/>
            </p:nvSpPr>
            <p:spPr bwMode="auto">
              <a:xfrm>
                <a:off x="4502" y="3664"/>
                <a:ext cx="200" cy="215"/>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grpSp>
        <p:sp>
          <p:nvSpPr>
            <p:cNvPr id="12" name="Rectangle 9"/>
            <p:cNvSpPr>
              <a:spLocks noChangeArrowheads="1"/>
            </p:cNvSpPr>
            <p:nvPr/>
          </p:nvSpPr>
          <p:spPr bwMode="auto">
            <a:xfrm>
              <a:off x="914698" y="5886569"/>
              <a:ext cx="7181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it-IT" altLang="en-US" dirty="0" smtClean="0">
                  <a:solidFill>
                    <a:srgbClr val="000000"/>
                  </a:solidFill>
                  <a:latin typeface="Arial" panose="020B0604020202020204" pitchFamily="34" charset="0"/>
                </a:rPr>
                <a:t>Patient</a:t>
              </a:r>
              <a:endParaRPr lang="it-IT" altLang="en-US" sz="3200" dirty="0">
                <a:latin typeface="Times New Roman" panose="02020603050405020304" pitchFamily="18" charset="0"/>
              </a:endParaRPr>
            </a:p>
          </p:txBody>
        </p:sp>
      </p:grpSp>
    </p:spTree>
    <p:extLst>
      <p:ext uri="{BB962C8B-B14F-4D97-AF65-F5344CB8AC3E}">
        <p14:creationId xmlns:p14="http://schemas.microsoft.com/office/powerpoint/2010/main" val="34303125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use case diagram: Hospital</a:t>
            </a:r>
            <a:endParaRPr lang="en-US" dirty="0"/>
          </a:p>
        </p:txBody>
      </p:sp>
      <p:pic>
        <p:nvPicPr>
          <p:cNvPr id="4" name="Picture 3" descr="06-04"/>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144594" y="1440435"/>
            <a:ext cx="7082669" cy="4678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36808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p:cNvSpPr>
            <a:spLocks noGrp="1" noChangeArrowheads="1"/>
          </p:cNvSpPr>
          <p:nvPr>
            <p:ph type="title"/>
          </p:nvPr>
        </p:nvSpPr>
        <p:spPr>
          <a:xfrm>
            <a:off x="609600" y="0"/>
            <a:ext cx="7886700" cy="859516"/>
          </a:xfrm>
        </p:spPr>
        <p:txBody>
          <a:bodyPr>
            <a:normAutofit/>
          </a:bodyPr>
          <a:lstStyle/>
          <a:p>
            <a:r>
              <a:rPr lang="en-US" altLang="en-US" dirty="0" smtClean="0"/>
              <a:t>Use Case relationship: Generalization</a:t>
            </a:r>
            <a:endParaRPr lang="en-GB" altLang="en-US" dirty="0"/>
          </a:p>
        </p:txBody>
      </p:sp>
      <p:sp>
        <p:nvSpPr>
          <p:cNvPr id="652291" name="Rectangle 3"/>
          <p:cNvSpPr>
            <a:spLocks noGrp="1" noChangeArrowheads="1"/>
          </p:cNvSpPr>
          <p:nvPr>
            <p:ph type="body" idx="1"/>
          </p:nvPr>
        </p:nvSpPr>
        <p:spPr>
          <a:xfrm>
            <a:off x="651006" y="1737469"/>
            <a:ext cx="4073394" cy="4281450"/>
          </a:xfrm>
        </p:spPr>
        <p:txBody>
          <a:bodyPr>
            <a:noAutofit/>
          </a:bodyPr>
          <a:lstStyle/>
          <a:p>
            <a:pPr>
              <a:spcBef>
                <a:spcPts val="600"/>
              </a:spcBef>
              <a:spcAft>
                <a:spcPts val="1200"/>
              </a:spcAft>
            </a:pPr>
            <a:r>
              <a:rPr lang="en-GB" altLang="en-US" sz="3200" dirty="0" smtClean="0"/>
              <a:t>Generalization</a:t>
            </a:r>
          </a:p>
          <a:p>
            <a:pPr lvl="1">
              <a:spcBef>
                <a:spcPts val="600"/>
              </a:spcBef>
              <a:spcAft>
                <a:spcPts val="1200"/>
              </a:spcAft>
            </a:pPr>
            <a:r>
              <a:rPr lang="en-GB" altLang="en-US" sz="2400" dirty="0"/>
              <a:t>From child to </a:t>
            </a:r>
            <a:r>
              <a:rPr lang="en-GB" altLang="en-US" sz="2400" dirty="0" smtClean="0"/>
              <a:t>parent</a:t>
            </a:r>
          </a:p>
          <a:p>
            <a:pPr lvl="1">
              <a:spcBef>
                <a:spcPts val="600"/>
              </a:spcBef>
              <a:spcAft>
                <a:spcPts val="1200"/>
              </a:spcAft>
            </a:pPr>
            <a:r>
              <a:rPr lang="en-GB" altLang="en-US" sz="2400" dirty="0"/>
              <a:t>Represented by a line and a hollow </a:t>
            </a:r>
            <a:r>
              <a:rPr lang="en-GB" altLang="en-US" sz="2400" dirty="0" smtClean="0"/>
              <a:t>arrow</a:t>
            </a:r>
          </a:p>
          <a:p>
            <a:pPr lvl="1">
              <a:spcBef>
                <a:spcPts val="600"/>
              </a:spcBef>
              <a:spcAft>
                <a:spcPts val="1200"/>
              </a:spcAft>
            </a:pPr>
            <a:endParaRPr lang="en-GB" altLang="en-US" sz="1400" dirty="0"/>
          </a:p>
          <a:p>
            <a:pPr>
              <a:spcBef>
                <a:spcPts val="600"/>
              </a:spcBef>
              <a:spcAft>
                <a:spcPts val="1200"/>
              </a:spcAft>
            </a:pPr>
            <a:endParaRPr lang="en-GB" altLang="en-US" sz="2800" dirty="0"/>
          </a:p>
        </p:txBody>
      </p:sp>
      <p:grpSp>
        <p:nvGrpSpPr>
          <p:cNvPr id="6" name="Group 5"/>
          <p:cNvGrpSpPr/>
          <p:nvPr/>
        </p:nvGrpSpPr>
        <p:grpSpPr>
          <a:xfrm>
            <a:off x="6687173" y="1075250"/>
            <a:ext cx="684483" cy="1187961"/>
            <a:chOff x="914698" y="3792432"/>
            <a:chExt cx="1061511" cy="2641656"/>
          </a:xfrm>
        </p:grpSpPr>
        <p:grpSp>
          <p:nvGrpSpPr>
            <p:cNvPr id="7" name="Group 9"/>
            <p:cNvGrpSpPr>
              <a:grpSpLocks/>
            </p:cNvGrpSpPr>
            <p:nvPr/>
          </p:nvGrpSpPr>
          <p:grpSpPr bwMode="auto">
            <a:xfrm>
              <a:off x="994177" y="3792432"/>
              <a:ext cx="841316" cy="1990159"/>
              <a:chOff x="4254" y="2630"/>
              <a:chExt cx="528" cy="1249"/>
            </a:xfrm>
          </p:grpSpPr>
          <p:sp>
            <p:nvSpPr>
              <p:cNvPr id="9" name="Line 4"/>
              <p:cNvSpPr>
                <a:spLocks noChangeShapeType="1"/>
              </p:cNvSpPr>
              <p:nvPr/>
            </p:nvSpPr>
            <p:spPr bwMode="auto">
              <a:xfrm>
                <a:off x="4493" y="2917"/>
                <a:ext cx="1" cy="762"/>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10" name="Oval 5"/>
              <p:cNvSpPr>
                <a:spLocks noChangeArrowheads="1"/>
              </p:cNvSpPr>
              <p:nvPr/>
            </p:nvSpPr>
            <p:spPr bwMode="auto">
              <a:xfrm>
                <a:off x="4350" y="2630"/>
                <a:ext cx="303" cy="286"/>
              </a:xfrm>
              <a:prstGeom prst="ellipse">
                <a:avLst/>
              </a:prstGeom>
              <a:solidFill>
                <a:srgbClr val="D3EFC5"/>
              </a:solidFill>
              <a:ln w="39688">
                <a:solidFill>
                  <a:srgbClr val="000000"/>
                </a:solidFill>
                <a:round/>
                <a:headEnd/>
                <a:tailEnd/>
              </a:ln>
            </p:spPr>
            <p:txBody>
              <a:bodyPr/>
              <a:lstStyle/>
              <a:p>
                <a:endParaRPr lang="en-US" sz="2000"/>
              </a:p>
            </p:txBody>
          </p:sp>
          <p:sp>
            <p:nvSpPr>
              <p:cNvPr id="11" name="Line 6"/>
              <p:cNvSpPr>
                <a:spLocks noChangeShapeType="1"/>
              </p:cNvSpPr>
              <p:nvPr/>
            </p:nvSpPr>
            <p:spPr bwMode="auto">
              <a:xfrm>
                <a:off x="4254" y="3204"/>
                <a:ext cx="528" cy="1"/>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12" name="Line 7"/>
              <p:cNvSpPr>
                <a:spLocks noChangeShapeType="1"/>
              </p:cNvSpPr>
              <p:nvPr/>
            </p:nvSpPr>
            <p:spPr bwMode="auto">
              <a:xfrm flipH="1">
                <a:off x="4285" y="3658"/>
                <a:ext cx="201" cy="191"/>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13" name="Line 8"/>
              <p:cNvSpPr>
                <a:spLocks noChangeShapeType="1"/>
              </p:cNvSpPr>
              <p:nvPr/>
            </p:nvSpPr>
            <p:spPr bwMode="auto">
              <a:xfrm>
                <a:off x="4502" y="3664"/>
                <a:ext cx="200" cy="215"/>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grpSp>
        <p:sp>
          <p:nvSpPr>
            <p:cNvPr id="8" name="Rectangle 9"/>
            <p:cNvSpPr>
              <a:spLocks noChangeArrowheads="1"/>
            </p:cNvSpPr>
            <p:nvPr/>
          </p:nvSpPr>
          <p:spPr bwMode="auto">
            <a:xfrm>
              <a:off x="914698" y="5886569"/>
              <a:ext cx="1061511" cy="547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it-IT" altLang="en-US" sz="1600" b="1" dirty="0" smtClean="0">
                  <a:solidFill>
                    <a:srgbClr val="000000"/>
                  </a:solidFill>
                  <a:latin typeface="Arial" panose="020B0604020202020204" pitchFamily="34" charset="0"/>
                </a:rPr>
                <a:t>Patient</a:t>
              </a:r>
              <a:endParaRPr lang="it-IT" altLang="en-US" sz="2800" b="1" dirty="0">
                <a:latin typeface="Times New Roman" panose="02020603050405020304" pitchFamily="18" charset="0"/>
              </a:endParaRPr>
            </a:p>
          </p:txBody>
        </p:sp>
      </p:grpSp>
      <p:grpSp>
        <p:nvGrpSpPr>
          <p:cNvPr id="14" name="Group 13"/>
          <p:cNvGrpSpPr/>
          <p:nvPr/>
        </p:nvGrpSpPr>
        <p:grpSpPr>
          <a:xfrm>
            <a:off x="7772400" y="3673258"/>
            <a:ext cx="1085233" cy="1203542"/>
            <a:chOff x="707181" y="3792432"/>
            <a:chExt cx="1683001" cy="2676303"/>
          </a:xfrm>
        </p:grpSpPr>
        <p:grpSp>
          <p:nvGrpSpPr>
            <p:cNvPr id="15" name="Group 9"/>
            <p:cNvGrpSpPr>
              <a:grpSpLocks/>
            </p:cNvGrpSpPr>
            <p:nvPr/>
          </p:nvGrpSpPr>
          <p:grpSpPr bwMode="auto">
            <a:xfrm>
              <a:off x="994177" y="3792432"/>
              <a:ext cx="841316" cy="1990159"/>
              <a:chOff x="4254" y="2630"/>
              <a:chExt cx="528" cy="1249"/>
            </a:xfrm>
          </p:grpSpPr>
          <p:sp>
            <p:nvSpPr>
              <p:cNvPr id="17" name="Line 4"/>
              <p:cNvSpPr>
                <a:spLocks noChangeShapeType="1"/>
              </p:cNvSpPr>
              <p:nvPr/>
            </p:nvSpPr>
            <p:spPr bwMode="auto">
              <a:xfrm>
                <a:off x="4493" y="2917"/>
                <a:ext cx="1" cy="762"/>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18" name="Oval 5"/>
              <p:cNvSpPr>
                <a:spLocks noChangeArrowheads="1"/>
              </p:cNvSpPr>
              <p:nvPr/>
            </p:nvSpPr>
            <p:spPr bwMode="auto">
              <a:xfrm>
                <a:off x="4350" y="2630"/>
                <a:ext cx="303" cy="286"/>
              </a:xfrm>
              <a:prstGeom prst="ellipse">
                <a:avLst/>
              </a:prstGeom>
              <a:solidFill>
                <a:srgbClr val="D3EFC5"/>
              </a:solidFill>
              <a:ln w="39688">
                <a:solidFill>
                  <a:srgbClr val="000000"/>
                </a:solidFill>
                <a:round/>
                <a:headEnd/>
                <a:tailEnd/>
              </a:ln>
            </p:spPr>
            <p:txBody>
              <a:bodyPr/>
              <a:lstStyle/>
              <a:p>
                <a:endParaRPr lang="en-US" sz="2000"/>
              </a:p>
            </p:txBody>
          </p:sp>
          <p:sp>
            <p:nvSpPr>
              <p:cNvPr id="19" name="Line 6"/>
              <p:cNvSpPr>
                <a:spLocks noChangeShapeType="1"/>
              </p:cNvSpPr>
              <p:nvPr/>
            </p:nvSpPr>
            <p:spPr bwMode="auto">
              <a:xfrm>
                <a:off x="4254" y="3204"/>
                <a:ext cx="528" cy="1"/>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20" name="Line 7"/>
              <p:cNvSpPr>
                <a:spLocks noChangeShapeType="1"/>
              </p:cNvSpPr>
              <p:nvPr/>
            </p:nvSpPr>
            <p:spPr bwMode="auto">
              <a:xfrm flipH="1">
                <a:off x="4285" y="3658"/>
                <a:ext cx="201" cy="191"/>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21" name="Line 8"/>
              <p:cNvSpPr>
                <a:spLocks noChangeShapeType="1"/>
              </p:cNvSpPr>
              <p:nvPr/>
            </p:nvSpPr>
            <p:spPr bwMode="auto">
              <a:xfrm>
                <a:off x="4502" y="3664"/>
                <a:ext cx="200" cy="215"/>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grpSp>
        <p:sp>
          <p:nvSpPr>
            <p:cNvPr id="16" name="Rectangle 9"/>
            <p:cNvSpPr>
              <a:spLocks noChangeArrowheads="1"/>
            </p:cNvSpPr>
            <p:nvPr/>
          </p:nvSpPr>
          <p:spPr bwMode="auto">
            <a:xfrm>
              <a:off x="707181" y="5921216"/>
              <a:ext cx="1683001" cy="547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it-IT" altLang="en-US" sz="1600" b="1" dirty="0" smtClean="0">
                  <a:solidFill>
                    <a:srgbClr val="000000"/>
                  </a:solidFill>
                  <a:latin typeface="Arial" panose="020B0604020202020204" pitchFamily="34" charset="0"/>
                </a:rPr>
                <a:t>Old Patient</a:t>
              </a:r>
              <a:endParaRPr lang="it-IT" altLang="en-US" sz="2800" b="1" dirty="0">
                <a:latin typeface="Times New Roman" panose="02020603050405020304" pitchFamily="18" charset="0"/>
              </a:endParaRPr>
            </a:p>
          </p:txBody>
        </p:sp>
      </p:grpSp>
      <p:grpSp>
        <p:nvGrpSpPr>
          <p:cNvPr id="22" name="Group 21"/>
          <p:cNvGrpSpPr/>
          <p:nvPr/>
        </p:nvGrpSpPr>
        <p:grpSpPr>
          <a:xfrm>
            <a:off x="5181600" y="3673258"/>
            <a:ext cx="1163780" cy="1203542"/>
            <a:chOff x="463896" y="3792432"/>
            <a:chExt cx="1804815" cy="2676303"/>
          </a:xfrm>
        </p:grpSpPr>
        <p:grpSp>
          <p:nvGrpSpPr>
            <p:cNvPr id="23" name="Group 9"/>
            <p:cNvGrpSpPr>
              <a:grpSpLocks/>
            </p:cNvGrpSpPr>
            <p:nvPr/>
          </p:nvGrpSpPr>
          <p:grpSpPr bwMode="auto">
            <a:xfrm>
              <a:off x="994177" y="3792432"/>
              <a:ext cx="841316" cy="1990159"/>
              <a:chOff x="4254" y="2630"/>
              <a:chExt cx="528" cy="1249"/>
            </a:xfrm>
          </p:grpSpPr>
          <p:sp>
            <p:nvSpPr>
              <p:cNvPr id="25" name="Line 4"/>
              <p:cNvSpPr>
                <a:spLocks noChangeShapeType="1"/>
              </p:cNvSpPr>
              <p:nvPr/>
            </p:nvSpPr>
            <p:spPr bwMode="auto">
              <a:xfrm>
                <a:off x="4493" y="2917"/>
                <a:ext cx="1" cy="762"/>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26" name="Oval 5"/>
              <p:cNvSpPr>
                <a:spLocks noChangeArrowheads="1"/>
              </p:cNvSpPr>
              <p:nvPr/>
            </p:nvSpPr>
            <p:spPr bwMode="auto">
              <a:xfrm>
                <a:off x="4350" y="2630"/>
                <a:ext cx="303" cy="286"/>
              </a:xfrm>
              <a:prstGeom prst="ellipse">
                <a:avLst/>
              </a:prstGeom>
              <a:solidFill>
                <a:srgbClr val="D3EFC5"/>
              </a:solidFill>
              <a:ln w="39688">
                <a:solidFill>
                  <a:srgbClr val="000000"/>
                </a:solidFill>
                <a:round/>
                <a:headEnd/>
                <a:tailEnd/>
              </a:ln>
            </p:spPr>
            <p:txBody>
              <a:bodyPr/>
              <a:lstStyle/>
              <a:p>
                <a:endParaRPr lang="en-US" sz="2000"/>
              </a:p>
            </p:txBody>
          </p:sp>
          <p:sp>
            <p:nvSpPr>
              <p:cNvPr id="27" name="Line 6"/>
              <p:cNvSpPr>
                <a:spLocks noChangeShapeType="1"/>
              </p:cNvSpPr>
              <p:nvPr/>
            </p:nvSpPr>
            <p:spPr bwMode="auto">
              <a:xfrm>
                <a:off x="4254" y="3204"/>
                <a:ext cx="528" cy="1"/>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28" name="Line 7"/>
              <p:cNvSpPr>
                <a:spLocks noChangeShapeType="1"/>
              </p:cNvSpPr>
              <p:nvPr/>
            </p:nvSpPr>
            <p:spPr bwMode="auto">
              <a:xfrm flipH="1">
                <a:off x="4285" y="3658"/>
                <a:ext cx="201" cy="191"/>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29" name="Line 8"/>
              <p:cNvSpPr>
                <a:spLocks noChangeShapeType="1"/>
              </p:cNvSpPr>
              <p:nvPr/>
            </p:nvSpPr>
            <p:spPr bwMode="auto">
              <a:xfrm>
                <a:off x="4502" y="3664"/>
                <a:ext cx="200" cy="215"/>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grpSp>
        <p:sp>
          <p:nvSpPr>
            <p:cNvPr id="24" name="Rectangle 9"/>
            <p:cNvSpPr>
              <a:spLocks noChangeArrowheads="1"/>
            </p:cNvSpPr>
            <p:nvPr/>
          </p:nvSpPr>
          <p:spPr bwMode="auto">
            <a:xfrm>
              <a:off x="463896" y="5921216"/>
              <a:ext cx="1804815" cy="547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it-IT" altLang="en-US" sz="1600" b="1" dirty="0" smtClean="0">
                  <a:solidFill>
                    <a:srgbClr val="000000"/>
                  </a:solidFill>
                  <a:latin typeface="Arial" panose="020B0604020202020204" pitchFamily="34" charset="0"/>
                </a:rPr>
                <a:t>New Patient</a:t>
              </a:r>
              <a:endParaRPr lang="it-IT" altLang="en-US" sz="2800" b="1" dirty="0">
                <a:latin typeface="Times New Roman" panose="02020603050405020304" pitchFamily="18" charset="0"/>
              </a:endParaRPr>
            </a:p>
          </p:txBody>
        </p:sp>
      </p:grpSp>
      <p:cxnSp>
        <p:nvCxnSpPr>
          <p:cNvPr id="5" name="Elbow Connector 4"/>
          <p:cNvCxnSpPr>
            <a:stCxn id="26" idx="0"/>
            <a:endCxn id="18" idx="0"/>
          </p:cNvCxnSpPr>
          <p:nvPr/>
        </p:nvCxnSpPr>
        <p:spPr>
          <a:xfrm rot="5400000" flipH="1" flipV="1">
            <a:off x="6994794" y="2456296"/>
            <a:ext cx="12700" cy="2433925"/>
          </a:xfrm>
          <a:prstGeom prst="bentConnector3">
            <a:avLst>
              <a:gd name="adj1" fmla="val 2093882"/>
            </a:avLst>
          </a:prstGeom>
          <a:ln w="38100"/>
        </p:spPr>
        <p:style>
          <a:lnRef idx="1">
            <a:schemeClr val="dk1"/>
          </a:lnRef>
          <a:fillRef idx="0">
            <a:schemeClr val="dk1"/>
          </a:fillRef>
          <a:effectRef idx="0">
            <a:schemeClr val="dk1"/>
          </a:effectRef>
          <a:fontRef idx="minor">
            <a:schemeClr val="tx1"/>
          </a:fontRef>
        </p:style>
      </p:cxnSp>
      <p:sp>
        <p:nvSpPr>
          <p:cNvPr id="30" name="Isosceles Triangle 29"/>
          <p:cNvSpPr/>
          <p:nvPr/>
        </p:nvSpPr>
        <p:spPr>
          <a:xfrm>
            <a:off x="6873533" y="2317260"/>
            <a:ext cx="238370" cy="336039"/>
          </a:xfrm>
          <a:prstGeom prst="triangle">
            <a:avLst/>
          </a:prstGeom>
          <a:noFill/>
          <a:ln w="3810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652288" name="Straight Connector 652287"/>
          <p:cNvCxnSpPr>
            <a:stCxn id="30" idx="3"/>
          </p:cNvCxnSpPr>
          <p:nvPr/>
        </p:nvCxnSpPr>
        <p:spPr>
          <a:xfrm flipH="1">
            <a:off x="6976793" y="2653299"/>
            <a:ext cx="15925" cy="775701"/>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15548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22" presetClass="entr" presetSubtype="4" fill="hold" nodeType="afterEffect">
                                  <p:stCondLst>
                                    <p:cond delay="0"/>
                                  </p:stCondLst>
                                  <p:childTnLst>
                                    <p:set>
                                      <p:cBhvr>
                                        <p:cTn id="17" dur="1" fill="hold">
                                          <p:stCondLst>
                                            <p:cond delay="0"/>
                                          </p:stCondLst>
                                        </p:cTn>
                                        <p:tgtEl>
                                          <p:spTgt spid="652288"/>
                                        </p:tgtEl>
                                        <p:attrNameLst>
                                          <p:attrName>style.visibility</p:attrName>
                                        </p:attrNameLst>
                                      </p:cBhvr>
                                      <p:to>
                                        <p:strVal val="visible"/>
                                      </p:to>
                                    </p:set>
                                    <p:animEffect transition="in" filter="wipe(down)">
                                      <p:cBhvr>
                                        <p:cTn id="18" dur="500"/>
                                        <p:tgtEl>
                                          <p:spTgt spid="652288"/>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par>
                          <p:cTn id="23" fill="hold">
                            <p:stCondLst>
                              <p:cond delay="2000"/>
                            </p:stCondLst>
                            <p:childTnLst>
                              <p:par>
                                <p:cTn id="24" presetID="1" presetClass="entr" presetSubtype="0"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relationships: Extend</a:t>
            </a:r>
            <a:endParaRPr lang="en-US" dirty="0"/>
          </a:p>
        </p:txBody>
      </p:sp>
      <p:sp>
        <p:nvSpPr>
          <p:cNvPr id="3" name="Content Placeholder 2"/>
          <p:cNvSpPr>
            <a:spLocks noGrp="1"/>
          </p:cNvSpPr>
          <p:nvPr>
            <p:ph idx="1"/>
          </p:nvPr>
        </p:nvSpPr>
        <p:spPr>
          <a:xfrm>
            <a:off x="628650" y="1216479"/>
            <a:ext cx="8093780" cy="4960484"/>
          </a:xfrm>
        </p:spPr>
        <p:txBody>
          <a:bodyPr>
            <a:normAutofit/>
          </a:bodyPr>
          <a:lstStyle/>
          <a:p>
            <a:pPr>
              <a:spcBef>
                <a:spcPts val="600"/>
              </a:spcBef>
              <a:spcAft>
                <a:spcPts val="600"/>
              </a:spcAft>
            </a:pPr>
            <a:r>
              <a:rPr lang="en-GB" altLang="en-US" sz="2800" dirty="0"/>
              <a:t>Extend</a:t>
            </a:r>
          </a:p>
          <a:p>
            <a:pPr lvl="1">
              <a:spcBef>
                <a:spcPts val="600"/>
              </a:spcBef>
              <a:spcAft>
                <a:spcPts val="600"/>
              </a:spcAft>
            </a:pPr>
            <a:r>
              <a:rPr lang="en-GB" altLang="en-US" sz="2400" dirty="0"/>
              <a:t>Represents the extension of the use case to include optional functionality </a:t>
            </a:r>
          </a:p>
          <a:p>
            <a:pPr lvl="1">
              <a:spcBef>
                <a:spcPts val="600"/>
              </a:spcBef>
              <a:spcAft>
                <a:spcPts val="600"/>
              </a:spcAft>
            </a:pPr>
            <a:r>
              <a:rPr lang="en-GB" altLang="en-US" sz="2400" dirty="0"/>
              <a:t>Arrow is drawn from the extension use case to the base use case</a:t>
            </a:r>
          </a:p>
          <a:p>
            <a:pPr lvl="1">
              <a:spcBef>
                <a:spcPts val="600"/>
              </a:spcBef>
              <a:spcAft>
                <a:spcPts val="600"/>
              </a:spcAft>
            </a:pPr>
            <a:r>
              <a:rPr lang="en-GB" altLang="en-US" sz="2400" dirty="0"/>
              <a:t>Write &lt;&lt; extend &gt;&gt; above arrowhead line</a:t>
            </a:r>
          </a:p>
          <a:p>
            <a:pPr>
              <a:spcAft>
                <a:spcPts val="600"/>
              </a:spcAft>
            </a:pPr>
            <a:endParaRPr lang="en-US" sz="2400" dirty="0"/>
          </a:p>
        </p:txBody>
      </p:sp>
      <p:sp>
        <p:nvSpPr>
          <p:cNvPr id="4" name="Oval 10"/>
          <p:cNvSpPr>
            <a:spLocks noChangeArrowheads="1"/>
          </p:cNvSpPr>
          <p:nvPr/>
        </p:nvSpPr>
        <p:spPr bwMode="auto">
          <a:xfrm>
            <a:off x="6060370" y="4400492"/>
            <a:ext cx="2855030" cy="992067"/>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Rectangle 11"/>
          <p:cNvSpPr>
            <a:spLocks noChangeArrowheads="1"/>
          </p:cNvSpPr>
          <p:nvPr/>
        </p:nvSpPr>
        <p:spPr bwMode="auto">
          <a:xfrm>
            <a:off x="6553200" y="4738513"/>
            <a:ext cx="189795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it-IT" altLang="en-US" dirty="0" smtClean="0">
                <a:solidFill>
                  <a:srgbClr val="000000"/>
                </a:solidFill>
                <a:latin typeface="Arial" panose="020B0604020202020204" pitchFamily="34" charset="0"/>
              </a:rPr>
              <a:t>Make appointment</a:t>
            </a:r>
            <a:endParaRPr lang="it-IT" altLang="en-US" sz="3200" dirty="0">
              <a:latin typeface="Times New Roman" panose="02020603050405020304" pitchFamily="18" charset="0"/>
            </a:endParaRPr>
          </a:p>
        </p:txBody>
      </p:sp>
      <p:cxnSp>
        <p:nvCxnSpPr>
          <p:cNvPr id="6" name="Straight Connector 5"/>
          <p:cNvCxnSpPr>
            <a:endCxn id="10" idx="3"/>
          </p:cNvCxnSpPr>
          <p:nvPr/>
        </p:nvCxnSpPr>
        <p:spPr>
          <a:xfrm>
            <a:off x="3066345" y="4887289"/>
            <a:ext cx="2611900" cy="9237"/>
          </a:xfrm>
          <a:prstGeom prst="line">
            <a:avLst/>
          </a:prstGeom>
          <a:ln w="38100"/>
        </p:spPr>
        <p:style>
          <a:lnRef idx="1">
            <a:schemeClr val="dk1"/>
          </a:lnRef>
          <a:fillRef idx="0">
            <a:schemeClr val="dk1"/>
          </a:fillRef>
          <a:effectRef idx="0">
            <a:schemeClr val="dk1"/>
          </a:effectRef>
          <a:fontRef idx="minor">
            <a:schemeClr val="tx1"/>
          </a:fontRef>
        </p:style>
      </p:cxnSp>
      <p:sp>
        <p:nvSpPr>
          <p:cNvPr id="7" name="Oval 10"/>
          <p:cNvSpPr>
            <a:spLocks noChangeArrowheads="1"/>
          </p:cNvSpPr>
          <p:nvPr/>
        </p:nvSpPr>
        <p:spPr bwMode="auto">
          <a:xfrm>
            <a:off x="358877" y="4400492"/>
            <a:ext cx="2708525" cy="992067"/>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 name="Rectangle 11"/>
          <p:cNvSpPr>
            <a:spLocks noChangeArrowheads="1"/>
          </p:cNvSpPr>
          <p:nvPr/>
        </p:nvSpPr>
        <p:spPr bwMode="auto">
          <a:xfrm>
            <a:off x="740480" y="4701191"/>
            <a:ext cx="194348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0" hangingPunct="0"/>
            <a:r>
              <a:rPr lang="it-IT" altLang="en-US" dirty="0" smtClean="0">
                <a:solidFill>
                  <a:srgbClr val="000000"/>
                </a:solidFill>
                <a:latin typeface="Arial" panose="020B0604020202020204" pitchFamily="34" charset="0"/>
              </a:rPr>
              <a:t>Update patient information</a:t>
            </a:r>
            <a:endParaRPr lang="it-IT" altLang="en-US" sz="3200" dirty="0">
              <a:latin typeface="Times New Roman" panose="02020603050405020304" pitchFamily="18" charset="0"/>
            </a:endParaRPr>
          </a:p>
        </p:txBody>
      </p:sp>
      <p:sp>
        <p:nvSpPr>
          <p:cNvPr id="10" name="Isosceles Triangle 9"/>
          <p:cNvSpPr/>
          <p:nvPr/>
        </p:nvSpPr>
        <p:spPr>
          <a:xfrm rot="5400000">
            <a:off x="5746382" y="4727515"/>
            <a:ext cx="201746" cy="338021"/>
          </a:xfrm>
          <a:prstGeom prst="triangle">
            <a:avLst/>
          </a:prstGeom>
          <a:noFill/>
          <a:ln w="381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ectangle 11"/>
          <p:cNvSpPr>
            <a:spLocks noChangeArrowheads="1"/>
          </p:cNvSpPr>
          <p:nvPr/>
        </p:nvSpPr>
        <p:spPr bwMode="auto">
          <a:xfrm>
            <a:off x="3585170" y="4505391"/>
            <a:ext cx="12311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it-IT" altLang="en-US" i="1" dirty="0" smtClean="0">
                <a:solidFill>
                  <a:srgbClr val="000000"/>
                </a:solidFill>
                <a:latin typeface="Arial" panose="020B0604020202020204" pitchFamily="34" charset="0"/>
              </a:rPr>
              <a:t>&lt;&lt;extend&gt;&gt;</a:t>
            </a:r>
            <a:endParaRPr lang="it-IT" altLang="en-US" sz="3200" i="1" dirty="0">
              <a:latin typeface="Times New Roman" panose="02020603050405020304" pitchFamily="18" charset="0"/>
            </a:endParaRPr>
          </a:p>
        </p:txBody>
      </p:sp>
    </p:spTree>
    <p:extLst>
      <p:ext uri="{BB962C8B-B14F-4D97-AF65-F5344CB8AC3E}">
        <p14:creationId xmlns:p14="http://schemas.microsoft.com/office/powerpoint/2010/main" val="1266715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0"/>
                            </p:stCondLst>
                            <p:childTnLst>
                              <p:par>
                                <p:cTn id="11" presetID="22" presetClass="entr" presetSubtype="8"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par>
                          <p:cTn id="23" fill="hold">
                            <p:stCondLst>
                              <p:cond delay="500"/>
                            </p:stCondLst>
                            <p:childTnLst>
                              <p:par>
                                <p:cTn id="24" presetID="1" presetClass="entr" presetSubtype="0"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animBg="1"/>
      <p:bldP spid="8" grpId="0"/>
      <p:bldP spid="10" grpId="0" animBg="1"/>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relationship: Include</a:t>
            </a:r>
            <a:endParaRPr lang="en-US" dirty="0"/>
          </a:p>
        </p:txBody>
      </p:sp>
      <p:sp>
        <p:nvSpPr>
          <p:cNvPr id="3" name="Content Placeholder 2"/>
          <p:cNvSpPr>
            <a:spLocks noGrp="1"/>
          </p:cNvSpPr>
          <p:nvPr>
            <p:ph idx="1"/>
          </p:nvPr>
        </p:nvSpPr>
        <p:spPr>
          <a:xfrm>
            <a:off x="628650" y="1216479"/>
            <a:ext cx="8210550" cy="2745921"/>
          </a:xfrm>
        </p:spPr>
        <p:txBody>
          <a:bodyPr>
            <a:normAutofit/>
          </a:bodyPr>
          <a:lstStyle/>
          <a:p>
            <a:pPr>
              <a:spcBef>
                <a:spcPts val="600"/>
              </a:spcBef>
              <a:spcAft>
                <a:spcPts val="600"/>
              </a:spcAft>
            </a:pPr>
            <a:r>
              <a:rPr lang="en-GB" altLang="en-US" sz="3200" dirty="0"/>
              <a:t>Include</a:t>
            </a:r>
          </a:p>
          <a:p>
            <a:pPr lvl="1">
              <a:spcBef>
                <a:spcPts val="600"/>
              </a:spcBef>
              <a:spcAft>
                <a:spcPts val="600"/>
              </a:spcAft>
            </a:pPr>
            <a:r>
              <a:rPr lang="en-GB" altLang="en-US" sz="2400" dirty="0"/>
              <a:t>Represents the inclusion of the functionality of one use case within another </a:t>
            </a:r>
          </a:p>
          <a:p>
            <a:pPr lvl="1">
              <a:spcBef>
                <a:spcPts val="600"/>
              </a:spcBef>
              <a:spcAft>
                <a:spcPts val="600"/>
              </a:spcAft>
            </a:pPr>
            <a:r>
              <a:rPr lang="en-GB" altLang="en-US" sz="2400" dirty="0"/>
              <a:t>Arrow is drawn from the base use case to the used use case</a:t>
            </a:r>
          </a:p>
          <a:p>
            <a:pPr lvl="1">
              <a:spcBef>
                <a:spcPts val="600"/>
              </a:spcBef>
              <a:spcAft>
                <a:spcPts val="600"/>
              </a:spcAft>
            </a:pPr>
            <a:r>
              <a:rPr lang="en-GB" altLang="en-US" sz="2400" dirty="0"/>
              <a:t>Write &lt;&lt; include &gt;&gt; above arrowhead line</a:t>
            </a:r>
          </a:p>
          <a:p>
            <a:pPr lvl="1">
              <a:spcBef>
                <a:spcPts val="600"/>
              </a:spcBef>
              <a:spcAft>
                <a:spcPts val="600"/>
              </a:spcAft>
            </a:pPr>
            <a:endParaRPr lang="en-GB" altLang="en-US" sz="1100" dirty="0"/>
          </a:p>
          <a:p>
            <a:pPr>
              <a:spcAft>
                <a:spcPts val="600"/>
              </a:spcAft>
            </a:pPr>
            <a:endParaRPr lang="en-US" sz="2800" dirty="0"/>
          </a:p>
        </p:txBody>
      </p:sp>
      <p:sp>
        <p:nvSpPr>
          <p:cNvPr id="4" name="Oval 10"/>
          <p:cNvSpPr>
            <a:spLocks noChangeArrowheads="1"/>
          </p:cNvSpPr>
          <p:nvPr/>
        </p:nvSpPr>
        <p:spPr bwMode="auto">
          <a:xfrm>
            <a:off x="6060370" y="4400492"/>
            <a:ext cx="2855030" cy="992067"/>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Rectangle 11"/>
          <p:cNvSpPr>
            <a:spLocks noChangeArrowheads="1"/>
          </p:cNvSpPr>
          <p:nvPr/>
        </p:nvSpPr>
        <p:spPr bwMode="auto">
          <a:xfrm>
            <a:off x="6553200" y="4738513"/>
            <a:ext cx="18210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it-IT" altLang="en-US" dirty="0" smtClean="0">
                <a:solidFill>
                  <a:srgbClr val="000000"/>
                </a:solidFill>
                <a:latin typeface="Arial" panose="020B0604020202020204" pitchFamily="34" charset="0"/>
              </a:rPr>
              <a:t>Manage schedule</a:t>
            </a:r>
            <a:endParaRPr lang="it-IT" altLang="en-US" sz="3200" dirty="0">
              <a:latin typeface="Times New Roman" panose="02020603050405020304" pitchFamily="18" charset="0"/>
            </a:endParaRPr>
          </a:p>
        </p:txBody>
      </p:sp>
      <p:cxnSp>
        <p:nvCxnSpPr>
          <p:cNvPr id="6" name="Straight Connector 5"/>
          <p:cNvCxnSpPr>
            <a:endCxn id="9" idx="3"/>
          </p:cNvCxnSpPr>
          <p:nvPr/>
        </p:nvCxnSpPr>
        <p:spPr>
          <a:xfrm>
            <a:off x="3066345" y="4887289"/>
            <a:ext cx="2611900" cy="9237"/>
          </a:xfrm>
          <a:prstGeom prst="line">
            <a:avLst/>
          </a:prstGeom>
          <a:ln w="38100"/>
        </p:spPr>
        <p:style>
          <a:lnRef idx="1">
            <a:schemeClr val="dk1"/>
          </a:lnRef>
          <a:fillRef idx="0">
            <a:schemeClr val="dk1"/>
          </a:fillRef>
          <a:effectRef idx="0">
            <a:schemeClr val="dk1"/>
          </a:effectRef>
          <a:fontRef idx="minor">
            <a:schemeClr val="tx1"/>
          </a:fontRef>
        </p:style>
      </p:cxnSp>
      <p:sp>
        <p:nvSpPr>
          <p:cNvPr id="7" name="Oval 10"/>
          <p:cNvSpPr>
            <a:spLocks noChangeArrowheads="1"/>
          </p:cNvSpPr>
          <p:nvPr/>
        </p:nvSpPr>
        <p:spPr bwMode="auto">
          <a:xfrm>
            <a:off x="358877" y="4400492"/>
            <a:ext cx="2708525" cy="992067"/>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 name="Rectangle 11"/>
          <p:cNvSpPr>
            <a:spLocks noChangeArrowheads="1"/>
          </p:cNvSpPr>
          <p:nvPr/>
        </p:nvSpPr>
        <p:spPr bwMode="auto">
          <a:xfrm>
            <a:off x="740480" y="4701191"/>
            <a:ext cx="194348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0" hangingPunct="0"/>
            <a:r>
              <a:rPr lang="it-IT" altLang="en-US" dirty="0" smtClean="0">
                <a:solidFill>
                  <a:srgbClr val="000000"/>
                </a:solidFill>
                <a:latin typeface="Arial" panose="020B0604020202020204" pitchFamily="34" charset="0"/>
              </a:rPr>
              <a:t>Record availability</a:t>
            </a:r>
            <a:endParaRPr lang="it-IT" altLang="en-US" sz="3200" dirty="0">
              <a:latin typeface="Times New Roman" panose="02020603050405020304" pitchFamily="18" charset="0"/>
            </a:endParaRPr>
          </a:p>
        </p:txBody>
      </p:sp>
      <p:sp>
        <p:nvSpPr>
          <p:cNvPr id="9" name="Isosceles Triangle 8"/>
          <p:cNvSpPr/>
          <p:nvPr/>
        </p:nvSpPr>
        <p:spPr>
          <a:xfrm rot="5400000">
            <a:off x="5746382" y="4727515"/>
            <a:ext cx="201746" cy="338021"/>
          </a:xfrm>
          <a:prstGeom prst="triangle">
            <a:avLst/>
          </a:prstGeom>
          <a:noFill/>
          <a:ln w="381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9"/>
          <p:cNvSpPr>
            <a:spLocks noChangeArrowheads="1"/>
          </p:cNvSpPr>
          <p:nvPr/>
        </p:nvSpPr>
        <p:spPr bwMode="auto">
          <a:xfrm>
            <a:off x="3585170" y="4505391"/>
            <a:ext cx="12695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it-IT" altLang="en-US" i="1" dirty="0" smtClean="0">
                <a:solidFill>
                  <a:srgbClr val="000000"/>
                </a:solidFill>
                <a:latin typeface="Arial" panose="020B0604020202020204" pitchFamily="34" charset="0"/>
              </a:rPr>
              <a:t>&lt;&lt;include&gt;&gt;</a:t>
            </a:r>
            <a:endParaRPr lang="it-IT" altLang="en-US" sz="3200" i="1" dirty="0">
              <a:latin typeface="Times New Roman" panose="02020603050405020304" pitchFamily="18" charset="0"/>
            </a:endParaRPr>
          </a:p>
        </p:txBody>
      </p:sp>
    </p:spTree>
    <p:extLst>
      <p:ext uri="{BB962C8B-B14F-4D97-AF65-F5344CB8AC3E}">
        <p14:creationId xmlns:p14="http://schemas.microsoft.com/office/powerpoint/2010/main" val="4182183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0"/>
                            </p:stCondLst>
                            <p:childTnLst>
                              <p:par>
                                <p:cTn id="11" presetID="22" presetClass="entr" presetSubtype="8"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par>
                          <p:cTn id="23" fill="hold">
                            <p:stCondLst>
                              <p:cond delay="500"/>
                            </p:stCondLst>
                            <p:childTnLst>
                              <p:par>
                                <p:cTn id="24" presetID="1" presetClass="entr" presetSubtype="0"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animBg="1"/>
      <p:bldP spid="8" grpId="0"/>
      <p:bldP spid="9" grpId="0" animBg="1"/>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with relationships</a:t>
            </a:r>
            <a:endParaRPr lang="en-US" dirty="0"/>
          </a:p>
        </p:txBody>
      </p:sp>
      <p:pic>
        <p:nvPicPr>
          <p:cNvPr id="4" name="Picture 3" descr="06-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949" y="1273129"/>
            <a:ext cx="8378105" cy="5280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43583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editors</a:t>
            </a:r>
            <a:endParaRPr lang="en-US" dirty="0"/>
          </a:p>
        </p:txBody>
      </p:sp>
      <p:sp>
        <p:nvSpPr>
          <p:cNvPr id="3" name="Content Placeholder 2"/>
          <p:cNvSpPr>
            <a:spLocks noGrp="1"/>
          </p:cNvSpPr>
          <p:nvPr>
            <p:ph idx="1"/>
          </p:nvPr>
        </p:nvSpPr>
        <p:spPr/>
        <p:txBody>
          <a:bodyPr/>
          <a:lstStyle/>
          <a:p>
            <a:r>
              <a:rPr lang="en-US" dirty="0" smtClean="0"/>
              <a:t>Rational Rose (commercial): </a:t>
            </a:r>
            <a:r>
              <a:rPr lang="en-US" dirty="0">
                <a:hlinkClick r:id="rId2"/>
              </a:rPr>
              <a:t>http://</a:t>
            </a:r>
            <a:r>
              <a:rPr lang="en-US" dirty="0" smtClean="0">
                <a:hlinkClick r:id="rId2"/>
              </a:rPr>
              <a:t>www-03.ibm.com/software/products/en/ratirosefami</a:t>
            </a:r>
            <a:r>
              <a:rPr lang="en-US" dirty="0" smtClean="0"/>
              <a:t> </a:t>
            </a:r>
          </a:p>
          <a:p>
            <a:endParaRPr lang="en-US" dirty="0"/>
          </a:p>
          <a:p>
            <a:r>
              <a:rPr lang="en-US" dirty="0" err="1" smtClean="0"/>
              <a:t>ArgoUML</a:t>
            </a:r>
            <a:r>
              <a:rPr lang="en-US" dirty="0"/>
              <a:t>:</a:t>
            </a:r>
            <a:r>
              <a:rPr lang="en-US" dirty="0" smtClean="0"/>
              <a:t> </a:t>
            </a:r>
            <a:r>
              <a:rPr lang="en-US" dirty="0">
                <a:hlinkClick r:id="rId3"/>
              </a:rPr>
              <a:t>http://argouml.tigris.org</a:t>
            </a:r>
            <a:r>
              <a:rPr lang="en-US" dirty="0" smtClean="0">
                <a:hlinkClick r:id="rId3"/>
              </a:rPr>
              <a:t>/</a:t>
            </a:r>
            <a:r>
              <a:rPr lang="en-US" dirty="0" smtClean="0"/>
              <a:t> </a:t>
            </a:r>
          </a:p>
          <a:p>
            <a:endParaRPr lang="en-US" dirty="0"/>
          </a:p>
          <a:p>
            <a:r>
              <a:rPr lang="en-US" dirty="0" smtClean="0"/>
              <a:t>Violet: </a:t>
            </a:r>
            <a:r>
              <a:rPr lang="en-US" dirty="0">
                <a:hlinkClick r:id="rId4"/>
              </a:rPr>
              <a:t>http://</a:t>
            </a:r>
            <a:r>
              <a:rPr lang="en-US" dirty="0" smtClean="0">
                <a:hlinkClick r:id="rId4"/>
              </a:rPr>
              <a:t>alexdp.free.fr/violetumleditor/page.php</a:t>
            </a:r>
            <a:r>
              <a:rPr lang="en-US" dirty="0" smtClean="0"/>
              <a:t> </a:t>
            </a:r>
          </a:p>
          <a:p>
            <a:endParaRPr lang="en-US" dirty="0"/>
          </a:p>
          <a:p>
            <a:r>
              <a:rPr lang="en-US" dirty="0" smtClean="0"/>
              <a:t>Visual </a:t>
            </a:r>
            <a:r>
              <a:rPr lang="en-US" dirty="0" err="1" smtClean="0"/>
              <a:t>Pardigm</a:t>
            </a:r>
            <a:r>
              <a:rPr lang="en-US" dirty="0" smtClean="0"/>
              <a:t> </a:t>
            </a:r>
            <a:r>
              <a:rPr lang="en-US" dirty="0"/>
              <a:t>(commercial)</a:t>
            </a:r>
            <a:r>
              <a:rPr lang="en-US" dirty="0" smtClean="0"/>
              <a:t>: </a:t>
            </a:r>
            <a:r>
              <a:rPr lang="en-US" dirty="0">
                <a:hlinkClick r:id="rId5"/>
              </a:rPr>
              <a:t>http://www.visual-paradigm.com/solution/freeumltool</a:t>
            </a:r>
            <a:r>
              <a:rPr lang="en-US" dirty="0" smtClean="0">
                <a:hlinkClick r:id="rId5"/>
              </a:rPr>
              <a:t>/</a:t>
            </a:r>
            <a:r>
              <a:rPr lang="en-US" dirty="0" smtClean="0"/>
              <a:t> </a:t>
            </a:r>
          </a:p>
          <a:p>
            <a:endParaRPr lang="en-US" dirty="0"/>
          </a:p>
          <a:p>
            <a:r>
              <a:rPr lang="en-US" dirty="0" err="1" smtClean="0"/>
              <a:t>StarUML</a:t>
            </a:r>
            <a:r>
              <a:rPr lang="en-US" dirty="0"/>
              <a:t>: </a:t>
            </a:r>
            <a:r>
              <a:rPr lang="en-US" dirty="0">
                <a:hlinkClick r:id="rId6"/>
              </a:rPr>
              <a:t>http://staruml.io</a:t>
            </a:r>
            <a:r>
              <a:rPr lang="en-US" dirty="0" smtClean="0">
                <a:hlinkClick r:id="rId6"/>
              </a:rPr>
              <a:t>/</a:t>
            </a:r>
            <a:r>
              <a:rPr lang="en-US" dirty="0" smtClean="0"/>
              <a:t> </a:t>
            </a:r>
          </a:p>
          <a:p>
            <a:endParaRPr lang="en-US" dirty="0"/>
          </a:p>
          <a:p>
            <a:r>
              <a:rPr lang="en-US" dirty="0" err="1" smtClean="0"/>
              <a:t>UMLet</a:t>
            </a:r>
            <a:r>
              <a:rPr lang="en-US" dirty="0"/>
              <a:t>: </a:t>
            </a:r>
            <a:r>
              <a:rPr lang="en-US" dirty="0">
                <a:hlinkClick r:id="rId7"/>
              </a:rPr>
              <a:t>http://www.umlet.com</a:t>
            </a:r>
            <a:r>
              <a:rPr lang="en-US" dirty="0" smtClean="0">
                <a:hlinkClick r:id="rId7"/>
              </a:rPr>
              <a:t>/</a:t>
            </a:r>
            <a:r>
              <a:rPr lang="en-US" dirty="0" smtClean="0"/>
              <a:t> </a:t>
            </a:r>
            <a:endParaRPr lang="en-US" dirty="0"/>
          </a:p>
          <a:p>
            <a:endParaRPr lang="en-US" dirty="0"/>
          </a:p>
        </p:txBody>
      </p:sp>
    </p:spTree>
    <p:extLst>
      <p:ext uri="{BB962C8B-B14F-4D97-AF65-F5344CB8AC3E}">
        <p14:creationId xmlns:p14="http://schemas.microsoft.com/office/powerpoint/2010/main" val="252067447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Lecture2-Lifecyc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Lecture2-Lifecycle</Template>
  <TotalTime>7622</TotalTime>
  <Words>968</Words>
  <Application>Microsoft Office PowerPoint</Application>
  <PresentationFormat>On-screen Show (4:3)</PresentationFormat>
  <Paragraphs>138</Paragraphs>
  <Slides>16</Slides>
  <Notes>8</Notes>
  <HiddenSlides>0</HiddenSlides>
  <MMClips>0</MMClips>
  <ScaleCrop>false</ScaleCrop>
  <HeadingPairs>
    <vt:vector size="4" baseType="variant">
      <vt:variant>
        <vt:lpstr>Theme</vt:lpstr>
      </vt:variant>
      <vt:variant>
        <vt:i4>2</vt:i4>
      </vt:variant>
      <vt:variant>
        <vt:lpstr>Slide Titles</vt:lpstr>
      </vt:variant>
      <vt:variant>
        <vt:i4>16</vt:i4>
      </vt:variant>
    </vt:vector>
  </HeadingPairs>
  <TitlesOfParts>
    <vt:vector size="18" baseType="lpstr">
      <vt:lpstr>Lecture2-Lifecycle</vt:lpstr>
      <vt:lpstr>HDOfficeLightV0</vt:lpstr>
      <vt:lpstr>What is UML?</vt:lpstr>
      <vt:lpstr>UML diagrams</vt:lpstr>
      <vt:lpstr>Use Cases</vt:lpstr>
      <vt:lpstr>Actors and stakeholders</vt:lpstr>
      <vt:lpstr>How to identify actors?</vt:lpstr>
      <vt:lpstr>Use Case Diagrams</vt:lpstr>
      <vt:lpstr>Actors</vt:lpstr>
      <vt:lpstr>Use Cases</vt:lpstr>
      <vt:lpstr>Use Case  - Relationships</vt:lpstr>
      <vt:lpstr>Use Case  - Relationships</vt:lpstr>
      <vt:lpstr>Sample use case diagram: Hospital</vt:lpstr>
      <vt:lpstr>Use Case relationship: Generalization</vt:lpstr>
      <vt:lpstr>Use case relationships: Extend</vt:lpstr>
      <vt:lpstr>Use case relationship: Include</vt:lpstr>
      <vt:lpstr>Use case with relationships</vt:lpstr>
      <vt:lpstr>UML editors</vt:lpstr>
    </vt:vector>
  </TitlesOfParts>
  <Company>University of Washington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CS435</dc:title>
  <dc:creator>Amiangshu Bosu; Marty Stepp</dc:creator>
  <cp:keywords/>
  <dc:description>Amiangshu Bosu, SIU Carbondale</dc:description>
  <cp:lastModifiedBy>Windows User</cp:lastModifiedBy>
  <cp:revision>963</cp:revision>
  <dcterms:created xsi:type="dcterms:W3CDTF">2008-06-28T20:57:21Z</dcterms:created>
  <dcterms:modified xsi:type="dcterms:W3CDTF">2020-03-03T17:39:03Z</dcterms:modified>
</cp:coreProperties>
</file>