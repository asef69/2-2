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3" r:id="rId1"/>
    <p:sldMasterId id="2147483708" r:id="rId2"/>
  </p:sldMasterIdLst>
  <p:notesMasterIdLst>
    <p:notesMasterId r:id="rId11"/>
  </p:notesMasterIdLst>
  <p:sldIdLst>
    <p:sldId id="355" r:id="rId3"/>
    <p:sldId id="356" r:id="rId4"/>
    <p:sldId id="357" r:id="rId5"/>
    <p:sldId id="358" r:id="rId6"/>
    <p:sldId id="359" r:id="rId7"/>
    <p:sldId id="360" r:id="rId8"/>
    <p:sldId id="361" r:id="rId9"/>
    <p:sldId id="362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0033CC"/>
    <a:srgbClr val="008000"/>
    <a:srgbClr val="FCD4D4"/>
    <a:srgbClr val="E1F2F3"/>
    <a:srgbClr val="FFFFC0"/>
    <a:srgbClr val="FFFF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3" autoAdjust="0"/>
    <p:restoredTop sz="88785" autoAdjust="0"/>
  </p:normalViewPr>
  <p:slideViewPr>
    <p:cSldViewPr>
      <p:cViewPr varScale="1">
        <p:scale>
          <a:sx n="61" d="100"/>
          <a:sy n="61" d="100"/>
        </p:scale>
        <p:origin x="-1460" y="-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E1CAB84F-B75A-4984-8F3C-AF33274BE4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8181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B80F6-D8F9-4861-A47D-FB5C54C59CB3}" type="datetime1">
              <a:rPr lang="en-US" smtClean="0"/>
              <a:pPr/>
              <a:t>12/2/2018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878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2033"/>
            <a:ext cx="7886700" cy="859516"/>
          </a:xfrm>
        </p:spPr>
        <p:txBody>
          <a:bodyPr/>
          <a:lstStyle>
            <a:lvl1pPr algn="ctr">
              <a:defRPr>
                <a:solidFill>
                  <a:srgbClr val="0033CC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6479"/>
            <a:ext cx="7886700" cy="4960484"/>
          </a:xfrm>
        </p:spPr>
        <p:txBody>
          <a:bodyPr/>
          <a:lstStyle>
            <a:lvl1pPr>
              <a:defRPr sz="2800" baseline="0"/>
            </a:lvl1pPr>
            <a:lvl2pPr marL="514350" indent="-171450">
              <a:buFont typeface="Calibri" panose="020F0502020204030204" pitchFamily="34" charset="0"/>
              <a:buChar char="ꟷ"/>
              <a:defRPr sz="2400" baseline="0"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0078F-E661-48DF-8D03-D0A50507C023}" type="datetime1">
              <a:rPr lang="en-US" smtClean="0"/>
              <a:pPr/>
              <a:t>12/2/2018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404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83A8-167A-4325-AC58-C125C20F04E5}" type="datetime1">
              <a:rPr lang="en-US" smtClean="0"/>
              <a:pPr/>
              <a:t>12/2/2018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606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9C363-00E5-4873-92AC-6FCDF94FB804}" type="datetime1">
              <a:rPr lang="en-US" smtClean="0"/>
              <a:pPr/>
              <a:t>12/2/2018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176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00710-5570-4B4A-AE9F-426CB1D545EA}" type="datetime1">
              <a:rPr lang="en-US" smtClean="0"/>
              <a:pPr/>
              <a:t>12/2/2018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428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CFBE-BA8E-42DA-94C4-303826948E42}" type="datetime1">
              <a:rPr lang="en-US" smtClean="0"/>
              <a:pPr/>
              <a:t>12/2/2018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026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0F559-AD7B-4E56-ABF5-FF34E2DBC8A2}" type="datetime1">
              <a:rPr lang="en-US" smtClean="0"/>
              <a:pPr/>
              <a:t>12/2/2018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49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64ED-635C-40CA-8BE7-BE2C04A36912}" type="datetime1">
              <a:rPr lang="en-US" smtClean="0"/>
              <a:pPr/>
              <a:t>12/2/2018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907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4CA45-0C1D-4CDA-AED5-977A475009FE}" type="datetime1">
              <a:rPr lang="en-US" smtClean="0"/>
              <a:pPr/>
              <a:t>12/2/2018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870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6BA6-EDF0-41F8-A44F-28D36A9FF955}" type="datetime1">
              <a:rPr lang="en-US" smtClean="0"/>
              <a:pPr/>
              <a:t>12/2/2018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344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F9962-6CD1-4735-8959-BF829C68AEB8}" type="datetime1">
              <a:rPr lang="en-US" smtClean="0"/>
              <a:pPr/>
              <a:t>12/2/2018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009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23CF-EEE8-42B3-B379-29CA3A9AD32E}" type="datetime1">
              <a:rPr lang="en-US" smtClean="0"/>
              <a:pPr/>
              <a:t>12/2/2018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690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94CBB-8DC2-4B02-880A-5B1B61C50280}" type="datetime1">
              <a:rPr lang="en-US" smtClean="0"/>
              <a:pPr/>
              <a:t>12/2/2018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159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60FF-FF94-4CBA-8E0A-430FBA53ACAB}" type="datetime1">
              <a:rPr lang="en-US" smtClean="0"/>
              <a:pPr/>
              <a:t>12/2/2018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36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A2FF-3C94-4AD5-ADB2-25FC35199BC0}" type="datetime1">
              <a:rPr lang="en-US" smtClean="0"/>
              <a:pPr/>
              <a:t>12/2/2018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8485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118A-8C73-4274-903B-9E0E12B37512}" type="datetime1">
              <a:rPr lang="en-US" smtClean="0"/>
              <a:pPr/>
              <a:t>12/2/2018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8469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F233-675C-4E2D-ADE1-062026707D88}" type="datetime1">
              <a:rPr lang="en-US" smtClean="0"/>
              <a:pPr/>
              <a:t>12/2/2018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622403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5D0C5-1A3B-4AF9-B1AF-82EC1777D8DE}" type="datetime1">
              <a:rPr lang="en-US" smtClean="0"/>
              <a:pPr/>
              <a:t>12/2/2018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5246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B099-D8CB-4603-B933-8D2B27420331}" type="datetime1">
              <a:rPr lang="en-US" smtClean="0"/>
              <a:pPr/>
              <a:t>12/2/2018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90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F949-74B6-4108-8BF4-F11AB8FB4A07}" type="datetime1">
              <a:rPr lang="en-US" smtClean="0"/>
              <a:pPr/>
              <a:t>12/2/2018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5771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ABA2-14F6-4CC3-9DAC-BBBB0D99BD97}" type="datetime1">
              <a:rPr lang="en-US" smtClean="0"/>
              <a:pPr/>
              <a:t>12/2/2018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2558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C58A-6D66-4D15-BB59-04E72387B4C0}" type="datetime1">
              <a:rPr lang="en-US" smtClean="0"/>
              <a:pPr/>
              <a:t>12/2/2018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732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8349D-D56D-48A9-A584-3FF7CB447BAA}" type="datetime1">
              <a:rPr lang="en-US" smtClean="0"/>
              <a:pPr/>
              <a:t>12/2/2018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0" y="6692348"/>
            <a:ext cx="9144001" cy="165652"/>
          </a:xfrm>
          <a:prstGeom prst="rect">
            <a:avLst/>
          </a:prstGeom>
          <a:solidFill>
            <a:srgbClr val="66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9pPr>
          </a:lstStyle>
          <a:p>
            <a:endParaRPr lang="en-US" kern="0" dirty="0"/>
          </a:p>
        </p:txBody>
      </p:sp>
      <p:sp>
        <p:nvSpPr>
          <p:cNvPr id="9" name="Slide Number Placeholder 3"/>
          <p:cNvSpPr txBox="1">
            <a:spLocks noGrp="1"/>
          </p:cNvSpPr>
          <p:nvPr userDrawn="1"/>
        </p:nvSpPr>
        <p:spPr bwMode="auto">
          <a:xfrm>
            <a:off x="8305800" y="6262916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500"/>
              </a:spcBef>
            </a:pPr>
            <a:fld id="{F7051C5F-0994-4C42-8BDD-F9DE4AC27786}" type="slidenum">
              <a:rPr lang="en-US" altLang="en-US" sz="1200">
                <a:solidFill>
                  <a:srgbClr val="424242"/>
                </a:solidFill>
                <a:latin typeface="+mn-lt"/>
              </a:rPr>
              <a:pPr eaLnBrk="1" hangingPunct="1">
                <a:spcBef>
                  <a:spcPts val="500"/>
                </a:spcBef>
              </a:pPr>
              <a:t>‹#›</a:t>
            </a:fld>
            <a:endParaRPr lang="en-US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3765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14700"/>
            <a:ext cx="7886700" cy="899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118507"/>
            <a:ext cx="7886700" cy="5061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E797AAD-96CD-4A47-B0D1-61BA85EB678F}" type="datetime1">
              <a:rPr lang="en-US" smtClean="0"/>
              <a:pPr/>
              <a:t>12/2/2018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77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rgbClr val="0033CC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eclemma.org/" TargetMode="External"/><Relationship Id="rId2" Type="http://schemas.openxmlformats.org/officeDocument/2006/relationships/hyperlink" Target="http://works.dgic.co.jp/djunit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tlassian.com/software/clover/over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 Coverage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Code </a:t>
            </a:r>
            <a:r>
              <a:rPr lang="en-US" sz="2400" b="1" dirty="0"/>
              <a:t>coverage</a:t>
            </a:r>
            <a:r>
              <a:rPr lang="en-US" sz="2400" dirty="0"/>
              <a:t> is a measure used to describe the degree to which the source code of a program is tested by a particular test suite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dirty="0"/>
              <a:t> </a:t>
            </a:r>
            <a:r>
              <a:rPr lang="en-US" sz="2400" dirty="0" smtClean="0"/>
              <a:t>High </a:t>
            </a:r>
            <a:r>
              <a:rPr lang="en-US" sz="2400" dirty="0"/>
              <a:t>code coverage </a:t>
            </a:r>
            <a:r>
              <a:rPr lang="en-US" sz="2400" dirty="0" smtClean="0"/>
              <a:t>means</a:t>
            </a:r>
          </a:p>
          <a:p>
            <a:pPr lvl="1"/>
            <a:r>
              <a:rPr lang="en-US" sz="2000" dirty="0" smtClean="0"/>
              <a:t> </a:t>
            </a:r>
            <a:r>
              <a:rPr lang="en-US" sz="2000" dirty="0"/>
              <a:t>more thoroughly tested </a:t>
            </a:r>
            <a:endParaRPr lang="en-US" sz="2000" dirty="0" smtClean="0"/>
          </a:p>
          <a:p>
            <a:pPr lvl="1"/>
            <a:r>
              <a:rPr lang="en-US" sz="2000" dirty="0" smtClean="0"/>
              <a:t>has </a:t>
            </a:r>
            <a:r>
              <a:rPr lang="en-US" sz="2000" dirty="0"/>
              <a:t>a lower chance of containing software bugs</a:t>
            </a:r>
          </a:p>
        </p:txBody>
      </p:sp>
      <p:pic>
        <p:nvPicPr>
          <p:cNvPr id="5122" name="Picture 2" descr="http://bulk-sms.me/images/SMSInfo/network-cover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3323093"/>
            <a:ext cx="2324100" cy="309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8903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Coverage criteria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Method coverage</a:t>
            </a:r>
            <a:r>
              <a:rPr lang="en-US" dirty="0"/>
              <a:t>: Have all methods been called?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>
                <a:solidFill>
                  <a:srgbClr val="C00000"/>
                </a:solidFill>
              </a:rPr>
              <a:t>Decision/Branch </a:t>
            </a:r>
            <a:r>
              <a:rPr lang="en-US" dirty="0">
                <a:solidFill>
                  <a:srgbClr val="C00000"/>
                </a:solidFill>
              </a:rPr>
              <a:t>Coverage: </a:t>
            </a:r>
            <a:r>
              <a:rPr lang="en-US" dirty="0"/>
              <a:t>Have all decisions been executed in both the true and false paths?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>
                <a:solidFill>
                  <a:srgbClr val="C00000"/>
                </a:solidFill>
              </a:rPr>
              <a:t>Condition </a:t>
            </a:r>
            <a:r>
              <a:rPr lang="en-US" dirty="0">
                <a:solidFill>
                  <a:srgbClr val="C00000"/>
                </a:solidFill>
              </a:rPr>
              <a:t>Coverage: </a:t>
            </a:r>
            <a:r>
              <a:rPr lang="en-US" dirty="0"/>
              <a:t>Have all conditionals been executed in both the true and false paths</a:t>
            </a:r>
            <a:r>
              <a:rPr lang="en-US" dirty="0" smtClean="0"/>
              <a:t>?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Statement coverage:</a:t>
            </a:r>
            <a:r>
              <a:rPr lang="en-US" dirty="0"/>
              <a:t> Have all statements in a method been executed?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3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 Coverage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599" y="1005761"/>
            <a:ext cx="6248401" cy="486163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getTriangle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b,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c) {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 == b &amp;&amp; b == c) 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success();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return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"Equilateral";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 == b || b == c || c 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==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"Isosceles";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"Scalene";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 success()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(“Got it!”);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1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62600" y="3436580"/>
            <a:ext cx="33554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b="1" dirty="0" err="1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testCoverage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getTriangle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(1,1,2);</a:t>
            </a:r>
          </a:p>
          <a:p>
            <a:r>
              <a:rPr lang="en-US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getTriangle</a:t>
            </a:r>
            <a:r>
              <a:rPr lang="en-US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(2,2,2);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200" y="4515977"/>
            <a:ext cx="3505200" cy="1346738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355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7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Condition Coverage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599" y="1005761"/>
            <a:ext cx="6248401" cy="486163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getTriangle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b,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c) {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 == b &amp;&amp; b == c) 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success();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return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"Equilateral";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 == b || b == c || c 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==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"Isosceles";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"Scalene";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 success()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(“Got it!”);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1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62600" y="3352800"/>
            <a:ext cx="335540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b="1" dirty="0" err="1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testCoverage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getTriangle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(2,2,3);</a:t>
            </a:r>
          </a:p>
          <a:p>
            <a:r>
              <a:rPr lang="en-US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getTriangle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(2,2,2);</a:t>
            </a:r>
          </a:p>
          <a:p>
            <a:r>
              <a:rPr lang="en-US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getTriangle</a:t>
            </a:r>
            <a:r>
              <a:rPr lang="en-US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(1,2,2);</a:t>
            </a:r>
          </a:p>
          <a:p>
            <a:r>
              <a:rPr lang="en-US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getTriangle</a:t>
            </a:r>
            <a:r>
              <a:rPr lang="en-US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(2,1,2);</a:t>
            </a:r>
          </a:p>
          <a:p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88022" y="2743200"/>
            <a:ext cx="1212378" cy="304800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06576" y="2764971"/>
            <a:ext cx="1212378" cy="304800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37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7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2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Branch Coverage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599" y="1005761"/>
            <a:ext cx="6248401" cy="486163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getTriangle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b,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c) {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 == b &amp;&amp; b == c) 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success();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return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"Equilateral";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 == b || b == c || c 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==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"Isosceles";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"Scalene";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 success()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(“Got it!”);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1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62600" y="3276600"/>
            <a:ext cx="3429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b="1" dirty="0" err="1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testCoverage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getTriangle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(2,2,3);</a:t>
            </a:r>
          </a:p>
          <a:p>
            <a:r>
              <a:rPr lang="en-US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getTriangle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(2,2,2);</a:t>
            </a:r>
          </a:p>
          <a:p>
            <a:r>
              <a:rPr lang="en-US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getTriangle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(1,2,2);</a:t>
            </a:r>
          </a:p>
          <a:p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getTriangle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(2,1,2);</a:t>
            </a:r>
          </a:p>
          <a:p>
            <a:r>
              <a:rPr lang="en-US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getTriangle</a:t>
            </a:r>
            <a:r>
              <a:rPr lang="en-US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(2,3,4);    </a:t>
            </a:r>
          </a:p>
          <a:p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3733800"/>
            <a:ext cx="2514600" cy="304800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21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7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Statement Coverage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599" y="1005761"/>
            <a:ext cx="6248401" cy="486163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getTriangle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b,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c) {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 == b &amp;&amp; b == c) 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success();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return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"Equilateral";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 == b || b == c || c 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==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"Isosceles";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"Scalene";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 success()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(“Got it!”);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1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62600" y="3276600"/>
            <a:ext cx="3429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b="1" dirty="0" err="1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testCoverage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getTriangle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(2,2,3);</a:t>
            </a:r>
          </a:p>
          <a:p>
            <a:r>
              <a:rPr lang="en-US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getTriangle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(2,2,2);</a:t>
            </a:r>
          </a:p>
          <a:p>
            <a:r>
              <a:rPr lang="en-US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getTriangle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(1,2,2);</a:t>
            </a:r>
          </a:p>
          <a:p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getTriangle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(2,1,2);</a:t>
            </a:r>
          </a:p>
          <a:p>
            <a:r>
              <a:rPr lang="en-US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getTriangle</a:t>
            </a:r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(2,3,4);    </a:t>
            </a:r>
          </a:p>
          <a:p>
            <a:r>
              <a:rPr lang="en-US" b="1" dirty="0" smtClean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314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 and Limitations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Benefits:</a:t>
            </a:r>
          </a:p>
          <a:p>
            <a:pPr lvl="1"/>
            <a:r>
              <a:rPr lang="en-US" dirty="0" smtClean="0"/>
              <a:t>A </a:t>
            </a:r>
            <a:r>
              <a:rPr lang="en-US" dirty="0"/>
              <a:t>measure of how complete your test cases are</a:t>
            </a:r>
          </a:p>
          <a:p>
            <a:pPr lvl="1"/>
            <a:r>
              <a:rPr lang="en-US" dirty="0" smtClean="0"/>
              <a:t>High </a:t>
            </a:r>
            <a:r>
              <a:rPr lang="en-US" dirty="0"/>
              <a:t>coverage does not guarantee code correctness!</a:t>
            </a:r>
          </a:p>
          <a:p>
            <a:pPr lvl="1"/>
            <a:r>
              <a:rPr lang="en-US" dirty="0" smtClean="0"/>
              <a:t>Can </a:t>
            </a:r>
            <a:r>
              <a:rPr lang="en-US" dirty="0"/>
              <a:t>identify paths through the code that </a:t>
            </a:r>
            <a:r>
              <a:rPr lang="en-US" dirty="0" smtClean="0"/>
              <a:t>you may </a:t>
            </a:r>
            <a:r>
              <a:rPr lang="en-US" dirty="0"/>
              <a:t>have </a:t>
            </a:r>
            <a:r>
              <a:rPr lang="en-US" dirty="0" smtClean="0"/>
              <a:t>missed</a:t>
            </a:r>
          </a:p>
          <a:p>
            <a:pPr lvl="1"/>
            <a:endParaRPr lang="en-US" dirty="0"/>
          </a:p>
          <a:p>
            <a:r>
              <a:rPr lang="en-US" dirty="0" smtClean="0"/>
              <a:t>Limitations:</a:t>
            </a:r>
          </a:p>
          <a:p>
            <a:pPr lvl="1"/>
            <a:r>
              <a:rPr lang="en-US" dirty="0"/>
              <a:t>The assumption that you are done testing if you have high coverage is incorrect </a:t>
            </a:r>
            <a:endParaRPr lang="en-US" dirty="0" smtClean="0"/>
          </a:p>
          <a:p>
            <a:pPr lvl="1"/>
            <a:r>
              <a:rPr lang="en-US" dirty="0" smtClean="0"/>
              <a:t>Coverage </a:t>
            </a:r>
            <a:r>
              <a:rPr lang="en-US" dirty="0"/>
              <a:t>tools only tell you if you’ve covered what’s there </a:t>
            </a:r>
            <a:endParaRPr lang="en-US" dirty="0" smtClean="0"/>
          </a:p>
          <a:p>
            <a:pPr lvl="1"/>
            <a:r>
              <a:rPr lang="en-US" dirty="0" smtClean="0"/>
              <a:t>There </a:t>
            </a:r>
            <a:r>
              <a:rPr lang="en-US" dirty="0"/>
              <a:t>may be requirements that you have missed! </a:t>
            </a:r>
            <a:endParaRPr lang="en-US" dirty="0" smtClean="0"/>
          </a:p>
          <a:p>
            <a:pPr lvl="1"/>
            <a:r>
              <a:rPr lang="en-US" dirty="0" smtClean="0"/>
              <a:t>Don’t </a:t>
            </a:r>
            <a:r>
              <a:rPr lang="en-US" dirty="0"/>
              <a:t>write test cases ONLY to make your coverage tool </a:t>
            </a:r>
            <a:r>
              <a:rPr lang="en-US" dirty="0" smtClean="0"/>
              <a:t>happy</a:t>
            </a:r>
          </a:p>
          <a:p>
            <a:pPr lvl="1"/>
            <a:r>
              <a:rPr lang="en-US" dirty="0" smtClean="0"/>
              <a:t>Inspect </a:t>
            </a:r>
            <a:r>
              <a:rPr lang="en-US" dirty="0"/>
              <a:t>surrounding code for other potential errors, perhaps requirements you’ve </a:t>
            </a:r>
            <a:r>
              <a:rPr lang="en-US" dirty="0" smtClean="0"/>
              <a:t>missed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183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 Coverage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71550"/>
            <a:ext cx="7886700" cy="5429250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 smtClean="0"/>
              <a:t>djUnit</a:t>
            </a:r>
            <a:r>
              <a:rPr lang="en-US" dirty="0" smtClean="0"/>
              <a:t>- </a:t>
            </a:r>
            <a:r>
              <a:rPr lang="en-US" dirty="0">
                <a:hlinkClick r:id="rId2"/>
              </a:rPr>
              <a:t>http://works.dgic.co.jp/djunit</a:t>
            </a:r>
            <a:r>
              <a:rPr lang="en-US" dirty="0" smtClean="0">
                <a:hlinkClick r:id="rId2"/>
              </a:rPr>
              <a:t>/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Eclipse </a:t>
            </a:r>
            <a:r>
              <a:rPr lang="en-US" dirty="0"/>
              <a:t>plug‐in </a:t>
            </a:r>
            <a:endParaRPr lang="en-US" dirty="0" smtClean="0"/>
          </a:p>
          <a:p>
            <a:pPr lvl="1"/>
            <a:r>
              <a:rPr lang="en-US" dirty="0" smtClean="0"/>
              <a:t>Measures </a:t>
            </a:r>
          </a:p>
          <a:p>
            <a:pPr lvl="2"/>
            <a:r>
              <a:rPr lang="en-US" dirty="0" smtClean="0"/>
              <a:t>Statement </a:t>
            </a:r>
            <a:r>
              <a:rPr lang="en-US" dirty="0"/>
              <a:t>Coverage </a:t>
            </a:r>
            <a:endParaRPr lang="en-US" dirty="0" smtClean="0"/>
          </a:p>
          <a:p>
            <a:pPr lvl="2"/>
            <a:r>
              <a:rPr lang="en-US" dirty="0" smtClean="0"/>
              <a:t>Branch Coverage</a:t>
            </a:r>
          </a:p>
          <a:p>
            <a:r>
              <a:rPr lang="en-US" dirty="0" err="1"/>
              <a:t>EclEmma</a:t>
            </a:r>
            <a:r>
              <a:rPr lang="en-US" dirty="0"/>
              <a:t> - </a:t>
            </a:r>
            <a:r>
              <a:rPr lang="en-US" dirty="0">
                <a:hlinkClick r:id="rId3"/>
              </a:rPr>
              <a:t>http://eclemma.org</a:t>
            </a:r>
            <a:r>
              <a:rPr lang="en-US" dirty="0" smtClean="0">
                <a:hlinkClick r:id="rId3"/>
              </a:rPr>
              <a:t>/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Eclipse </a:t>
            </a:r>
            <a:r>
              <a:rPr lang="en-US" dirty="0"/>
              <a:t>plug‐in </a:t>
            </a:r>
            <a:endParaRPr lang="en-US" dirty="0" smtClean="0"/>
          </a:p>
          <a:p>
            <a:pPr lvl="1"/>
            <a:r>
              <a:rPr lang="en-US" dirty="0" smtClean="0"/>
              <a:t>Measures </a:t>
            </a:r>
            <a:r>
              <a:rPr lang="en-US" dirty="0"/>
              <a:t>(at the bytecode level) </a:t>
            </a:r>
            <a:endParaRPr lang="en-US" dirty="0" smtClean="0"/>
          </a:p>
          <a:p>
            <a:pPr lvl="2"/>
            <a:r>
              <a:rPr lang="en-US" dirty="0" smtClean="0"/>
              <a:t>Instruction </a:t>
            </a:r>
            <a:r>
              <a:rPr lang="en-US" dirty="0"/>
              <a:t>Coverage </a:t>
            </a:r>
            <a:endParaRPr lang="en-US" dirty="0" smtClean="0"/>
          </a:p>
          <a:p>
            <a:pPr lvl="2"/>
            <a:r>
              <a:rPr lang="en-US" dirty="0" smtClean="0"/>
              <a:t>Block </a:t>
            </a:r>
            <a:r>
              <a:rPr lang="en-US" dirty="0"/>
              <a:t>Coverage – roughly corresponds to condition coverage </a:t>
            </a:r>
            <a:endParaRPr lang="en-US" dirty="0" smtClean="0"/>
          </a:p>
          <a:p>
            <a:pPr lvl="2"/>
            <a:r>
              <a:rPr lang="en-US" dirty="0" smtClean="0"/>
              <a:t>Line </a:t>
            </a:r>
            <a:r>
              <a:rPr lang="en-US" dirty="0"/>
              <a:t>Coverage </a:t>
            </a:r>
            <a:endParaRPr lang="en-US" dirty="0" smtClean="0"/>
          </a:p>
          <a:p>
            <a:pPr lvl="2"/>
            <a:r>
              <a:rPr lang="en-US" dirty="0" smtClean="0"/>
              <a:t>Method </a:t>
            </a:r>
            <a:r>
              <a:rPr lang="en-US" dirty="0"/>
              <a:t>Coverage </a:t>
            </a:r>
            <a:endParaRPr lang="en-US" dirty="0" smtClean="0"/>
          </a:p>
          <a:p>
            <a:pPr lvl="2"/>
            <a:r>
              <a:rPr lang="en-US" dirty="0" smtClean="0"/>
              <a:t>Type Coverage</a:t>
            </a:r>
          </a:p>
          <a:p>
            <a:r>
              <a:rPr lang="en-US" dirty="0"/>
              <a:t>Clover - </a:t>
            </a:r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www.atlassian.com/software/clover/overview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Commercial tool</a:t>
            </a:r>
          </a:p>
          <a:p>
            <a:pPr lvl="2"/>
            <a:r>
              <a:rPr lang="en-US" dirty="0" smtClean="0"/>
              <a:t>Method coverage</a:t>
            </a:r>
          </a:p>
          <a:p>
            <a:pPr lvl="2"/>
            <a:r>
              <a:rPr lang="en-US" dirty="0" smtClean="0"/>
              <a:t>Statement coverage</a:t>
            </a:r>
          </a:p>
          <a:p>
            <a:pPr lvl="2"/>
            <a:r>
              <a:rPr lang="en-US" dirty="0" smtClean="0"/>
              <a:t>Decision coverage</a:t>
            </a:r>
          </a:p>
          <a:p>
            <a:pPr lvl="2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025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ecture2-Lifecyc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Lecture2-Lifecycle</Template>
  <TotalTime>8607</TotalTime>
  <Words>423</Words>
  <Application>Microsoft Office PowerPoint</Application>
  <PresentationFormat>On-screen Show (4:3)</PresentationFormat>
  <Paragraphs>153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Lecture2-Lifecycle</vt:lpstr>
      <vt:lpstr>HDOfficeLightV0</vt:lpstr>
      <vt:lpstr>Code Coverage</vt:lpstr>
      <vt:lpstr>Coverage criteria</vt:lpstr>
      <vt:lpstr>Method Coverage</vt:lpstr>
      <vt:lpstr>Condition Coverage</vt:lpstr>
      <vt:lpstr>Branch Coverage</vt:lpstr>
      <vt:lpstr>Statement Coverage</vt:lpstr>
      <vt:lpstr>Benefits and Limitations</vt:lpstr>
      <vt:lpstr>Code Coverage tools</vt:lpstr>
    </vt:vector>
  </TitlesOfParts>
  <Company>University of Washington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CS435</dc:title>
  <dc:creator>Amiangshu Bosu; Marty Stepp</dc:creator>
  <cp:keywords/>
  <dc:description>Amiangshu Bosu, SIU Carbondale</dc:description>
  <cp:lastModifiedBy>Windows User</cp:lastModifiedBy>
  <cp:revision>1045</cp:revision>
  <dcterms:created xsi:type="dcterms:W3CDTF">2008-06-28T20:57:21Z</dcterms:created>
  <dcterms:modified xsi:type="dcterms:W3CDTF">2018-12-02T02:58:48Z</dcterms:modified>
</cp:coreProperties>
</file>