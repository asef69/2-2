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3" r:id="rId1"/>
    <p:sldMasterId id="2147483708" r:id="rId2"/>
  </p:sldMasterIdLst>
  <p:notesMasterIdLst>
    <p:notesMasterId r:id="rId27"/>
  </p:notesMasterIdLst>
  <p:sldIdLst>
    <p:sldId id="335" r:id="rId3"/>
    <p:sldId id="396" r:id="rId4"/>
    <p:sldId id="374" r:id="rId5"/>
    <p:sldId id="375" r:id="rId6"/>
    <p:sldId id="376" r:id="rId7"/>
    <p:sldId id="377" r:id="rId8"/>
    <p:sldId id="378" r:id="rId9"/>
    <p:sldId id="380" r:id="rId10"/>
    <p:sldId id="382" r:id="rId11"/>
    <p:sldId id="383" r:id="rId12"/>
    <p:sldId id="388" r:id="rId13"/>
    <p:sldId id="381" r:id="rId14"/>
    <p:sldId id="385" r:id="rId15"/>
    <p:sldId id="387" r:id="rId16"/>
    <p:sldId id="395" r:id="rId17"/>
    <p:sldId id="402" r:id="rId18"/>
    <p:sldId id="399" r:id="rId19"/>
    <p:sldId id="404" r:id="rId20"/>
    <p:sldId id="394" r:id="rId21"/>
    <p:sldId id="406" r:id="rId22"/>
    <p:sldId id="392" r:id="rId23"/>
    <p:sldId id="390" r:id="rId24"/>
    <p:sldId id="401" r:id="rId25"/>
    <p:sldId id="40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00000"/>
    <a:srgbClr val="0033CC"/>
    <a:srgbClr val="008000"/>
    <a:srgbClr val="FCD4D4"/>
    <a:srgbClr val="E1F2F3"/>
    <a:srgbClr val="FFFFC0"/>
    <a:srgbClr val="FFFF8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523" autoAdjust="0"/>
    <p:restoredTop sz="88785" autoAdjust="0"/>
  </p:normalViewPr>
  <p:slideViewPr>
    <p:cSldViewPr>
      <p:cViewPr varScale="1">
        <p:scale>
          <a:sx n="61" d="100"/>
          <a:sy n="61" d="100"/>
        </p:scale>
        <p:origin x="-1460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1CAB84F-B75A-4984-8F3C-AF33274BE4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438181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80F6-D8F9-4861-A47D-FB5C54C59CB3}" type="datetime1">
              <a:rPr lang="en-US" smtClean="0"/>
              <a:pPr/>
              <a:t>25-Jul-26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22878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2033"/>
            <a:ext cx="7886700" cy="859516"/>
          </a:xfrm>
        </p:spPr>
        <p:txBody>
          <a:bodyPr/>
          <a:lstStyle>
            <a:lvl1pPr algn="ctr">
              <a:defRPr>
                <a:solidFill>
                  <a:srgbClr val="0033CC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4960484"/>
          </a:xfrm>
        </p:spPr>
        <p:txBody>
          <a:bodyPr/>
          <a:lstStyle>
            <a:lvl2pPr marL="514350" indent="-171450">
              <a:buFont typeface="Calibri" panose="020F0502020204030204" pitchFamily="34" charset="0"/>
              <a:buChar char="ꟷ"/>
              <a:defRPr/>
            </a:lvl2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0078F-E661-48DF-8D03-D0A50507C023}" type="datetime1">
              <a:rPr lang="en-US" smtClean="0"/>
              <a:pPr/>
              <a:t>25-Jul-26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0940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83A8-167A-4325-AC58-C125C20F04E5}" type="datetime1">
              <a:rPr lang="en-US" smtClean="0"/>
              <a:pPr/>
              <a:t>25-Jul-26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30606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C363-00E5-4873-92AC-6FCDF94FB804}" type="datetime1">
              <a:rPr lang="en-US" smtClean="0"/>
              <a:pPr/>
              <a:t>25-Jul-26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071766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0710-5570-4B4A-AE9F-426CB1D545EA}" type="datetime1">
              <a:rPr lang="en-US" smtClean="0"/>
              <a:pPr/>
              <a:t>25-Jul-26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1542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CFBE-BA8E-42DA-94C4-303826948E42}" type="datetime1">
              <a:rPr lang="en-US" smtClean="0"/>
              <a:pPr/>
              <a:t>25-Jul-26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490260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0F559-AD7B-4E56-ABF5-FF34E2DBC8A2}" type="datetime1">
              <a:rPr lang="en-US" smtClean="0"/>
              <a:pPr/>
              <a:t>25-Jul-26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7149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64ED-635C-40CA-8BE7-BE2C04A36912}" type="datetime1">
              <a:rPr lang="en-US" smtClean="0"/>
              <a:pPr/>
              <a:t>25-Jul-26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48907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CA45-0C1D-4CDA-AED5-977A475009FE}" type="datetime1">
              <a:rPr lang="en-US" smtClean="0"/>
              <a:pPr/>
              <a:t>25-Jul-26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587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6BA6-EDF0-41F8-A44F-28D36A9FF955}" type="datetime1">
              <a:rPr lang="en-US" smtClean="0"/>
              <a:pPr/>
              <a:t>25-Jul-26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6734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9962-6CD1-4735-8959-BF829C68AEB8}" type="datetime1">
              <a:rPr lang="en-US" smtClean="0"/>
              <a:pPr/>
              <a:t>25-Jul-26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68009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23CF-EEE8-42B3-B379-29CA3A9AD32E}" type="datetime1">
              <a:rPr lang="en-US" smtClean="0"/>
              <a:pPr/>
              <a:t>25-Jul-26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33969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4CBB-8DC2-4B02-880A-5B1B61C50280}" type="datetime1">
              <a:rPr lang="en-US" smtClean="0"/>
              <a:pPr/>
              <a:t>25-Jul-26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6615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60FF-FF94-4CBA-8E0A-430FBA53ACAB}" type="datetime1">
              <a:rPr lang="en-US" smtClean="0"/>
              <a:pPr/>
              <a:t>25-Jul-26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7636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A2FF-3C94-4AD5-ADB2-25FC35199BC0}" type="datetime1">
              <a:rPr lang="en-US" smtClean="0"/>
              <a:pPr/>
              <a:t>25-Jul-26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43848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118A-8C73-4274-903B-9E0E12B37512}" type="datetime1">
              <a:rPr lang="en-US" smtClean="0"/>
              <a:pPr/>
              <a:t>25-Jul-26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58846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F233-675C-4E2D-ADE1-062026707D88}" type="datetime1">
              <a:rPr lang="en-US" smtClean="0"/>
              <a:pPr/>
              <a:t>25-Jul-26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62240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D0C5-1A3B-4AF9-B1AF-82EC1777D8DE}" type="datetime1">
              <a:rPr lang="en-US" smtClean="0"/>
              <a:pPr/>
              <a:t>25-Jul-26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61524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099-D8CB-4603-B933-8D2B27420331}" type="datetime1">
              <a:rPr lang="en-US" smtClean="0"/>
              <a:pPr/>
              <a:t>25-Jul-26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6590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F949-74B6-4108-8BF4-F11AB8FB4A07}" type="datetime1">
              <a:rPr lang="en-US" smtClean="0"/>
              <a:pPr/>
              <a:t>25-Jul-26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15771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ABA2-14F6-4CC3-9DAC-BBBB0D99BD97}" type="datetime1">
              <a:rPr lang="en-US" smtClean="0"/>
              <a:pPr/>
              <a:t>25-Jul-26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39255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C58A-6D66-4D15-BB59-04E72387B4C0}" type="datetime1">
              <a:rPr lang="en-US" smtClean="0"/>
              <a:pPr/>
              <a:t>25-Jul-26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3573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8349D-D56D-48A9-A584-3FF7CB447BAA}" type="datetime1">
              <a:rPr lang="en-US" smtClean="0"/>
              <a:pPr/>
              <a:t>25-Jul-26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6692348"/>
            <a:ext cx="9144001" cy="165652"/>
          </a:xfrm>
          <a:prstGeom prst="rect">
            <a:avLst/>
          </a:prstGeom>
          <a:solidFill>
            <a:srgbClr val="66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9pPr>
          </a:lstStyle>
          <a:p>
            <a:endParaRPr lang="en-US" kern="0" dirty="0" smtClean="0"/>
          </a:p>
        </p:txBody>
      </p:sp>
      <p:sp>
        <p:nvSpPr>
          <p:cNvPr id="9" name="Slide Number Placeholder 3"/>
          <p:cNvSpPr txBox="1">
            <a:spLocks noGrp="1"/>
          </p:cNvSpPr>
          <p:nvPr userDrawn="1"/>
        </p:nvSpPr>
        <p:spPr bwMode="auto">
          <a:xfrm>
            <a:off x="8305800" y="6262916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fld id="{F7051C5F-0994-4C42-8BDD-F9DE4AC27786}" type="slidenum">
              <a:rPr lang="en-US" altLang="en-US" sz="1200">
                <a:solidFill>
                  <a:srgbClr val="424242"/>
                </a:solidFill>
                <a:latin typeface="+mn-lt"/>
              </a:rPr>
              <a:pPr eaLnBrk="1" hangingPunct="1">
                <a:spcBef>
                  <a:spcPts val="500"/>
                </a:spcBef>
              </a:pPr>
              <a:t>‹#›</a:t>
            </a:fld>
            <a:endParaRPr lang="en-US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376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14700"/>
            <a:ext cx="7886700" cy="899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118507"/>
            <a:ext cx="7886700" cy="5061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E797AAD-96CD-4A47-B0D1-61BA85EB678F}" type="datetime1">
              <a:rPr lang="en-US" smtClean="0"/>
              <a:pPr/>
              <a:t>25-Jul-26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187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033CC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UML class diagram?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A UML class diagram is a picture </a:t>
            </a:r>
            <a:r>
              <a:rPr lang="en-US" sz="2400" dirty="0" smtClean="0"/>
              <a:t>of the </a:t>
            </a:r>
            <a:r>
              <a:rPr lang="en-US" sz="2400" dirty="0"/>
              <a:t>classes in an OO system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/>
              <a:t>their </a:t>
            </a:r>
            <a:r>
              <a:rPr lang="en-US" sz="2000" dirty="0"/>
              <a:t>fields and methods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/>
              <a:t>connections </a:t>
            </a:r>
            <a:r>
              <a:rPr lang="en-US" sz="2000" dirty="0"/>
              <a:t>between the classes that interact </a:t>
            </a:r>
            <a:r>
              <a:rPr lang="en-US" sz="2000" dirty="0" smtClean="0"/>
              <a:t>or inherit </a:t>
            </a:r>
            <a:r>
              <a:rPr lang="en-US" sz="2000" dirty="0"/>
              <a:t>from each other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Not </a:t>
            </a:r>
            <a:r>
              <a:rPr lang="en-US" sz="2400" dirty="0"/>
              <a:t>represented in a UML class diagram: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/>
              <a:t>details </a:t>
            </a:r>
            <a:r>
              <a:rPr lang="en-US" sz="2000" dirty="0"/>
              <a:t>of how the classes interact with each other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/>
              <a:t>algorithmic </a:t>
            </a:r>
            <a:r>
              <a:rPr lang="en-US" sz="2000" dirty="0"/>
              <a:t>details; how a particular behavior </a:t>
            </a:r>
            <a:r>
              <a:rPr lang="en-US" sz="2000" dirty="0" smtClean="0"/>
              <a:t>is implemented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8352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Benefits of Class Diagram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Class </a:t>
            </a:r>
            <a:r>
              <a:rPr lang="en-US" sz="2400" dirty="0"/>
              <a:t>Diagram Illustrates data models for even very complex information systems</a:t>
            </a:r>
          </a:p>
          <a:p>
            <a:r>
              <a:rPr lang="en-US" sz="2400" dirty="0"/>
              <a:t>It provides an overview of how the application is structured before studying the actual code. This can easily reduce the maintenance time</a:t>
            </a:r>
          </a:p>
          <a:p>
            <a:r>
              <a:rPr lang="en-US" sz="2400" dirty="0"/>
              <a:t>It helps for better understanding of general schematics of an application.</a:t>
            </a:r>
          </a:p>
          <a:p>
            <a:r>
              <a:rPr lang="en-US" sz="2400" dirty="0"/>
              <a:t>Allows drawing detailed charts which highlights code required to be programmed</a:t>
            </a:r>
          </a:p>
          <a:p>
            <a:r>
              <a:rPr lang="en-US" sz="2400" dirty="0"/>
              <a:t>Helpful for developers and other stakeholders.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0809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Diagram of a single class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3276600" y="2656114"/>
            <a:ext cx="2819400" cy="1905000"/>
            <a:chOff x="6096000" y="1371600"/>
            <a:chExt cx="2819400" cy="1905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Flowchart: Process 3"/>
            <p:cNvSpPr/>
            <p:nvPr/>
          </p:nvSpPr>
          <p:spPr>
            <a:xfrm>
              <a:off x="6096000" y="1371600"/>
              <a:ext cx="2819400" cy="4572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 smtClean="0">
                  <a:solidFill>
                    <a:srgbClr val="800000"/>
                  </a:solidFill>
                </a:rPr>
                <a:t>Rectangle</a:t>
              </a:r>
              <a:endParaRPr lang="en-US" b="1" i="1" dirty="0">
                <a:solidFill>
                  <a:srgbClr val="800000"/>
                </a:solidFill>
              </a:endParaRPr>
            </a:p>
          </p:txBody>
        </p:sp>
        <p:sp>
          <p:nvSpPr>
            <p:cNvPr id="5" name="Flowchart: Process 4"/>
            <p:cNvSpPr/>
            <p:nvPr/>
          </p:nvSpPr>
          <p:spPr>
            <a:xfrm>
              <a:off x="6096000" y="1828800"/>
              <a:ext cx="2819400" cy="6858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width: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height: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 area: double</a:t>
              </a:r>
              <a:endParaRPr lang="en-US" sz="13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6096000" y="2514600"/>
              <a:ext cx="2819400" cy="7620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 Rectangle(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w:int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  h:int)</a:t>
              </a: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distance(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r:Rectangle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):double</a:t>
              </a:r>
              <a:endParaRPr lang="en-US" sz="13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81000" y="2656114"/>
            <a:ext cx="2286000" cy="1905000"/>
            <a:chOff x="6096000" y="3733800"/>
            <a:chExt cx="2819400" cy="1905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9" name="Flowchart: Process 8"/>
            <p:cNvSpPr/>
            <p:nvPr/>
          </p:nvSpPr>
          <p:spPr>
            <a:xfrm>
              <a:off x="6096000" y="3733800"/>
              <a:ext cx="2819400" cy="4572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Student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10" name="Flowchart: Process 9"/>
            <p:cNvSpPr/>
            <p:nvPr/>
          </p:nvSpPr>
          <p:spPr>
            <a:xfrm>
              <a:off x="6096000" y="4191000"/>
              <a:ext cx="2819400" cy="6858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name: String</a:t>
              </a: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id: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totalStudents:int</a:t>
              </a:r>
              <a:endParaRPr lang="en-US" sz="13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Flowchart: Process 10"/>
            <p:cNvSpPr/>
            <p:nvPr/>
          </p:nvSpPr>
          <p:spPr>
            <a:xfrm>
              <a:off x="6096000" y="4876800"/>
              <a:ext cx="2819400" cy="7620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getID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spc="-1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~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getEmail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():String</a:t>
              </a:r>
              <a:endParaRPr lang="en-US" sz="13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477000" y="2667000"/>
            <a:ext cx="2286000" cy="1894114"/>
            <a:chOff x="6096000" y="3733800"/>
            <a:chExt cx="2819400" cy="1894114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6" name="Flowchart: Process 15"/>
            <p:cNvSpPr/>
            <p:nvPr/>
          </p:nvSpPr>
          <p:spPr>
            <a:xfrm>
              <a:off x="6096000" y="3733800"/>
              <a:ext cx="2819400" cy="544286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&lt;&lt;interface&gt;&gt;</a:t>
              </a:r>
            </a:p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Shape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17" name="Flowchart: Process 16"/>
            <p:cNvSpPr/>
            <p:nvPr/>
          </p:nvSpPr>
          <p:spPr>
            <a:xfrm>
              <a:off x="6096000" y="4278086"/>
              <a:ext cx="2819400" cy="6858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Flowchart: Process 17"/>
            <p:cNvSpPr/>
            <p:nvPr/>
          </p:nvSpPr>
          <p:spPr>
            <a:xfrm>
              <a:off x="6096000" y="4965441"/>
              <a:ext cx="2819400" cy="662473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calculateArea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():double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81000" y="1057184"/>
            <a:ext cx="469820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Class name on 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«interface» on top of interfaces'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</a:t>
            </a:r>
            <a:r>
              <a:rPr lang="en-US" i="1" dirty="0"/>
              <a:t>italics </a:t>
            </a:r>
            <a:r>
              <a:rPr lang="en-US" dirty="0"/>
              <a:t>for an abstract class name</a:t>
            </a:r>
            <a:endParaRPr lang="en-US" dirty="0" smtClean="0"/>
          </a:p>
          <a:p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093663" y="1894114"/>
            <a:ext cx="592637" cy="9252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931863" y="1619108"/>
            <a:ext cx="2002337" cy="12876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7784" y="5029200"/>
            <a:ext cx="2092432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Attributes (optional)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 the middle</a:t>
            </a:r>
          </a:p>
          <a:p>
            <a:endParaRPr lang="en-US" dirty="0"/>
          </a:p>
        </p:txBody>
      </p:sp>
      <p:cxnSp>
        <p:nvCxnSpPr>
          <p:cNvPr id="31" name="Straight Arrow Connector 30"/>
          <p:cNvCxnSpPr>
            <a:stCxn id="30" idx="3"/>
          </p:cNvCxnSpPr>
          <p:nvPr/>
        </p:nvCxnSpPr>
        <p:spPr>
          <a:xfrm flipV="1">
            <a:off x="2570216" y="3581401"/>
            <a:ext cx="782584" cy="19094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09257" y="5013658"/>
            <a:ext cx="4850302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Operations/ methods (optional)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may omit trivial (get/set)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but </a:t>
            </a:r>
            <a:r>
              <a:rPr lang="en-US" dirty="0"/>
              <a:t>don't omit any methods from an interface!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should </a:t>
            </a:r>
            <a:r>
              <a:rPr lang="en-US" dirty="0"/>
              <a:t>not include inherited methods</a:t>
            </a:r>
          </a:p>
        </p:txBody>
      </p:sp>
      <p:cxnSp>
        <p:nvCxnSpPr>
          <p:cNvPr id="37" name="Straight Arrow Connector 36"/>
          <p:cNvCxnSpPr>
            <a:stCxn id="35" idx="0"/>
          </p:cNvCxnSpPr>
          <p:nvPr/>
        </p:nvCxnSpPr>
        <p:spPr>
          <a:xfrm flipH="1" flipV="1">
            <a:off x="4931864" y="4425831"/>
            <a:ext cx="802544" cy="5878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0"/>
          </p:cNvCxnSpPr>
          <p:nvPr/>
        </p:nvCxnSpPr>
        <p:spPr>
          <a:xfrm flipV="1">
            <a:off x="5734408" y="4425831"/>
            <a:ext cx="1029887" cy="5878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801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0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Class attributes (fields, instance variables)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8650" y="2209799"/>
            <a:ext cx="5010150" cy="3967163"/>
          </a:xfrm>
        </p:spPr>
        <p:txBody>
          <a:bodyPr/>
          <a:lstStyle/>
          <a:p>
            <a:r>
              <a:rPr lang="en-US" dirty="0" smtClean="0"/>
              <a:t>Visibility</a:t>
            </a:r>
          </a:p>
          <a:p>
            <a:pPr marL="342900" lvl="1" indent="0">
              <a:buNone/>
            </a:pPr>
            <a:r>
              <a:rPr lang="en-US" dirty="0"/>
              <a:t>+ </a:t>
            </a:r>
            <a:r>
              <a:rPr lang="en-US" dirty="0" smtClean="0"/>
              <a:t> public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# </a:t>
            </a:r>
            <a:r>
              <a:rPr lang="en-US" dirty="0" smtClean="0"/>
              <a:t> protected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- </a:t>
            </a:r>
            <a:r>
              <a:rPr lang="en-US" dirty="0" smtClean="0"/>
              <a:t> private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~ </a:t>
            </a:r>
            <a:r>
              <a:rPr lang="en-US" dirty="0" smtClean="0"/>
              <a:t> package </a:t>
            </a:r>
            <a:r>
              <a:rPr lang="en-US" dirty="0"/>
              <a:t>(default)</a:t>
            </a:r>
          </a:p>
          <a:p>
            <a:pPr marL="342900" lvl="1" indent="0">
              <a:buNone/>
            </a:pPr>
            <a:r>
              <a:rPr lang="en-US" dirty="0"/>
              <a:t>/ </a:t>
            </a:r>
            <a:r>
              <a:rPr lang="en-US" dirty="0" smtClean="0"/>
              <a:t> derived</a:t>
            </a:r>
          </a:p>
          <a:p>
            <a:r>
              <a:rPr lang="en-US" u="sng" dirty="0"/>
              <a:t>underline static </a:t>
            </a:r>
            <a:r>
              <a:rPr lang="en-US" u="sng" dirty="0" smtClean="0"/>
              <a:t>attributes</a:t>
            </a:r>
            <a:r>
              <a:rPr lang="en-US" dirty="0" smtClean="0"/>
              <a:t>	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232245" y="1310438"/>
            <a:ext cx="2819400" cy="2347162"/>
            <a:chOff x="6096000" y="1371600"/>
            <a:chExt cx="2819400" cy="2347162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Flowchart: Process 3"/>
            <p:cNvSpPr/>
            <p:nvPr/>
          </p:nvSpPr>
          <p:spPr>
            <a:xfrm>
              <a:off x="6096000" y="1371600"/>
              <a:ext cx="2819400" cy="4572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Student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5" name="Flowchart: Process 4"/>
            <p:cNvSpPr/>
            <p:nvPr/>
          </p:nvSpPr>
          <p:spPr>
            <a:xfrm>
              <a:off x="6096000" y="1828800"/>
              <a:ext cx="2819400" cy="1432762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name: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email: String</a:t>
              </a: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DOB: String</a:t>
              </a: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 Age: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 </a:t>
              </a:r>
              <a:r>
                <a:rPr lang="en-US" sz="1300" b="1" u="sng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dawgID</a:t>
              </a:r>
              <a:r>
                <a:rPr lang="en-US" sz="1300" b="1" u="sng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: </a:t>
              </a:r>
              <a:r>
                <a:rPr lang="en-US" sz="1300" b="1" u="sng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~ courses[100]:Course</a:t>
              </a: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6096000" y="3274595"/>
              <a:ext cx="2819400" cy="444167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calculateTuition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():double</a:t>
              </a:r>
              <a:endParaRPr lang="en-US" sz="13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 flipV="1">
            <a:off x="1981200" y="2162176"/>
            <a:ext cx="4343400" cy="34841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3886200" y="2822343"/>
            <a:ext cx="2574645" cy="15214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Line Callout 2 7"/>
          <p:cNvSpPr/>
          <p:nvPr/>
        </p:nvSpPr>
        <p:spPr>
          <a:xfrm>
            <a:off x="304800" y="1371600"/>
            <a:ext cx="5105400" cy="561974"/>
          </a:xfrm>
          <a:prstGeom prst="borderCallout2">
            <a:avLst>
              <a:gd name="adj1" fmla="val 47598"/>
              <a:gd name="adj2" fmla="val 99772"/>
              <a:gd name="adj3" fmla="val 68062"/>
              <a:gd name="adj4" fmla="val 110337"/>
              <a:gd name="adj5" fmla="val 91788"/>
              <a:gd name="adj6" fmla="val 116085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b="1" dirty="0">
                <a:latin typeface="Arial Rounded MT Bold" panose="020F0704030504030204" pitchFamily="34" charset="0"/>
                <a:cs typeface="Courier New" panose="02070309020205020404" pitchFamily="49" charset="0"/>
              </a:rPr>
              <a:t>visibility name : type [count] = </a:t>
            </a:r>
            <a:r>
              <a:rPr lang="en-US" b="1" dirty="0" err="1" smtClean="0">
                <a:latin typeface="Arial Rounded MT Bold" panose="020F0704030504030204" pitchFamily="34" charset="0"/>
                <a:cs typeface="Courier New" panose="02070309020205020404" pitchFamily="49" charset="0"/>
              </a:rPr>
              <a:t>default_value</a:t>
            </a:r>
            <a:endParaRPr lang="en-US" b="1" dirty="0">
              <a:latin typeface="Arial Rounded MT Bold" panose="020F07040305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5804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Class operations / methods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8650" y="2209799"/>
            <a:ext cx="5010150" cy="3967163"/>
          </a:xfrm>
        </p:spPr>
        <p:txBody>
          <a:bodyPr/>
          <a:lstStyle/>
          <a:p>
            <a:r>
              <a:rPr lang="en-US" dirty="0" smtClean="0"/>
              <a:t>Visibility</a:t>
            </a:r>
          </a:p>
          <a:p>
            <a:pPr marL="342900" lvl="1" indent="0">
              <a:buNone/>
            </a:pPr>
            <a:r>
              <a:rPr lang="en-US" dirty="0"/>
              <a:t>+ </a:t>
            </a:r>
            <a:r>
              <a:rPr lang="en-US" dirty="0" smtClean="0"/>
              <a:t> public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# </a:t>
            </a:r>
            <a:r>
              <a:rPr lang="en-US" dirty="0" smtClean="0"/>
              <a:t> protected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- </a:t>
            </a:r>
            <a:r>
              <a:rPr lang="en-US" dirty="0" smtClean="0"/>
              <a:t> private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~ </a:t>
            </a:r>
            <a:r>
              <a:rPr lang="en-US" dirty="0" smtClean="0"/>
              <a:t> package </a:t>
            </a:r>
            <a:r>
              <a:rPr lang="en-US" dirty="0"/>
              <a:t>(default)</a:t>
            </a:r>
          </a:p>
          <a:p>
            <a:r>
              <a:rPr lang="en-US" u="sng" dirty="0" smtClean="0"/>
              <a:t>underline </a:t>
            </a:r>
            <a:r>
              <a:rPr lang="en-US" u="sng" dirty="0"/>
              <a:t>static </a:t>
            </a:r>
            <a:r>
              <a:rPr lang="en-US" u="sng" dirty="0" smtClean="0"/>
              <a:t>methods</a:t>
            </a:r>
          </a:p>
          <a:p>
            <a:r>
              <a:rPr lang="en-US" dirty="0" smtClean="0"/>
              <a:t>Parameters listed as </a:t>
            </a:r>
            <a:r>
              <a:rPr lang="en-US" dirty="0" err="1" smtClean="0"/>
              <a:t>name:type</a:t>
            </a:r>
            <a:endParaRPr lang="en-US" dirty="0" smtClean="0"/>
          </a:p>
          <a:p>
            <a:r>
              <a:rPr lang="en-US" dirty="0" smtClean="0"/>
              <a:t>Omit </a:t>
            </a:r>
            <a:r>
              <a:rPr lang="en-US" dirty="0" err="1" smtClean="0"/>
              <a:t>return_type</a:t>
            </a:r>
            <a:r>
              <a:rPr lang="en-US" dirty="0" smtClean="0"/>
              <a:t> on constructors and when return type is void	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848350" y="1310438"/>
            <a:ext cx="3203295" cy="3261562"/>
            <a:chOff x="6096000" y="1371600"/>
            <a:chExt cx="2819400" cy="3261562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Flowchart: Process 3"/>
            <p:cNvSpPr/>
            <p:nvPr/>
          </p:nvSpPr>
          <p:spPr>
            <a:xfrm>
              <a:off x="6096000" y="1371600"/>
              <a:ext cx="2819400" cy="4572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Student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5" name="Flowchart: Process 4"/>
            <p:cNvSpPr/>
            <p:nvPr/>
          </p:nvSpPr>
          <p:spPr>
            <a:xfrm>
              <a:off x="6096000" y="1828800"/>
              <a:ext cx="2819400" cy="1432762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name: String</a:t>
              </a: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email: String</a:t>
              </a: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DOB: String</a:t>
              </a: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 Age: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 </a:t>
              </a:r>
              <a:r>
                <a:rPr lang="en-US" sz="1300" b="1" u="sng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dawgID</a:t>
              </a:r>
              <a:r>
                <a:rPr lang="en-US" sz="1300" b="1" u="sng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: </a:t>
              </a:r>
              <a:r>
                <a:rPr lang="en-US" sz="1300" b="1" u="sng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u="sng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~ courses[100]:Course</a:t>
              </a: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6096000" y="3261562"/>
              <a:ext cx="2819400" cy="13716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+Student(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n:String,dob:String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getTotalCredits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():Course</a:t>
              </a: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calculateTuition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():double</a:t>
              </a: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  <a:r>
                <a:rPr lang="en-US" sz="1300" b="1" u="sng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calculateGPA</a:t>
              </a:r>
              <a:r>
                <a:rPr lang="en-US" sz="1300" b="1" u="sng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300" b="1" u="sng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crs</a:t>
              </a:r>
              <a:r>
                <a:rPr lang="en-US" sz="1300" b="1" u="sng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: Course[]):float</a:t>
              </a:r>
              <a:endParaRPr lang="en-US" sz="1300" b="1" u="sng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>
            <a:off x="1905000" y="2484019"/>
            <a:ext cx="4038600" cy="135869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733800" y="4121317"/>
            <a:ext cx="2362200" cy="16016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Line Callout 2 7"/>
          <p:cNvSpPr/>
          <p:nvPr/>
        </p:nvSpPr>
        <p:spPr>
          <a:xfrm>
            <a:off x="304800" y="1371600"/>
            <a:ext cx="5105400" cy="561974"/>
          </a:xfrm>
          <a:prstGeom prst="borderCallout2">
            <a:avLst>
              <a:gd name="adj1" fmla="val 100728"/>
              <a:gd name="adj2" fmla="val 78389"/>
              <a:gd name="adj3" fmla="val 224133"/>
              <a:gd name="adj4" fmla="val 94437"/>
              <a:gd name="adj5" fmla="val 380685"/>
              <a:gd name="adj6" fmla="val 108409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b="1" dirty="0">
                <a:latin typeface="Arial Rounded MT Bold" panose="020F0704030504030204" pitchFamily="34" charset="0"/>
                <a:cs typeface="Courier New" panose="02070309020205020404" pitchFamily="49" charset="0"/>
              </a:rPr>
              <a:t>visibility </a:t>
            </a:r>
            <a:r>
              <a:rPr lang="en-US" b="1" dirty="0" smtClean="0">
                <a:latin typeface="Arial Rounded MT Bold" panose="020F0704030504030204" pitchFamily="34" charset="0"/>
                <a:cs typeface="Courier New" panose="02070309020205020404" pitchFamily="49" charset="0"/>
              </a:rPr>
              <a:t>name(parameters) : </a:t>
            </a:r>
            <a:r>
              <a:rPr lang="en-US" b="1" dirty="0" err="1" smtClean="0">
                <a:latin typeface="Arial Rounded MT Bold" panose="020F0704030504030204" pitchFamily="34" charset="0"/>
                <a:cs typeface="Courier New" panose="02070309020205020404" pitchFamily="49" charset="0"/>
              </a:rPr>
              <a:t>return_type</a:t>
            </a:r>
            <a:endParaRPr lang="en-US" b="1" dirty="0">
              <a:latin typeface="Arial Rounded MT Bold" panose="020F07040305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784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Relationships between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b="1" dirty="0"/>
              <a:t>Generalization</a:t>
            </a:r>
            <a:r>
              <a:rPr lang="en-US" dirty="0"/>
              <a:t>: an inheritance relationship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inheritance </a:t>
            </a:r>
            <a:r>
              <a:rPr lang="en-US" dirty="0"/>
              <a:t>between classes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interface </a:t>
            </a:r>
            <a:r>
              <a:rPr lang="en-US" dirty="0"/>
              <a:t>implementation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A</a:t>
            </a:r>
            <a:r>
              <a:rPr lang="en-US" b="1" dirty="0" smtClean="0"/>
              <a:t>ssociation</a:t>
            </a:r>
            <a:r>
              <a:rPr lang="en-US" dirty="0"/>
              <a:t>: a usage relationship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dependency</a:t>
            </a:r>
            <a:endParaRPr lang="en-US" dirty="0"/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aggregation</a:t>
            </a:r>
            <a:endParaRPr lang="en-US" dirty="0"/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composition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038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Generalization relationships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4857750" cy="496048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Hierarchies drawn top-down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 smtClean="0"/>
              <a:t>Arrows </a:t>
            </a:r>
            <a:r>
              <a:rPr lang="en-US" sz="2400" dirty="0"/>
              <a:t>point upward to parent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 smtClean="0"/>
              <a:t>Line/arrow </a:t>
            </a:r>
            <a:r>
              <a:rPr lang="en-US" sz="2400" dirty="0"/>
              <a:t>styles indicate if parent is a(n):</a:t>
            </a:r>
          </a:p>
          <a:p>
            <a:pPr lvl="1">
              <a:spcBef>
                <a:spcPts val="600"/>
              </a:spcBef>
            </a:pPr>
            <a:r>
              <a:rPr lang="en-US" sz="2000" b="1" dirty="0" smtClean="0"/>
              <a:t>class</a:t>
            </a:r>
            <a:r>
              <a:rPr lang="en-US" sz="2000" dirty="0"/>
              <a:t>: solid line, black arrow</a:t>
            </a:r>
          </a:p>
          <a:p>
            <a:pPr lvl="1">
              <a:spcBef>
                <a:spcPts val="600"/>
              </a:spcBef>
            </a:pPr>
            <a:r>
              <a:rPr lang="en-US" sz="2000" b="1" dirty="0" smtClean="0"/>
              <a:t>interface</a:t>
            </a:r>
            <a:r>
              <a:rPr lang="en-US" sz="2000" dirty="0"/>
              <a:t>: dashed line, white </a:t>
            </a:r>
            <a:r>
              <a:rPr lang="en-US" sz="2000" dirty="0" smtClean="0"/>
              <a:t>arrow</a:t>
            </a:r>
          </a:p>
          <a:p>
            <a:pPr lvl="1">
              <a:spcBef>
                <a:spcPts val="600"/>
              </a:spcBef>
            </a:pPr>
            <a:r>
              <a:rPr lang="en-US" sz="2000" b="1" dirty="0"/>
              <a:t>abstract class</a:t>
            </a:r>
            <a:r>
              <a:rPr lang="en-US" sz="2000" dirty="0"/>
              <a:t>: solid line, white arrow</a:t>
            </a:r>
          </a:p>
          <a:p>
            <a:pPr lvl="1">
              <a:spcBef>
                <a:spcPts val="600"/>
              </a:spcBef>
            </a:pP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6066453" y="1079629"/>
            <a:ext cx="2848948" cy="973107"/>
            <a:chOff x="6092889" y="3733800"/>
            <a:chExt cx="2828265" cy="973107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6" name="Flowchart: Process 5"/>
            <p:cNvSpPr/>
            <p:nvPr/>
          </p:nvSpPr>
          <p:spPr>
            <a:xfrm>
              <a:off x="6092889" y="3733800"/>
              <a:ext cx="2828265" cy="544286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&lt;&lt;interface&gt;&gt;</a:t>
              </a:r>
            </a:p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Shape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6092889" y="4278087"/>
              <a:ext cx="2828264" cy="42882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calculateArea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():double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066452" y="2667000"/>
            <a:ext cx="2848947" cy="1628577"/>
            <a:chOff x="6096000" y="3733800"/>
            <a:chExt cx="2819400" cy="1628577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0" name="Flowchart: Process 9"/>
            <p:cNvSpPr/>
            <p:nvPr/>
          </p:nvSpPr>
          <p:spPr>
            <a:xfrm>
              <a:off x="6096000" y="3733800"/>
              <a:ext cx="2819400" cy="419099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 err="1" smtClean="0">
                  <a:solidFill>
                    <a:srgbClr val="800000"/>
                  </a:solidFill>
                </a:rPr>
                <a:t>RectangularShape</a:t>
              </a:r>
              <a:endParaRPr lang="en-US" b="1" i="1" dirty="0">
                <a:solidFill>
                  <a:srgbClr val="800000"/>
                </a:solidFill>
              </a:endParaRPr>
            </a:p>
          </p:txBody>
        </p:sp>
        <p:sp>
          <p:nvSpPr>
            <p:cNvPr id="11" name="Flowchart: Process 10"/>
            <p:cNvSpPr/>
            <p:nvPr/>
          </p:nvSpPr>
          <p:spPr>
            <a:xfrm>
              <a:off x="6096000" y="4152899"/>
              <a:ext cx="2819400" cy="68580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width:int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 height: </a:t>
              </a:r>
              <a:r>
                <a:rPr lang="en-US" sz="1300" b="1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300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 area: double</a:t>
              </a:r>
            </a:p>
          </p:txBody>
        </p:sp>
        <p:sp>
          <p:nvSpPr>
            <p:cNvPr id="12" name="Flowchart: Process 11"/>
            <p:cNvSpPr/>
            <p:nvPr/>
          </p:nvSpPr>
          <p:spPr>
            <a:xfrm>
              <a:off x="6096000" y="4838699"/>
              <a:ext cx="2819400" cy="523678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calculateArea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():double</a:t>
              </a: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contains(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x:int,y:int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):bool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096000" y="5011702"/>
            <a:ext cx="2824067" cy="1441971"/>
            <a:chOff x="6096000" y="3733800"/>
            <a:chExt cx="2819400" cy="1441971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4" name="Flowchart: Process 13"/>
            <p:cNvSpPr/>
            <p:nvPr/>
          </p:nvSpPr>
          <p:spPr>
            <a:xfrm>
              <a:off x="6096000" y="3733800"/>
              <a:ext cx="2819400" cy="544286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Rectangle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15" name="Flowchart: Process 14"/>
            <p:cNvSpPr/>
            <p:nvPr/>
          </p:nvSpPr>
          <p:spPr>
            <a:xfrm>
              <a:off x="6096000" y="4278086"/>
              <a:ext cx="2819400" cy="24493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300" b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" name="Flowchart: Process 15"/>
            <p:cNvSpPr/>
            <p:nvPr/>
          </p:nvSpPr>
          <p:spPr>
            <a:xfrm>
              <a:off x="6096000" y="4513298"/>
              <a:ext cx="2819400" cy="662473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b="1" spc="-1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Rectangle(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x:int,y:int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distance(</a:t>
              </a:r>
              <a:r>
                <a:rPr lang="en-US" sz="1300" b="1" spc="-100" dirty="0" err="1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r:Rectangle</a:t>
              </a:r>
              <a:r>
                <a: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):double</a:t>
              </a:r>
            </a:p>
          </p:txBody>
        </p:sp>
      </p:grpSp>
      <p:sp>
        <p:nvSpPr>
          <p:cNvPr id="17" name="Isosceles Triangle 16"/>
          <p:cNvSpPr/>
          <p:nvPr/>
        </p:nvSpPr>
        <p:spPr>
          <a:xfrm>
            <a:off x="7391400" y="2057400"/>
            <a:ext cx="228600" cy="233264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7391400" y="4316574"/>
            <a:ext cx="228600" cy="233264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>
            <a:stCxn id="17" idx="3"/>
            <a:endCxn id="10" idx="0"/>
          </p:cNvCxnSpPr>
          <p:nvPr/>
        </p:nvCxnSpPr>
        <p:spPr>
          <a:xfrm flipH="1">
            <a:off x="7490926" y="2290664"/>
            <a:ext cx="14774" cy="376336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3"/>
            <a:endCxn id="14" idx="0"/>
          </p:cNvCxnSpPr>
          <p:nvPr/>
        </p:nvCxnSpPr>
        <p:spPr>
          <a:xfrm>
            <a:off x="7505700" y="4549838"/>
            <a:ext cx="2334" cy="46186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105400" y="4129184"/>
            <a:ext cx="2153817" cy="42065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4830146" y="2410021"/>
            <a:ext cx="2561254" cy="13579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92142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(usage) relationships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8828" y="987100"/>
            <a:ext cx="4330572" cy="1907721"/>
          </a:xfr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Multiplicity (how many are used)</a:t>
            </a:r>
          </a:p>
          <a:p>
            <a:r>
              <a:rPr lang="en-US" dirty="0" smtClean="0"/>
              <a:t>* </a:t>
            </a:r>
            <a:r>
              <a:rPr lang="en-US" dirty="0"/>
              <a:t>(zero or more)</a:t>
            </a:r>
          </a:p>
          <a:p>
            <a:r>
              <a:rPr lang="en-US" dirty="0" smtClean="0"/>
              <a:t>1 </a:t>
            </a:r>
            <a:r>
              <a:rPr lang="en-US" dirty="0"/>
              <a:t>(exactly one)</a:t>
            </a:r>
          </a:p>
          <a:p>
            <a:r>
              <a:rPr lang="en-US" dirty="0" smtClean="0"/>
              <a:t>2</a:t>
            </a:r>
            <a:r>
              <a:rPr lang="en-US" dirty="0"/>
              <a:t>..4 (between 2 and 4, inclusive)</a:t>
            </a:r>
          </a:p>
          <a:p>
            <a:r>
              <a:rPr lang="en-US" dirty="0" smtClean="0"/>
              <a:t>3</a:t>
            </a:r>
            <a:r>
              <a:rPr lang="en-US" dirty="0"/>
              <a:t>..* (3 or more, * may be omitted</a:t>
            </a:r>
            <a:r>
              <a:rPr lang="en-US" dirty="0" smtClean="0"/>
              <a:t>)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477000" y="3315622"/>
            <a:ext cx="1544216" cy="973107"/>
            <a:chOff x="6092889" y="3733800"/>
            <a:chExt cx="2828265" cy="973107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" name="Flowchart: Process 4"/>
            <p:cNvSpPr/>
            <p:nvPr/>
          </p:nvSpPr>
          <p:spPr>
            <a:xfrm>
              <a:off x="6092889" y="3733800"/>
              <a:ext cx="2828265" cy="544286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Class B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6092889" y="4278087"/>
              <a:ext cx="2828264" cy="42882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300" b="1" spc="-1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90600" y="3315622"/>
            <a:ext cx="1544216" cy="973107"/>
            <a:chOff x="6092889" y="3733800"/>
            <a:chExt cx="2828265" cy="973107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Flowchart: Process 7"/>
            <p:cNvSpPr/>
            <p:nvPr/>
          </p:nvSpPr>
          <p:spPr>
            <a:xfrm>
              <a:off x="6092889" y="3733800"/>
              <a:ext cx="2828265" cy="544286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800000"/>
                  </a:solidFill>
                </a:rPr>
                <a:t>Class A</a:t>
              </a:r>
              <a:endParaRPr lang="en-US" b="1" dirty="0">
                <a:solidFill>
                  <a:srgbClr val="800000"/>
                </a:solidFill>
              </a:endParaRPr>
            </a:p>
          </p:txBody>
        </p:sp>
        <p:sp>
          <p:nvSpPr>
            <p:cNvPr id="9" name="Flowchart: Process 8"/>
            <p:cNvSpPr/>
            <p:nvPr/>
          </p:nvSpPr>
          <p:spPr>
            <a:xfrm>
              <a:off x="6092889" y="4278087"/>
              <a:ext cx="2828264" cy="428820"/>
            </a:xfrm>
            <a:prstGeom prst="flowChartProcess">
              <a:avLst/>
            </a:prstGeom>
            <a:grp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300" b="1" spc="-1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11" name="Straight Connector 10"/>
          <p:cNvCxnSpPr>
            <a:stCxn id="9" idx="3"/>
            <a:endCxn id="12" idx="1"/>
          </p:cNvCxnSpPr>
          <p:nvPr/>
        </p:nvCxnSpPr>
        <p:spPr>
          <a:xfrm>
            <a:off x="2534815" y="4074319"/>
            <a:ext cx="356118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6095999" y="3939778"/>
            <a:ext cx="381000" cy="269081"/>
          </a:xfrm>
          <a:prstGeom prst="diamond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667000" y="3637717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1…*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140121" y="357525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0815" y="4074318"/>
            <a:ext cx="971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contains</a:t>
            </a:r>
            <a:endParaRPr lang="en-US" i="1" dirty="0"/>
          </a:p>
        </p:txBody>
      </p:sp>
      <p:cxnSp>
        <p:nvCxnSpPr>
          <p:cNvPr id="18" name="Straight Connector 17"/>
          <p:cNvCxnSpPr>
            <a:stCxn id="3" idx="2"/>
          </p:cNvCxnSpPr>
          <p:nvPr/>
        </p:nvCxnSpPr>
        <p:spPr>
          <a:xfrm flipH="1">
            <a:off x="3124200" y="2894821"/>
            <a:ext cx="1339914" cy="680435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" idx="2"/>
          </p:cNvCxnSpPr>
          <p:nvPr/>
        </p:nvCxnSpPr>
        <p:spPr>
          <a:xfrm>
            <a:off x="4464114" y="2894821"/>
            <a:ext cx="1676007" cy="742896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ontent Placeholder 2"/>
          <p:cNvSpPr txBox="1">
            <a:spLocks/>
          </p:cNvSpPr>
          <p:nvPr/>
        </p:nvSpPr>
        <p:spPr>
          <a:xfrm>
            <a:off x="1355757" y="4871585"/>
            <a:ext cx="2622486" cy="859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Name (what relationship the objects have)</a:t>
            </a:r>
            <a:endParaRPr lang="en-US" dirty="0"/>
          </a:p>
        </p:txBody>
      </p:sp>
      <p:cxnSp>
        <p:nvCxnSpPr>
          <p:cNvPr id="22" name="Straight Connector 21"/>
          <p:cNvCxnSpPr>
            <a:stCxn id="21" idx="0"/>
            <a:endCxn id="16" idx="1"/>
          </p:cNvCxnSpPr>
          <p:nvPr/>
        </p:nvCxnSpPr>
        <p:spPr>
          <a:xfrm flipV="1">
            <a:off x="2667000" y="4258984"/>
            <a:ext cx="1093815" cy="612601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ontent Placeholder 2"/>
          <p:cNvSpPr txBox="1">
            <a:spLocks/>
          </p:cNvSpPr>
          <p:nvPr/>
        </p:nvSpPr>
        <p:spPr>
          <a:xfrm>
            <a:off x="5715000" y="4878222"/>
            <a:ext cx="2895600" cy="5101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Navigability (direction)</a:t>
            </a:r>
            <a:endParaRPr lang="en-US" dirty="0"/>
          </a:p>
        </p:txBody>
      </p:sp>
      <p:cxnSp>
        <p:nvCxnSpPr>
          <p:cNvPr id="27" name="Straight Connector 26"/>
          <p:cNvCxnSpPr>
            <a:endCxn id="12" idx="2"/>
          </p:cNvCxnSpPr>
          <p:nvPr/>
        </p:nvCxnSpPr>
        <p:spPr>
          <a:xfrm flipH="1" flipV="1">
            <a:off x="6286499" y="4208859"/>
            <a:ext cx="640901" cy="675011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37518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21" grpId="0" build="p" animBg="1"/>
      <p:bldP spid="2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multiplicities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184" y="1190626"/>
            <a:ext cx="4330572" cy="1302812"/>
          </a:xfr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One to one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 smtClean="0"/>
              <a:t>Each car has exactly one engine</a:t>
            </a:r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 smtClean="0"/>
              <a:t>Each engine belongs to exactly one car</a:t>
            </a:r>
            <a:endParaRPr lang="en-US" sz="2000" dirty="0"/>
          </a:p>
        </p:txBody>
      </p:sp>
      <p:grpSp>
        <p:nvGrpSpPr>
          <p:cNvPr id="10" name="Group 9"/>
          <p:cNvGrpSpPr/>
          <p:nvPr/>
        </p:nvGrpSpPr>
        <p:grpSpPr>
          <a:xfrm>
            <a:off x="5029200" y="1355478"/>
            <a:ext cx="3723891" cy="973107"/>
            <a:chOff x="990600" y="3315622"/>
            <a:chExt cx="7030616" cy="973107"/>
          </a:xfrm>
        </p:grpSpPr>
        <p:grpSp>
          <p:nvGrpSpPr>
            <p:cNvPr id="4" name="Group 3"/>
            <p:cNvGrpSpPr/>
            <p:nvPr/>
          </p:nvGrpSpPr>
          <p:grpSpPr>
            <a:xfrm>
              <a:off x="64770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5" name="Flowchart: Process 4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Car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6" name="Flowchart: Process 5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9906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8" name="Flowchart: Process 7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Engine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9" name="Flowchart: Process 8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11" name="Straight Connector 10"/>
            <p:cNvCxnSpPr>
              <a:stCxn id="9" idx="3"/>
              <a:endCxn id="12" idx="1"/>
            </p:cNvCxnSpPr>
            <p:nvPr/>
          </p:nvCxnSpPr>
          <p:spPr>
            <a:xfrm>
              <a:off x="2534815" y="4074319"/>
              <a:ext cx="3561184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Diamond 11"/>
            <p:cNvSpPr/>
            <p:nvPr/>
          </p:nvSpPr>
          <p:spPr>
            <a:xfrm>
              <a:off x="6095999" y="3939778"/>
              <a:ext cx="381000" cy="269081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67000" y="3637717"/>
              <a:ext cx="9197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31709" y="3570446"/>
              <a:ext cx="497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23" name="Content Placeholder 2"/>
          <p:cNvSpPr txBox="1">
            <a:spLocks/>
          </p:cNvSpPr>
          <p:nvPr/>
        </p:nvSpPr>
        <p:spPr>
          <a:xfrm>
            <a:off x="364093" y="3040588"/>
            <a:ext cx="4330572" cy="13028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/>
              <a:t>One to many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 smtClean="0"/>
              <a:t>Each book has many pages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 smtClean="0"/>
              <a:t>Each page belongs to exactly one book</a:t>
            </a:r>
            <a:endParaRPr lang="en-US" sz="20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5039109" y="3205440"/>
            <a:ext cx="3723891" cy="973107"/>
            <a:chOff x="990600" y="3315622"/>
            <a:chExt cx="7030616" cy="973107"/>
          </a:xfrm>
        </p:grpSpPr>
        <p:grpSp>
          <p:nvGrpSpPr>
            <p:cNvPr id="25" name="Group 24"/>
            <p:cNvGrpSpPr/>
            <p:nvPr/>
          </p:nvGrpSpPr>
          <p:grpSpPr>
            <a:xfrm>
              <a:off x="64770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5" name="Flowchart: Process 34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Book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36" name="Flowchart: Process 35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9906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3" name="Flowchart: Process 32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Page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34" name="Flowchart: Process 33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29" name="Straight Connector 28"/>
            <p:cNvCxnSpPr>
              <a:stCxn id="34" idx="3"/>
              <a:endCxn id="30" idx="1"/>
            </p:cNvCxnSpPr>
            <p:nvPr/>
          </p:nvCxnSpPr>
          <p:spPr>
            <a:xfrm>
              <a:off x="2534815" y="4074319"/>
              <a:ext cx="3561184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Diamond 29"/>
            <p:cNvSpPr/>
            <p:nvPr/>
          </p:nvSpPr>
          <p:spPr>
            <a:xfrm>
              <a:off x="6095999" y="3939778"/>
              <a:ext cx="381000" cy="269081"/>
            </a:xfrm>
            <a:prstGeom prst="diamond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667000" y="3637717"/>
              <a:ext cx="9197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*</a:t>
              </a:r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031709" y="3570446"/>
              <a:ext cx="497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362728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2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831" y="1392271"/>
            <a:ext cx="4566565" cy="923549"/>
          </a:xfr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Aggregation: “is part of”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/>
              <a:t>symbolized by a clear white diamond</a:t>
            </a:r>
            <a:endParaRPr lang="en-US" sz="1800" dirty="0"/>
          </a:p>
        </p:txBody>
      </p:sp>
      <p:grpSp>
        <p:nvGrpSpPr>
          <p:cNvPr id="10" name="Group 9"/>
          <p:cNvGrpSpPr/>
          <p:nvPr/>
        </p:nvGrpSpPr>
        <p:grpSpPr>
          <a:xfrm>
            <a:off x="5267709" y="1355478"/>
            <a:ext cx="3723891" cy="973107"/>
            <a:chOff x="990600" y="3315622"/>
            <a:chExt cx="7030616" cy="973107"/>
          </a:xfrm>
        </p:grpSpPr>
        <p:grpSp>
          <p:nvGrpSpPr>
            <p:cNvPr id="4" name="Group 3"/>
            <p:cNvGrpSpPr/>
            <p:nvPr/>
          </p:nvGrpSpPr>
          <p:grpSpPr>
            <a:xfrm>
              <a:off x="64770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5" name="Flowchart: Process 4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Car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6" name="Flowchart: Process 5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9906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8" name="Flowchart: Process 7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Engine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9" name="Flowchart: Process 8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11" name="Straight Connector 10"/>
            <p:cNvCxnSpPr>
              <a:stCxn id="9" idx="3"/>
              <a:endCxn id="12" idx="1"/>
            </p:cNvCxnSpPr>
            <p:nvPr/>
          </p:nvCxnSpPr>
          <p:spPr>
            <a:xfrm>
              <a:off x="2534815" y="4074319"/>
              <a:ext cx="3561184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Diamond 11"/>
            <p:cNvSpPr/>
            <p:nvPr/>
          </p:nvSpPr>
          <p:spPr>
            <a:xfrm>
              <a:off x="6095999" y="3939778"/>
              <a:ext cx="381000" cy="269081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67000" y="3637717"/>
              <a:ext cx="9197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31709" y="3570446"/>
              <a:ext cx="497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23" name="Content Placeholder 2"/>
          <p:cNvSpPr txBox="1">
            <a:spLocks/>
          </p:cNvSpPr>
          <p:nvPr/>
        </p:nvSpPr>
        <p:spPr>
          <a:xfrm>
            <a:off x="260831" y="2832572"/>
            <a:ext cx="4576475" cy="17592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/>
              <a:t>Composition: “is entirely made of”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stronger version of aggregation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/>
              <a:t>the </a:t>
            </a:r>
            <a:r>
              <a:rPr lang="en-US" sz="1800" dirty="0"/>
              <a:t>parts live and die with the whole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/>
              <a:t>symbolized </a:t>
            </a:r>
            <a:r>
              <a:rPr lang="en-US" sz="1800" dirty="0"/>
              <a:t>by a black diamond</a:t>
            </a:r>
            <a:endParaRPr lang="en-US" sz="20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5267709" y="3205440"/>
            <a:ext cx="3723891" cy="973107"/>
            <a:chOff x="990600" y="3315622"/>
            <a:chExt cx="7030616" cy="973107"/>
          </a:xfrm>
        </p:grpSpPr>
        <p:grpSp>
          <p:nvGrpSpPr>
            <p:cNvPr id="25" name="Group 24"/>
            <p:cNvGrpSpPr/>
            <p:nvPr/>
          </p:nvGrpSpPr>
          <p:grpSpPr>
            <a:xfrm>
              <a:off x="64770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5" name="Flowchart: Process 34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Book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36" name="Flowchart: Process 35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990600" y="3315622"/>
              <a:ext cx="1544216" cy="973107"/>
              <a:chOff x="6092889" y="3733800"/>
              <a:chExt cx="2828265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3" name="Flowchart: Process 32"/>
              <p:cNvSpPr/>
              <p:nvPr/>
            </p:nvSpPr>
            <p:spPr>
              <a:xfrm>
                <a:off x="6092889" y="3733800"/>
                <a:ext cx="2828265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Page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34" name="Flowchart: Process 33"/>
              <p:cNvSpPr/>
              <p:nvPr/>
            </p:nvSpPr>
            <p:spPr>
              <a:xfrm>
                <a:off x="6092889" y="4278087"/>
                <a:ext cx="2828264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29" name="Straight Connector 28"/>
            <p:cNvCxnSpPr>
              <a:stCxn id="34" idx="3"/>
              <a:endCxn id="30" idx="1"/>
            </p:cNvCxnSpPr>
            <p:nvPr/>
          </p:nvCxnSpPr>
          <p:spPr>
            <a:xfrm>
              <a:off x="2534815" y="4074319"/>
              <a:ext cx="3561184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Diamond 29"/>
            <p:cNvSpPr/>
            <p:nvPr/>
          </p:nvSpPr>
          <p:spPr>
            <a:xfrm>
              <a:off x="6095999" y="3939778"/>
              <a:ext cx="381000" cy="269081"/>
            </a:xfrm>
            <a:prstGeom prst="diamond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667000" y="3637717"/>
              <a:ext cx="9197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*</a:t>
              </a:r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031709" y="3570446"/>
              <a:ext cx="497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37" name="Content Placeholder 2"/>
          <p:cNvSpPr txBox="1">
            <a:spLocks/>
          </p:cNvSpPr>
          <p:nvPr/>
        </p:nvSpPr>
        <p:spPr>
          <a:xfrm>
            <a:off x="260832" y="4869388"/>
            <a:ext cx="4433833" cy="14552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Calibri" panose="020F0502020204030204" pitchFamily="34" charset="0"/>
              <a:buChar char="ꟷ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/>
              <a:t>Dependency: “uses temporarily”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symbolized by dotted line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/>
              <a:t>often </a:t>
            </a:r>
            <a:r>
              <a:rPr lang="en-US" sz="1800" dirty="0"/>
              <a:t>is an implementation detail, </a:t>
            </a:r>
            <a:r>
              <a:rPr lang="en-US" sz="1800" dirty="0" smtClean="0"/>
              <a:t>not an </a:t>
            </a:r>
            <a:r>
              <a:rPr lang="en-US" sz="1800" dirty="0"/>
              <a:t>intrinsic part of the object's state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5257800" y="5034240"/>
            <a:ext cx="3723892" cy="973107"/>
            <a:chOff x="990599" y="3315622"/>
            <a:chExt cx="7030618" cy="973107"/>
          </a:xfrm>
        </p:grpSpPr>
        <p:grpSp>
          <p:nvGrpSpPr>
            <p:cNvPr id="39" name="Group 38"/>
            <p:cNvGrpSpPr/>
            <p:nvPr/>
          </p:nvGrpSpPr>
          <p:grpSpPr>
            <a:xfrm>
              <a:off x="6114708" y="3315622"/>
              <a:ext cx="1906509" cy="973107"/>
              <a:chOff x="5429344" y="3733800"/>
              <a:chExt cx="3491813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Flowchart: Process 46"/>
              <p:cNvSpPr/>
              <p:nvPr/>
            </p:nvSpPr>
            <p:spPr>
              <a:xfrm>
                <a:off x="5429344" y="3733800"/>
                <a:ext cx="3491813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Random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48" name="Flowchart: Process 47"/>
              <p:cNvSpPr/>
              <p:nvPr/>
            </p:nvSpPr>
            <p:spPr>
              <a:xfrm>
                <a:off x="5429344" y="4278087"/>
                <a:ext cx="3491813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990599" y="3315622"/>
              <a:ext cx="1695108" cy="973107"/>
              <a:chOff x="6092889" y="3733800"/>
              <a:chExt cx="3104628" cy="97310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5" name="Flowchart: Process 44"/>
              <p:cNvSpPr/>
              <p:nvPr/>
            </p:nvSpPr>
            <p:spPr>
              <a:xfrm>
                <a:off x="6092889" y="3733800"/>
                <a:ext cx="3104628" cy="544286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800000"/>
                    </a:solidFill>
                  </a:rPr>
                  <a:t>Lottery</a:t>
                </a:r>
                <a:endParaRPr lang="en-US" b="1" dirty="0">
                  <a:solidFill>
                    <a:srgbClr val="800000"/>
                  </a:solidFill>
                </a:endParaRPr>
              </a:p>
            </p:txBody>
          </p:sp>
          <p:sp>
            <p:nvSpPr>
              <p:cNvPr id="46" name="Flowchart: Process 45"/>
              <p:cNvSpPr/>
              <p:nvPr/>
            </p:nvSpPr>
            <p:spPr>
              <a:xfrm>
                <a:off x="6092889" y="4278087"/>
                <a:ext cx="3104628" cy="428820"/>
              </a:xfrm>
              <a:prstGeom prst="flowChartProcess">
                <a:avLst/>
              </a:prstGeom>
              <a:grpFill/>
              <a:ln w="190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b="1" spc="-100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41" name="Straight Connector 40"/>
            <p:cNvCxnSpPr>
              <a:stCxn id="46" idx="3"/>
              <a:endCxn id="48" idx="1"/>
            </p:cNvCxnSpPr>
            <p:nvPr/>
          </p:nvCxnSpPr>
          <p:spPr>
            <a:xfrm>
              <a:off x="2685707" y="4074319"/>
              <a:ext cx="3429002" cy="0"/>
            </a:xfrm>
            <a:prstGeom prst="line">
              <a:avLst/>
            </a:prstGeom>
            <a:ln w="19050"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2667000" y="3637717"/>
              <a:ext cx="9197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031708" y="3570446"/>
              <a:ext cx="3487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21059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23" grpId="0" build="p" animBg="1"/>
      <p:bldP spid="37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312692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 an association between two classes, the association itself might have properties.</a:t>
            </a:r>
          </a:p>
          <a:p>
            <a:r>
              <a:rPr lang="en-US" dirty="0" smtClean="0"/>
              <a:t> For example, in an employer/employee relationship between a Company and a Person, there is a Job that represents the properties of that relationship that apply to exactly one pairing of the Person and Company. </a:t>
            </a:r>
          </a:p>
          <a:p>
            <a:r>
              <a:rPr lang="en-US" dirty="0" smtClean="0"/>
              <a:t>It wouldn't be appropriate to model this situation with a Company to Job association together with a Job to Person association. That wouldn't tie a specific instance of the Job to the specific pairing of Company and Person.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4029379"/>
            <a:ext cx="4362450" cy="260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Video rental store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066800"/>
            <a:ext cx="8164891" cy="48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95618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Example of Inheritance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95400"/>
            <a:ext cx="7162800" cy="5128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Inheritance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752600"/>
            <a:ext cx="7684034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guru99.com/images/1/051818_1150_UMLClassDia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5412"/>
            <a:ext cx="7143750" cy="628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5058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9975"/>
            <a:ext cx="8229600" cy="471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86000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3076" y="609600"/>
            <a:ext cx="7768923" cy="5532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25609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0490"/>
            <a:ext cx="7620000" cy="6506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260491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00" y="466725"/>
            <a:ext cx="8305800" cy="592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12942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4458"/>
            <a:ext cx="7620000" cy="6479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4203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ass-example-online-shopping-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1245"/>
            <a:ext cx="6731291" cy="6508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7176" y="1752600"/>
            <a:ext cx="8703046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4249" y="1143000"/>
            <a:ext cx="9152498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474393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2950" y="304800"/>
            <a:ext cx="7658100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617247208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2-Lifecyc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Lecture2-Lifecycle</Template>
  <TotalTime>7699</TotalTime>
  <Words>764</Words>
  <Application>Microsoft Office PowerPoint</Application>
  <PresentationFormat>On-screen Show (4:3)</PresentationFormat>
  <Paragraphs>158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Lecture2-Lifecycle</vt:lpstr>
      <vt:lpstr>HDOfficeLightV0</vt:lpstr>
      <vt:lpstr>What is a UML class diagram?</vt:lpstr>
      <vt:lpstr>Benefits of Class Diagram </vt:lpstr>
      <vt:lpstr>Diagram of a single class</vt:lpstr>
      <vt:lpstr>Class attributes (fields, instance variables)</vt:lpstr>
      <vt:lpstr>Class operations / methods</vt:lpstr>
      <vt:lpstr>Relationships between class</vt:lpstr>
      <vt:lpstr>Generalization relationships</vt:lpstr>
      <vt:lpstr>Association (usage) relationships</vt:lpstr>
      <vt:lpstr>Association multiplicities</vt:lpstr>
      <vt:lpstr>Association types</vt:lpstr>
      <vt:lpstr>Association Class</vt:lpstr>
      <vt:lpstr>Example: Video rental store</vt:lpstr>
      <vt:lpstr>More Example of Inheritance</vt:lpstr>
      <vt:lpstr>Multiple Inheritance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University of Washington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CS435</dc:title>
  <dc:creator>Amiangshu Bosu;Marty Stepp</dc:creator>
  <dc:description>Amiangshu Bosu, SIU Carbondale</dc:description>
  <cp:lastModifiedBy>user</cp:lastModifiedBy>
  <cp:revision>968</cp:revision>
  <dcterms:created xsi:type="dcterms:W3CDTF">2008-06-28T20:57:21Z</dcterms:created>
  <dcterms:modified xsi:type="dcterms:W3CDTF">2026-07-25T15:14:31Z</dcterms:modified>
</cp:coreProperties>
</file>