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3" r:id="rId1"/>
    <p:sldMasterId id="2147483708" r:id="rId2"/>
  </p:sldMasterIdLst>
  <p:notesMasterIdLst>
    <p:notesMasterId r:id="rId17"/>
  </p:notesMasterIdLst>
  <p:sldIdLst>
    <p:sldId id="331" r:id="rId3"/>
    <p:sldId id="329" r:id="rId4"/>
    <p:sldId id="330" r:id="rId5"/>
    <p:sldId id="334" r:id="rId6"/>
    <p:sldId id="335" r:id="rId7"/>
    <p:sldId id="336" r:id="rId8"/>
    <p:sldId id="337" r:id="rId9"/>
    <p:sldId id="338" r:id="rId10"/>
    <p:sldId id="339" r:id="rId11"/>
    <p:sldId id="340" r:id="rId12"/>
    <p:sldId id="341" r:id="rId13"/>
    <p:sldId id="342" r:id="rId14"/>
    <p:sldId id="343" r:id="rId15"/>
    <p:sldId id="344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 xmlns="">
        <p14:section name="Default Section" id="{8F6A5996-904E-405E-B05A-5BFAEB1BEB7D}">
          <p14:sldIdLst>
            <p14:sldId id="328"/>
            <p14:sldId id="332"/>
            <p14:sldId id="333"/>
            <p14:sldId id="331"/>
            <p14:sldId id="329"/>
            <p14:sldId id="330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800000"/>
    <a:srgbClr val="0033CC"/>
    <a:srgbClr val="008000"/>
    <a:srgbClr val="FCD4D4"/>
    <a:srgbClr val="E1F2F3"/>
    <a:srgbClr val="FFFFC0"/>
    <a:srgbClr val="FFFF8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4523" autoAdjust="0"/>
    <p:restoredTop sz="88785" autoAdjust="0"/>
  </p:normalViewPr>
  <p:slideViewPr>
    <p:cSldViewPr>
      <p:cViewPr varScale="1">
        <p:scale>
          <a:sx n="66" d="100"/>
          <a:sy n="66" d="100"/>
        </p:scale>
        <p:origin x="-103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E1CAB84F-B75A-4984-8F3C-AF33274BE41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438181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B80F6-D8F9-4861-A47D-FB5C54C59CB3}" type="datetime1">
              <a:rPr lang="en-US" smtClean="0"/>
              <a:pPr/>
              <a:t>11/15/2016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22878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2033"/>
            <a:ext cx="7886700" cy="859516"/>
          </a:xfrm>
        </p:spPr>
        <p:txBody>
          <a:bodyPr/>
          <a:lstStyle>
            <a:lvl1pPr algn="ctr">
              <a:defRPr>
                <a:solidFill>
                  <a:srgbClr val="0033CC"/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16479"/>
            <a:ext cx="7886700" cy="4960484"/>
          </a:xfrm>
        </p:spPr>
        <p:txBody>
          <a:bodyPr/>
          <a:lstStyle>
            <a:lvl2pPr marL="514350" indent="-171450">
              <a:buFont typeface="Calibri" panose="020F0502020204030204" pitchFamily="34" charset="0"/>
              <a:buChar char="ꟷ"/>
              <a:defRPr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0078F-E661-48DF-8D03-D0A50507C023}" type="datetime1">
              <a:rPr lang="en-US" smtClean="0"/>
              <a:pPr/>
              <a:t>11/15/2016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09404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983A8-167A-4325-AC58-C125C20F04E5}" type="datetime1">
              <a:rPr lang="en-US" smtClean="0"/>
              <a:pPr/>
              <a:t>11/15/2016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30606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9C363-00E5-4873-92AC-6FCDF94FB804}" type="datetime1">
              <a:rPr lang="en-US" smtClean="0"/>
              <a:pPr/>
              <a:t>11/15/2016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07176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00710-5570-4B4A-AE9F-426CB1D545EA}" type="datetime1">
              <a:rPr lang="en-US" smtClean="0"/>
              <a:pPr/>
              <a:t>11/15/2016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15428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DCFBE-BA8E-42DA-94C4-303826948E42}" type="datetime1">
              <a:rPr lang="en-US" smtClean="0"/>
              <a:pPr/>
              <a:t>11/15/2016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49026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0F559-AD7B-4E56-ABF5-FF34E2DBC8A2}" type="datetime1">
              <a:rPr lang="en-US" smtClean="0"/>
              <a:pPr/>
              <a:t>11/15/2016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71498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64ED-635C-40CA-8BE7-BE2C04A36912}" type="datetime1">
              <a:rPr lang="en-US" smtClean="0"/>
              <a:pPr/>
              <a:t>11/15/2016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48907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4CA45-0C1D-4CDA-AED5-977A475009FE}" type="datetime1">
              <a:rPr lang="en-US" smtClean="0"/>
              <a:pPr/>
              <a:t>11/15/2016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95870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F6BA6-EDF0-41F8-A44F-28D36A9FF955}" type="datetime1">
              <a:rPr lang="en-US" smtClean="0"/>
              <a:pPr/>
              <a:t>11/15/2016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67344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F9962-6CD1-4735-8959-BF829C68AEB8}" type="datetime1">
              <a:rPr lang="en-US" smtClean="0"/>
              <a:pPr/>
              <a:t>11/15/2016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680096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023CF-EEE8-42B3-B379-29CA3A9AD32E}" type="datetime1">
              <a:rPr lang="en-US" smtClean="0"/>
              <a:pPr/>
              <a:t>11/15/2016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339690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94CBB-8DC2-4B02-880A-5B1B61C50280}" type="datetime1">
              <a:rPr lang="en-US" smtClean="0"/>
              <a:pPr/>
              <a:t>11/15/2016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466159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360FF-FF94-4CBA-8E0A-430FBA53ACAB}" type="datetime1">
              <a:rPr lang="en-US" smtClean="0"/>
              <a:pPr/>
              <a:t>11/15/2016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77636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A2FF-3C94-4AD5-ADB2-25FC35199BC0}" type="datetime1">
              <a:rPr lang="en-US" smtClean="0"/>
              <a:pPr/>
              <a:t>11/15/2016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438485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118A-8C73-4274-903B-9E0E12B37512}" type="datetime1">
              <a:rPr lang="en-US" smtClean="0"/>
              <a:pPr/>
              <a:t>11/15/2016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588469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3F233-675C-4E2D-ADE1-062026707D88}" type="datetime1">
              <a:rPr lang="en-US" smtClean="0"/>
              <a:pPr/>
              <a:t>11/15/2016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42622403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5D0C5-1A3B-4AF9-B1AF-82EC1777D8DE}" type="datetime1">
              <a:rPr lang="en-US" smtClean="0"/>
              <a:pPr/>
              <a:t>11/15/2016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615246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7B099-D8CB-4603-B933-8D2B27420331}" type="datetime1">
              <a:rPr lang="en-US" smtClean="0"/>
              <a:pPr/>
              <a:t>11/15/2016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659083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7F949-74B6-4108-8BF4-F11AB8FB4A07}" type="datetime1">
              <a:rPr lang="en-US" smtClean="0"/>
              <a:pPr/>
              <a:t>11/15/2016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115771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ABA2-14F6-4CC3-9DAC-BBBB0D99BD97}" type="datetime1">
              <a:rPr lang="en-US" smtClean="0"/>
              <a:pPr/>
              <a:t>11/15/2016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392558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C58A-6D66-4D15-BB59-04E72387B4C0}" type="datetime1">
              <a:rPr lang="en-US" smtClean="0"/>
              <a:pPr/>
              <a:t>11/15/2016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35732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68349D-D56D-48A9-A584-3FF7CB447BAA}" type="datetime1">
              <a:rPr lang="en-US" smtClean="0"/>
              <a:pPr/>
              <a:t>11/15/2016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0" y="6692348"/>
            <a:ext cx="9144001" cy="165652"/>
          </a:xfrm>
          <a:prstGeom prst="rect">
            <a:avLst/>
          </a:prstGeom>
          <a:solidFill>
            <a:srgbClr val="6600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9pPr>
          </a:lstStyle>
          <a:p>
            <a:endParaRPr lang="en-US" kern="0" dirty="0"/>
          </a:p>
        </p:txBody>
      </p:sp>
      <p:sp>
        <p:nvSpPr>
          <p:cNvPr id="9" name="Slide Number Placeholder 3"/>
          <p:cNvSpPr txBox="1">
            <a:spLocks noGrp="1"/>
          </p:cNvSpPr>
          <p:nvPr userDrawn="1"/>
        </p:nvSpPr>
        <p:spPr bwMode="auto">
          <a:xfrm>
            <a:off x="8305800" y="6262916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500"/>
              </a:spcBef>
            </a:pPr>
            <a:fld id="{F7051C5F-0994-4C42-8BDD-F9DE4AC27786}" type="slidenum">
              <a:rPr lang="en-US" altLang="en-US" sz="1200">
                <a:solidFill>
                  <a:srgbClr val="424242"/>
                </a:solidFill>
                <a:latin typeface="+mn-lt"/>
              </a:rPr>
              <a:pPr eaLnBrk="1" hangingPunct="1">
                <a:spcBef>
                  <a:spcPts val="500"/>
                </a:spcBef>
              </a:pPr>
              <a:t>‹#›</a:t>
            </a:fld>
            <a:endParaRPr lang="en-US" alt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13765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3845" y="14700"/>
            <a:ext cx="7886700" cy="899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118507"/>
            <a:ext cx="7886700" cy="50616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E797AAD-96CD-4A47-B0D1-61BA85EB678F}" type="datetime1">
              <a:rPr lang="en-US" smtClean="0"/>
              <a:pPr/>
              <a:t>11/15/2016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1877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rgbClr val="0033CC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Equivalence partitioning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Divides </a:t>
            </a:r>
            <a:r>
              <a:rPr lang="en-US" dirty="0"/>
              <a:t>the input data of a software unit into partitions of equivalent </a:t>
            </a:r>
            <a:r>
              <a:rPr lang="en-US" dirty="0" smtClean="0"/>
              <a:t>data assuming that all </a:t>
            </a:r>
            <a:r>
              <a:rPr lang="en-US" dirty="0"/>
              <a:t>the conditions in one partition will be treated in the same way by the software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We </a:t>
            </a:r>
            <a:r>
              <a:rPr lang="en-US" dirty="0"/>
              <a:t>need to test only one condition from each partition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 If one condition in a partition works, we assume all of the conditions in that partition will work, and so there is little point in testing any of these others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Similarly, if one of the conditions in a partition does not work, then we assume that none of the conditions in that partition will </a:t>
            </a:r>
            <a:r>
              <a:rPr lang="en-US" dirty="0" smtClean="0"/>
              <a:t>work.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73745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Program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</a:t>
            </a:r>
            <a:r>
              <a:rPr lang="en-US" dirty="0" smtClean="0"/>
              <a:t> </a:t>
            </a:r>
            <a:r>
              <a:rPr lang="en-US" dirty="0"/>
              <a:t>savings account in a bank has a different rate of interest depending on the balance in the account. </a:t>
            </a:r>
            <a:r>
              <a:rPr lang="en-US" dirty="0" smtClean="0"/>
              <a:t>The rate chart is as following: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0.5% </a:t>
            </a:r>
            <a:r>
              <a:rPr lang="en-US" dirty="0"/>
              <a:t>rate of interest is given if the balance in the account is in the range of $0 to $</a:t>
            </a:r>
            <a:r>
              <a:rPr lang="en-US" dirty="0" smtClean="0"/>
              <a:t>1000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0.75% </a:t>
            </a:r>
            <a:r>
              <a:rPr lang="en-US" dirty="0"/>
              <a:t>rate of interest is given if the balance in the account is in the range of $</a:t>
            </a:r>
            <a:r>
              <a:rPr lang="en-US" dirty="0" smtClean="0"/>
              <a:t>1000 </a:t>
            </a:r>
            <a:r>
              <a:rPr lang="en-US" dirty="0"/>
              <a:t>to $</a:t>
            </a:r>
            <a:r>
              <a:rPr lang="en-US" dirty="0" smtClean="0"/>
              <a:t>10000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1% </a:t>
            </a:r>
            <a:r>
              <a:rPr lang="en-US" dirty="0"/>
              <a:t>rate of interest is given if the balance in the account </a:t>
            </a:r>
            <a:r>
              <a:rPr lang="en-US" dirty="0" smtClean="0"/>
              <a:t>is above </a:t>
            </a:r>
            <a:r>
              <a:rPr lang="en-US" dirty="0"/>
              <a:t>$</a:t>
            </a:r>
            <a:r>
              <a:rPr lang="en-US" dirty="0" smtClean="0"/>
              <a:t>10000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165587845"/>
              </p:ext>
            </p:extLst>
          </p:nvPr>
        </p:nvGraphicFramePr>
        <p:xfrm>
          <a:off x="752474" y="4191000"/>
          <a:ext cx="7762876" cy="186948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60972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72848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Invalid</a:t>
                      </a:r>
                      <a:r>
                        <a:rPr lang="en-US" sz="2000" baseline="0" dirty="0" smtClean="0"/>
                        <a:t> data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Partition</a:t>
                      </a:r>
                      <a:r>
                        <a:rPr lang="en-US" sz="2000" baseline="0" dirty="0" smtClean="0"/>
                        <a:t> 2</a:t>
                      </a:r>
                      <a:endParaRPr lang="en-US" sz="20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Partition 3</a:t>
                      </a:r>
                      <a:endParaRPr lang="en-US" sz="20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Partition 4</a:t>
                      </a:r>
                      <a:endParaRPr lang="en-US" sz="20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93952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Balance</a:t>
                      </a:r>
                      <a:r>
                        <a:rPr lang="en-US" sz="1800" baseline="0" dirty="0" smtClean="0"/>
                        <a:t> &lt;0</a:t>
                      </a:r>
                      <a:endParaRPr lang="en-US" sz="1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0 ≤ Balance</a:t>
                      </a:r>
                      <a:r>
                        <a:rPr lang="en-US" sz="1800" baseline="0" dirty="0" smtClean="0"/>
                        <a:t> &lt;1000</a:t>
                      </a:r>
                      <a:endParaRPr lang="en-US" sz="1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1000 ≤ Balance&lt;</a:t>
                      </a:r>
                      <a:r>
                        <a:rPr lang="en-US" sz="1800" baseline="0" dirty="0" smtClean="0"/>
                        <a:t> 10000</a:t>
                      </a:r>
                      <a:endParaRPr lang="en-US" sz="1800" dirty="0" smtClean="0"/>
                    </a:p>
                    <a:p>
                      <a:endParaRPr lang="en-US" sz="1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10000 ≤ Balance</a:t>
                      </a:r>
                      <a:endParaRPr lang="en-US" sz="1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5655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 Interest</a:t>
                      </a:r>
                      <a:r>
                        <a:rPr lang="en-US" sz="1800" baseline="0" dirty="0" smtClean="0"/>
                        <a:t> = undefined</a:t>
                      </a:r>
                      <a:endParaRPr lang="en-US" sz="1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Interest</a:t>
                      </a:r>
                      <a:r>
                        <a:rPr lang="en-US" sz="1800" baseline="0" dirty="0" smtClean="0"/>
                        <a:t> = 0.5%</a:t>
                      </a:r>
                      <a:endParaRPr lang="en-US" sz="1800" dirty="0" smtClean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Interest</a:t>
                      </a:r>
                      <a:r>
                        <a:rPr lang="en-US" sz="1800" baseline="0" dirty="0" smtClean="0"/>
                        <a:t> = 0.75%</a:t>
                      </a:r>
                      <a:endParaRPr lang="en-US" sz="1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Interest</a:t>
                      </a:r>
                      <a:r>
                        <a:rPr lang="en-US" sz="1800" baseline="0" dirty="0" smtClean="0"/>
                        <a:t> = 1.0%</a:t>
                      </a:r>
                      <a:endParaRPr lang="en-US" sz="1800" dirty="0" smtClean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43870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not to test?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16479"/>
            <a:ext cx="7886700" cy="536121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loat </a:t>
            </a:r>
            <a:r>
              <a:rPr lang="en-US" b="1" dirty="0" err="1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calculateSavingsInterest</a:t>
            </a:r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(float balance)</a:t>
            </a:r>
            <a:endParaRPr lang="en-US" b="1" dirty="0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1563" y="1868844"/>
            <a:ext cx="8458200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Calibri" panose="020F0502020204030204" pitchFamily="34" charset="0"/>
              <a:buChar char="ꟷ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interestCalc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calculateSavingsInterest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(0);</a:t>
            </a:r>
          </a:p>
          <a:p>
            <a:pPr marL="0" indent="0">
              <a:buNone/>
            </a:pP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assertEquals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(0.0,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interestCalc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interestCalc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calculateSavingsInterest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(500.0);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assertEquals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(2.5,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interestCalc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interestCalc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calculateSavingsInterest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(1000.0);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assertEquals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(7.5,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interestCalc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interestCalc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calculateSavingsInterest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(2000.0);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assertEquals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(15.0,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interestCalc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…  …  …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interestCalc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calculateSavingsInterest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(5000.0);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assertEquals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(37.5,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interestCalc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905000" y="6023689"/>
            <a:ext cx="5551326" cy="5361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Calibri" panose="020F0502020204030204" pitchFamily="34" charset="0"/>
              <a:buChar char="ꟷ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 smtClean="0">
                <a:solidFill>
                  <a:srgbClr val="800000"/>
                </a:solidFill>
                <a:cs typeface="Courier New" panose="02070309020205020404" pitchFamily="49" charset="0"/>
              </a:rPr>
              <a:t>How many partitions tested? </a:t>
            </a:r>
            <a:endParaRPr lang="en-US" sz="3200" b="1" dirty="0">
              <a:solidFill>
                <a:srgbClr val="800000"/>
              </a:solidFill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24779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test?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16479"/>
            <a:ext cx="7886700" cy="536121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loat </a:t>
            </a:r>
            <a:r>
              <a:rPr lang="en-US" b="1" dirty="0" err="1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calculateSavingsInterest</a:t>
            </a:r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(float balance)</a:t>
            </a:r>
            <a:endParaRPr lang="en-US" b="1" dirty="0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28649" y="1868844"/>
            <a:ext cx="8281113" cy="4038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Calibri" panose="020F0502020204030204" pitchFamily="34" charset="0"/>
              <a:buChar char="ꟷ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ry{</a:t>
            </a:r>
          </a:p>
          <a:p>
            <a:pPr marL="0" indent="0"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float 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interestCalc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calculateSavingsInterest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(-1.0);</a:t>
            </a:r>
          </a:p>
          <a:p>
            <a:pPr marL="0" indent="0">
              <a:buNone/>
            </a:pP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fail(“Exception expected”)</a:t>
            </a:r>
          </a:p>
          <a:p>
            <a:pPr marL="0" indent="0"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}catch(Exception ex){}</a:t>
            </a:r>
          </a:p>
          <a:p>
            <a:pPr marL="0" indent="0">
              <a:buNone/>
            </a:pPr>
            <a:endParaRPr lang="en-US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interestCalc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calculateSavingsInterest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(100.0);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assertEquals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(0.50,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interestCalc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endParaRPr lang="en-US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interestCalc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calculateSavingsInterest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(2000.0);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assertEquals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(15.0,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interestCalc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endParaRPr lang="en-US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interestCalc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calculateSavingsInterest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(20000.0);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assertEquals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(200.0,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interestCalc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52400" y="2209800"/>
            <a:ext cx="476249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Calibri" panose="020F0502020204030204" pitchFamily="34" charset="0"/>
              <a:buChar char="ꟷ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 smtClean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b="1" dirty="0" smtClean="0">
              <a:solidFill>
                <a:srgbClr val="8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="1" dirty="0">
              <a:solidFill>
                <a:srgbClr val="8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 smtClean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800" b="1" dirty="0" smtClean="0">
              <a:solidFill>
                <a:srgbClr val="8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 smtClean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b="1" dirty="0" smtClean="0">
              <a:solidFill>
                <a:srgbClr val="8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="1" dirty="0" smtClean="0">
              <a:solidFill>
                <a:srgbClr val="8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 smtClean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b="1" dirty="0">
              <a:solidFill>
                <a:srgbClr val="8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95216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Boundary value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Boundary value analysis </a:t>
            </a:r>
            <a:r>
              <a:rPr lang="en-US" dirty="0" smtClean="0"/>
              <a:t>is </a:t>
            </a:r>
            <a:r>
              <a:rPr lang="en-US" dirty="0"/>
              <a:t>based on testing at the boundaries between </a:t>
            </a:r>
            <a:r>
              <a:rPr lang="en-US" dirty="0" smtClean="0"/>
              <a:t>partitions</a:t>
            </a:r>
          </a:p>
          <a:p>
            <a:endParaRPr lang="en-US" dirty="0"/>
          </a:p>
          <a:p>
            <a:r>
              <a:rPr lang="en-US" dirty="0"/>
              <a:t>More application </a:t>
            </a:r>
            <a:r>
              <a:rPr lang="en-US" b="1" dirty="0"/>
              <a:t>errors occur at the boundaries</a:t>
            </a:r>
            <a:r>
              <a:rPr lang="en-US" dirty="0"/>
              <a:t> of input domain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Used to </a:t>
            </a:r>
            <a:r>
              <a:rPr lang="en-US" dirty="0"/>
              <a:t>identify errors at boundaries rather than finding those exist in center of input domain.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245155001"/>
              </p:ext>
            </p:extLst>
          </p:nvPr>
        </p:nvGraphicFramePr>
        <p:xfrm>
          <a:off x="628650" y="3886200"/>
          <a:ext cx="7762876" cy="262604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60972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72848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Invalid</a:t>
                      </a:r>
                      <a:r>
                        <a:rPr lang="en-US" sz="2000" baseline="0" dirty="0" smtClean="0"/>
                        <a:t> data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Partition</a:t>
                      </a:r>
                      <a:r>
                        <a:rPr lang="en-US" sz="2000" baseline="0" dirty="0" smtClean="0"/>
                        <a:t> 2</a:t>
                      </a:r>
                      <a:endParaRPr lang="en-US" sz="20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Partition 3</a:t>
                      </a:r>
                      <a:endParaRPr lang="en-US" sz="20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Partition 4</a:t>
                      </a:r>
                      <a:endParaRPr lang="en-US" sz="20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93952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Balance</a:t>
                      </a:r>
                      <a:r>
                        <a:rPr lang="en-US" sz="1800" baseline="0" dirty="0" smtClean="0"/>
                        <a:t> &lt;0</a:t>
                      </a:r>
                      <a:endParaRPr lang="en-US" sz="1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0 ≤ Balance</a:t>
                      </a:r>
                      <a:r>
                        <a:rPr lang="en-US" sz="1800" baseline="0" dirty="0" smtClean="0"/>
                        <a:t> &lt;1000</a:t>
                      </a:r>
                      <a:endParaRPr lang="en-US" sz="1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1000 ≤ Balance</a:t>
                      </a:r>
                      <a:r>
                        <a:rPr lang="en-US" sz="1800" baseline="0" dirty="0" smtClean="0"/>
                        <a:t> &lt;10000</a:t>
                      </a:r>
                      <a:endParaRPr lang="en-US" sz="1800" dirty="0" smtClean="0"/>
                    </a:p>
                    <a:p>
                      <a:endParaRPr lang="en-US" sz="1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10000 ≤ Balance</a:t>
                      </a:r>
                      <a:endParaRPr lang="en-US" sz="1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5655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 Interest</a:t>
                      </a:r>
                      <a:r>
                        <a:rPr lang="en-US" sz="1800" baseline="0" dirty="0" smtClean="0"/>
                        <a:t> = undefined</a:t>
                      </a:r>
                      <a:endParaRPr lang="en-US" sz="1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Interest</a:t>
                      </a:r>
                      <a:r>
                        <a:rPr lang="en-US" sz="1800" baseline="0" dirty="0" smtClean="0"/>
                        <a:t> = 0.5%</a:t>
                      </a:r>
                      <a:endParaRPr lang="en-US" sz="1800" dirty="0" smtClean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Interest</a:t>
                      </a:r>
                      <a:r>
                        <a:rPr lang="en-US" sz="1800" baseline="0" dirty="0" smtClean="0"/>
                        <a:t> = 0.75%</a:t>
                      </a:r>
                      <a:endParaRPr lang="en-US" sz="1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Interest</a:t>
                      </a:r>
                      <a:r>
                        <a:rPr lang="en-US" sz="1800" baseline="0" dirty="0" smtClean="0"/>
                        <a:t> = 1.0%</a:t>
                      </a:r>
                      <a:endParaRPr lang="en-US" sz="1800" dirty="0" smtClean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56557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800000"/>
                          </a:solidFill>
                        </a:rPr>
                        <a:t>-0.01</a:t>
                      </a:r>
                      <a:endParaRPr lang="en-US" sz="1800" dirty="0">
                        <a:solidFill>
                          <a:srgbClr val="80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rgbClr val="800000"/>
                          </a:solidFill>
                        </a:rPr>
                        <a:t>0, 0.01,</a:t>
                      </a:r>
                      <a:r>
                        <a:rPr lang="en-US" sz="1800" baseline="0" dirty="0" smtClean="0">
                          <a:solidFill>
                            <a:srgbClr val="800000"/>
                          </a:solidFill>
                        </a:rPr>
                        <a:t> 999.99</a:t>
                      </a:r>
                      <a:endParaRPr lang="en-US" sz="1800" dirty="0" smtClean="0">
                        <a:solidFill>
                          <a:srgbClr val="80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rgbClr val="800000"/>
                          </a:solidFill>
                        </a:rPr>
                        <a:t>1000, 9999.99</a:t>
                      </a:r>
                      <a:endParaRPr lang="en-US" sz="1800" dirty="0">
                        <a:solidFill>
                          <a:srgbClr val="80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rgbClr val="800000"/>
                          </a:solidFill>
                        </a:rPr>
                        <a:t>10000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591116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Positive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16479"/>
            <a:ext cx="7886700" cy="1831521"/>
          </a:xfrm>
        </p:spPr>
        <p:txBody>
          <a:bodyPr>
            <a:normAutofit/>
          </a:bodyPr>
          <a:lstStyle/>
          <a:p>
            <a:r>
              <a:rPr lang="en-US" dirty="0" smtClean="0"/>
              <a:t>Positive </a:t>
            </a:r>
            <a:r>
              <a:rPr lang="en-US" dirty="0"/>
              <a:t>testing </a:t>
            </a:r>
            <a:r>
              <a:rPr lang="en-US" dirty="0" smtClean="0"/>
              <a:t>validates </a:t>
            </a:r>
            <a:r>
              <a:rPr lang="en-US" dirty="0"/>
              <a:t>that an application will work on giving valid input data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 </a:t>
            </a:r>
            <a:r>
              <a:rPr lang="en-US" dirty="0" smtClean="0"/>
              <a:t>Verifies that </a:t>
            </a:r>
            <a:r>
              <a:rPr lang="en-US" dirty="0"/>
              <a:t>the application is </a:t>
            </a:r>
            <a:r>
              <a:rPr lang="en-US" dirty="0" smtClean="0"/>
              <a:t>NOT </a:t>
            </a:r>
            <a:r>
              <a:rPr lang="en-US" dirty="0"/>
              <a:t>showing error when it is not supposed to</a:t>
            </a:r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114800" y="3842266"/>
            <a:ext cx="2819400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6184536032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90600" y="3886200"/>
            <a:ext cx="2932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What is your phone number?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1450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Negative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US" dirty="0" smtClean="0"/>
              <a:t>erformed </a:t>
            </a:r>
            <a:r>
              <a:rPr lang="en-US" dirty="0"/>
              <a:t>on the system by providing </a:t>
            </a:r>
            <a:r>
              <a:rPr lang="en-US" b="1" dirty="0"/>
              <a:t>invalid data as input</a:t>
            </a:r>
            <a:r>
              <a:rPr lang="en-US" dirty="0"/>
              <a:t>. 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Checks </a:t>
            </a:r>
            <a:r>
              <a:rPr lang="en-US" dirty="0"/>
              <a:t>whether an application behaves as expected with the negative input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 </a:t>
            </a:r>
            <a:r>
              <a:rPr lang="en-US" dirty="0" smtClean="0"/>
              <a:t>Ensures </a:t>
            </a:r>
            <a:r>
              <a:rPr lang="en-US" dirty="0"/>
              <a:t>that your application can gracefully handle invalid input or unexpected user behavior. 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909066"/>
            <a:ext cx="2819400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xyZ#53()032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90600" y="4953000"/>
            <a:ext cx="2932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What is your phone number?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02972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Typical Negative Testing </a:t>
            </a:r>
            <a:r>
              <a:rPr lang="en-US" dirty="0" smtClean="0"/>
              <a:t>Scenarios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Not populating required fields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981200"/>
            <a:ext cx="4114800" cy="3432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40807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Correspondence between data and field types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762000"/>
            <a:ext cx="2663609" cy="56306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8650" y="3048000"/>
            <a:ext cx="44734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800000"/>
                </a:solidFill>
              </a:rPr>
              <a:t>Populating fields with incorrect data type</a:t>
            </a:r>
            <a:endParaRPr lang="en-US" sz="2000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08947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Allowed number of characters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16479"/>
            <a:ext cx="7886700" cy="2060121"/>
          </a:xfrm>
        </p:spPr>
        <p:txBody>
          <a:bodyPr/>
          <a:lstStyle/>
          <a:p>
            <a:r>
              <a:rPr lang="en-US" dirty="0" smtClean="0"/>
              <a:t>Some applications or webpages may have set maximum / minimum values or number of characters for fields</a:t>
            </a:r>
          </a:p>
          <a:p>
            <a:endParaRPr lang="en-US" dirty="0"/>
          </a:p>
          <a:p>
            <a:r>
              <a:rPr lang="en-US" dirty="0"/>
              <a:t> </a:t>
            </a:r>
            <a:r>
              <a:rPr lang="en-US" dirty="0" smtClean="0"/>
              <a:t>Create </a:t>
            </a:r>
            <a:r>
              <a:rPr lang="en-US" dirty="0"/>
              <a:t>a test that enters more characters into the field than is allowed.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3657600"/>
            <a:ext cx="4425696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835802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Allowed data bounds and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Applications can use input fields that accept data in a certain </a:t>
            </a:r>
            <a:r>
              <a:rPr lang="en-US" dirty="0" smtClean="0"/>
              <a:t>range</a:t>
            </a:r>
          </a:p>
          <a:p>
            <a:endParaRPr lang="en-US" dirty="0"/>
          </a:p>
          <a:p>
            <a:r>
              <a:rPr lang="en-US" dirty="0" smtClean="0"/>
              <a:t>Create </a:t>
            </a:r>
            <a:r>
              <a:rPr lang="en-US" dirty="0"/>
              <a:t>a negative test that enters a value smaller than the lower bound or </a:t>
            </a:r>
            <a:r>
              <a:rPr lang="en-US" dirty="0" smtClean="0"/>
              <a:t>greater </a:t>
            </a:r>
            <a:r>
              <a:rPr lang="en-US" dirty="0"/>
              <a:t>than the upper bound of the specified field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7910" y="3091337"/>
            <a:ext cx="835090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-1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34745" y="3135271"/>
            <a:ext cx="1838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Please enter day?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7910" y="3886200"/>
            <a:ext cx="835090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13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62637" y="3886200"/>
            <a:ext cx="2130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Please enter month?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6388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 of range values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test exceeding the bounds of the data types</a:t>
            </a:r>
          </a:p>
          <a:p>
            <a:endParaRPr lang="en-US" dirty="0" smtClean="0"/>
          </a:p>
          <a:p>
            <a:r>
              <a:rPr lang="en-US" dirty="0" smtClean="0"/>
              <a:t>Integer range:</a:t>
            </a:r>
          </a:p>
          <a:p>
            <a:pPr lvl="1"/>
            <a:r>
              <a:rPr lang="en-US" dirty="0" smtClean="0"/>
              <a:t> -</a:t>
            </a:r>
            <a:r>
              <a:rPr lang="en-US" dirty="0"/>
              <a:t>32,768 to </a:t>
            </a:r>
            <a:r>
              <a:rPr lang="en-US" dirty="0" smtClean="0"/>
              <a:t>32,767 [2 bytes]</a:t>
            </a:r>
          </a:p>
          <a:p>
            <a:pPr lvl="1"/>
            <a:r>
              <a:rPr lang="en-US" dirty="0"/>
              <a:t> -2,147,483,648 to </a:t>
            </a:r>
            <a:r>
              <a:rPr lang="en-US" dirty="0" smtClean="0"/>
              <a:t>2,147,483,647 [4 bytes]</a:t>
            </a:r>
          </a:p>
          <a:p>
            <a:pPr lvl="1"/>
            <a:endParaRPr lang="en-US" dirty="0"/>
          </a:p>
          <a:p>
            <a:r>
              <a:rPr lang="en-US" dirty="0" smtClean="0"/>
              <a:t>Float range:</a:t>
            </a:r>
          </a:p>
          <a:p>
            <a:pPr lvl="1"/>
            <a:r>
              <a:rPr lang="en-US" dirty="0"/>
              <a:t>-3.4E+38 to +3.4E+38</a:t>
            </a:r>
          </a:p>
        </p:txBody>
      </p:sp>
    </p:spTree>
    <p:extLst>
      <p:ext uri="{BB962C8B-B14F-4D97-AF65-F5344CB8AC3E}">
        <p14:creationId xmlns:p14="http://schemas.microsoft.com/office/powerpoint/2010/main" xmlns="" val="2813874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Reasonable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Check application with unreasonable input data</a:t>
            </a:r>
          </a:p>
          <a:p>
            <a:pPr lvl="1"/>
            <a:r>
              <a:rPr lang="en-US" dirty="0" smtClean="0"/>
              <a:t>Name with 300 characters</a:t>
            </a:r>
            <a:endParaRPr lang="en-US" dirty="0"/>
          </a:p>
          <a:p>
            <a:pPr lvl="1"/>
            <a:r>
              <a:rPr lang="en-US" dirty="0" smtClean="0"/>
              <a:t>Human Age: 200 years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200400"/>
            <a:ext cx="4929394" cy="146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40219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session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16479"/>
            <a:ext cx="7886700" cy="1526721"/>
          </a:xfrm>
        </p:spPr>
        <p:txBody>
          <a:bodyPr/>
          <a:lstStyle/>
          <a:p>
            <a:r>
              <a:rPr lang="en-US" dirty="0" smtClean="0"/>
              <a:t>Can we access any URL without logging in?</a:t>
            </a:r>
          </a:p>
          <a:p>
            <a:pPr lvl="1"/>
            <a:r>
              <a:rPr lang="en-US" dirty="0" smtClean="0"/>
              <a:t>Record some of the URL when you were logged in, try those again after you are logged out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2424895"/>
            <a:ext cx="3733800" cy="48421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925" y="2988130"/>
            <a:ext cx="5848350" cy="3273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82325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Lecture2-Lifecyc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Lecture2-Lifecycle</Template>
  <TotalTime>8602</TotalTime>
  <Words>544</Words>
  <Application>Microsoft Office PowerPoint</Application>
  <PresentationFormat>On-screen Show (4:3)</PresentationFormat>
  <Paragraphs>131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Lecture2-Lifecycle</vt:lpstr>
      <vt:lpstr>HDOfficeLightV0</vt:lpstr>
      <vt:lpstr>Equivalence partitioning</vt:lpstr>
      <vt:lpstr>Example Program</vt:lpstr>
      <vt:lpstr>How not to test?</vt:lpstr>
      <vt:lpstr>How to test?</vt:lpstr>
      <vt:lpstr>Boundary value analysis</vt:lpstr>
      <vt:lpstr>Positive testing</vt:lpstr>
      <vt:lpstr>Negative testing</vt:lpstr>
      <vt:lpstr>Typical Negative Testing Scenarios</vt:lpstr>
      <vt:lpstr>Correspondence between data and field types</vt:lpstr>
      <vt:lpstr>Allowed number of characters </vt:lpstr>
      <vt:lpstr>Allowed data bounds and limits</vt:lpstr>
      <vt:lpstr>Out of range values</vt:lpstr>
      <vt:lpstr>Reasonable data</vt:lpstr>
      <vt:lpstr>Web session testing</vt:lpstr>
    </vt:vector>
  </TitlesOfParts>
  <Company>University of Washington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CS435</dc:title>
  <dc:creator>Amiangshu Bosu; Marty Stepp</dc:creator>
  <cp:keywords/>
  <dc:description>Amiangshu Bosu, SIU Carbondale</dc:description>
  <cp:lastModifiedBy>Anindya Iqbal</cp:lastModifiedBy>
  <cp:revision>1046</cp:revision>
  <dcterms:created xsi:type="dcterms:W3CDTF">2008-06-28T20:57:21Z</dcterms:created>
  <dcterms:modified xsi:type="dcterms:W3CDTF">2016-11-15T17:04:02Z</dcterms:modified>
</cp:coreProperties>
</file>