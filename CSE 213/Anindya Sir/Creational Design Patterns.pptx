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 id="2147483708" r:id="rId2"/>
  </p:sldMasterIdLst>
  <p:notesMasterIdLst>
    <p:notesMasterId r:id="rId56"/>
  </p:notesMasterIdLst>
  <p:sldIdLst>
    <p:sldId id="387" r:id="rId3"/>
    <p:sldId id="372" r:id="rId4"/>
    <p:sldId id="373" r:id="rId5"/>
    <p:sldId id="344" r:id="rId6"/>
    <p:sldId id="345" r:id="rId7"/>
    <p:sldId id="347" r:id="rId8"/>
    <p:sldId id="355" r:id="rId9"/>
    <p:sldId id="354" r:id="rId10"/>
    <p:sldId id="374" r:id="rId11"/>
    <p:sldId id="375" r:id="rId12"/>
    <p:sldId id="376" r:id="rId13"/>
    <p:sldId id="389" r:id="rId14"/>
    <p:sldId id="388" r:id="rId15"/>
    <p:sldId id="391" r:id="rId16"/>
    <p:sldId id="346" r:id="rId17"/>
    <p:sldId id="390" r:id="rId18"/>
    <p:sldId id="356" r:id="rId19"/>
    <p:sldId id="357" r:id="rId20"/>
    <p:sldId id="392" r:id="rId21"/>
    <p:sldId id="393" r:id="rId22"/>
    <p:sldId id="394" r:id="rId23"/>
    <p:sldId id="395" r:id="rId24"/>
    <p:sldId id="399" r:id="rId25"/>
    <p:sldId id="397" r:id="rId26"/>
    <p:sldId id="404" r:id="rId27"/>
    <p:sldId id="400" r:id="rId28"/>
    <p:sldId id="401" r:id="rId29"/>
    <p:sldId id="402" r:id="rId30"/>
    <p:sldId id="403" r:id="rId31"/>
    <p:sldId id="396" r:id="rId32"/>
    <p:sldId id="360" r:id="rId33"/>
    <p:sldId id="361" r:id="rId34"/>
    <p:sldId id="363" r:id="rId35"/>
    <p:sldId id="359" r:id="rId36"/>
    <p:sldId id="405" r:id="rId37"/>
    <p:sldId id="349" r:id="rId38"/>
    <p:sldId id="348" r:id="rId39"/>
    <p:sldId id="350" r:id="rId40"/>
    <p:sldId id="410" r:id="rId41"/>
    <p:sldId id="406" r:id="rId42"/>
    <p:sldId id="407" r:id="rId43"/>
    <p:sldId id="351" r:id="rId44"/>
    <p:sldId id="364" r:id="rId45"/>
    <p:sldId id="365" r:id="rId46"/>
    <p:sldId id="366" r:id="rId47"/>
    <p:sldId id="367" r:id="rId48"/>
    <p:sldId id="369" r:id="rId49"/>
    <p:sldId id="370" r:id="rId50"/>
    <p:sldId id="371" r:id="rId51"/>
    <p:sldId id="383" r:id="rId52"/>
    <p:sldId id="384" r:id="rId53"/>
    <p:sldId id="385" r:id="rId54"/>
    <p:sldId id="386"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33CC"/>
    <a:srgbClr val="800000"/>
    <a:srgbClr val="008000"/>
    <a:srgbClr val="FCD4D4"/>
    <a:srgbClr val="E1F2F3"/>
    <a:srgbClr val="FFFFC0"/>
    <a:srgbClr val="FFFF8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523" autoAdjust="0"/>
    <p:restoredTop sz="88785" autoAdjust="0"/>
  </p:normalViewPr>
  <p:slideViewPr>
    <p:cSldViewPr>
      <p:cViewPr varScale="1">
        <p:scale>
          <a:sx n="61" d="100"/>
          <a:sy n="61" d="100"/>
        </p:scale>
        <p:origin x="-1460" y="-6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smtClean="0"/>
            </a:lvl1pPr>
          </a:lstStyle>
          <a:p>
            <a:pPr>
              <a:defRPr/>
            </a:pPr>
            <a:endParaRPr lang="en-US" altLang="en-US"/>
          </a:p>
        </p:txBody>
      </p:sp>
      <p:sp>
        <p:nvSpPr>
          <p:cNvPr id="51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smtClean="0"/>
            </a:lvl1pPr>
          </a:lstStyle>
          <a:p>
            <a:pPr>
              <a:defRPr/>
            </a:pPr>
            <a:endParaRPr lang="en-US" alt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E1CAB84F-B75A-4984-8F3C-AF33274BE414}" type="slidenum">
              <a:rPr lang="en-US" altLang="en-US"/>
              <a:pPr>
                <a:defRPr/>
              </a:pPr>
              <a:t>‹#›</a:t>
            </a:fld>
            <a:endParaRPr lang="en-US" altLang="en-US"/>
          </a:p>
        </p:txBody>
      </p:sp>
    </p:spTree>
    <p:extLst>
      <p:ext uri="{BB962C8B-B14F-4D97-AF65-F5344CB8AC3E}">
        <p14:creationId xmlns:p14="http://schemas.microsoft.com/office/powerpoint/2010/main" xmlns="" val="1438181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F57B80F6-D8F9-4861-A47D-FB5C54C59CB3}" type="datetime1">
              <a:rPr lang="en-US" smtClean="0"/>
              <a:pPr/>
              <a:t>12-Dec-23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382287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12033"/>
            <a:ext cx="7886700" cy="859516"/>
          </a:xfrm>
        </p:spPr>
        <p:txBody>
          <a:bodyPr/>
          <a:lstStyle>
            <a:lvl1pPr algn="ctr">
              <a:defRPr>
                <a:solidFill>
                  <a:srgbClr val="0033CC"/>
                </a:solidFill>
                <a:latin typeface="Arial Rounded MT Bold" panose="020F0704030504030204" pitchFamily="34" charset="0"/>
              </a:defRPr>
            </a:lvl1pPr>
          </a:lstStyle>
          <a:p>
            <a:r>
              <a:rPr lang="en-US"/>
              <a:t>Click to edit Master title style</a:t>
            </a:r>
          </a:p>
        </p:txBody>
      </p:sp>
      <p:sp>
        <p:nvSpPr>
          <p:cNvPr id="3" name="Content Placeholder 2"/>
          <p:cNvSpPr>
            <a:spLocks noGrp="1"/>
          </p:cNvSpPr>
          <p:nvPr>
            <p:ph idx="1"/>
          </p:nvPr>
        </p:nvSpPr>
        <p:spPr>
          <a:xfrm>
            <a:off x="628650" y="1216479"/>
            <a:ext cx="7886700" cy="4960484"/>
          </a:xfrm>
        </p:spPr>
        <p:txBody>
          <a:bodyPr/>
          <a:lstStyle>
            <a:lvl2pPr marL="514350" indent="-171450">
              <a:buFont typeface="Calibri" panose="020F0502020204030204" pitchFamily="34" charset="0"/>
              <a:buChar char="ꟷ"/>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B0078F-E661-48DF-8D03-D0A50507C023}" type="datetime1">
              <a:rPr lang="en-US" smtClean="0"/>
              <a:pPr/>
              <a:t>12-Dec-23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2409404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19983A8-167A-4325-AC58-C125C20F04E5}" type="datetime1">
              <a:rPr lang="en-US" smtClean="0"/>
              <a:pPr/>
              <a:t>12-Dec-23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4130606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79C363-00E5-4873-92AC-6FCDF94FB804}" type="datetime1">
              <a:rPr lang="en-US" smtClean="0"/>
              <a:pPr/>
              <a:t>12-Dec-23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2007176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300710-5570-4B4A-AE9F-426CB1D545EA}" type="datetime1">
              <a:rPr lang="en-US" smtClean="0"/>
              <a:pPr/>
              <a:t>12-Dec-23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251542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3DCFBE-BA8E-42DA-94C4-303826948E42}" type="datetime1">
              <a:rPr lang="en-US" smtClean="0"/>
              <a:pPr/>
              <a:t>12-Dec-23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2749026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40F559-AD7B-4E56-ABF5-FF34E2DBC8A2}" type="datetime1">
              <a:rPr lang="en-US" smtClean="0"/>
              <a:pPr/>
              <a:t>12-Dec-23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1571498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50D64ED-635C-40CA-8BE7-BE2C04A36912}" type="datetime1">
              <a:rPr lang="en-US" smtClean="0"/>
              <a:pPr/>
              <a:t>12-Dec-23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1448907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AB4CA45-0C1D-4CDA-AED5-977A475009FE}" type="datetime1">
              <a:rPr lang="en-US" smtClean="0"/>
              <a:pPr/>
              <a:t>12-Dec-23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129587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EF6BA6-EDF0-41F8-A44F-28D36A9FF955}" type="datetime1">
              <a:rPr lang="en-US" smtClean="0"/>
              <a:pPr/>
              <a:t>12-Dec-23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1367344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1F9962-6CD1-4735-8959-BF829C68AEB8}" type="datetime1">
              <a:rPr lang="en-US" smtClean="0"/>
              <a:pPr/>
              <a:t>12-Dec-23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3368009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92591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92591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92591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92591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8023CF-EEE8-42B3-B379-29CA3A9AD32E}" type="datetime1">
              <a:rPr lang="en-US" smtClean="0"/>
              <a:pPr/>
              <a:t>12-Dec-23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1733969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F94CBB-8DC2-4B02-880A-5B1B61C50280}" type="datetime1">
              <a:rPr lang="en-US" smtClean="0"/>
              <a:pPr/>
              <a:t>12-Dec-23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26466159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B3360FF-FF94-4CBA-8E0A-430FBA53ACAB}" type="datetime1">
              <a:rPr lang="en-US" smtClean="0"/>
              <a:pPr/>
              <a:t>12-Dec-23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2977636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6BA2FF-3C94-4AD5-ADB2-25FC35199BC0}" type="datetime1">
              <a:rPr lang="en-US" smtClean="0"/>
              <a:pPr/>
              <a:t>12-Dec-23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1343848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33845" y="2507551"/>
            <a:ext cx="3867150" cy="3680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7551"/>
            <a:ext cx="3886201" cy="3680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D71118A-8C73-4274-903B-9E0E12B37512}" type="datetime1">
              <a:rPr lang="en-US" smtClean="0"/>
              <a:pPr/>
              <a:t>12-Dec-23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9F71B0-1015-4D31-8384-23A63624B7DC}"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xmlns="" val="858846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EF3F233-675C-4E2D-ADE1-062026707D88}" type="datetime1">
              <a:rPr lang="en-US" smtClean="0"/>
              <a:pPr/>
              <a:t>12-Dec-23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9F71B0-1015-4D31-8384-23A63624B7DC}"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xmlns="" val="42622403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B5D0C5-1A3B-4AF9-B1AF-82EC1777D8DE}" type="datetime1">
              <a:rPr lang="en-US" smtClean="0"/>
              <a:pPr/>
              <a:t>12-Dec-23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1561524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B677B099-D8CB-4603-B933-8D2B27420331}" type="datetime1">
              <a:rPr lang="en-US" smtClean="0"/>
              <a:pPr/>
              <a:t>12-Dec-23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2365908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4547F949-74B6-4108-8BF4-F11AB8FB4A07}" type="datetime1">
              <a:rPr lang="en-US" smtClean="0"/>
              <a:pPr/>
              <a:t>12-Dec-23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5115771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05ABA2-14F6-4CC3-9DAC-BBBB0D99BD97}" type="datetime1">
              <a:rPr lang="en-US" smtClean="0"/>
              <a:pPr/>
              <a:t>12-Dec-23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17392558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AFC58A-6D66-4D15-BB59-04E72387B4C0}" type="datetime1">
              <a:rPr lang="en-US" smtClean="0"/>
              <a:pPr/>
              <a:t>12-Dec-23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393573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868349D-D56D-48A9-A584-3FF7CB447BAA}" type="datetime1">
              <a:rPr lang="en-US" smtClean="0"/>
              <a:pPr/>
              <a:t>12-Dec-23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pPr/>
              <a:t>‹#›</a:t>
            </a:fld>
            <a:endParaRPr lang="en-US" dirty="0"/>
          </a:p>
        </p:txBody>
      </p:sp>
      <p:sp>
        <p:nvSpPr>
          <p:cNvPr id="7" name="Rectangle 2"/>
          <p:cNvSpPr txBox="1">
            <a:spLocks noChangeArrowheads="1"/>
          </p:cNvSpPr>
          <p:nvPr/>
        </p:nvSpPr>
        <p:spPr bwMode="auto">
          <a:xfrm>
            <a:off x="0" y="6692348"/>
            <a:ext cx="9144001" cy="165652"/>
          </a:xfrm>
          <a:prstGeom prst="rect">
            <a:avLst/>
          </a:prstGeom>
          <a:solidFill>
            <a:srgbClr val="66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2pPr>
            <a:lvl3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3pPr>
            <a:lvl4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4pPr>
            <a:lvl5pPr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5pPr>
            <a:lvl6pPr marL="4572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6pPr>
            <a:lvl7pPr marL="9144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7pPr>
            <a:lvl8pPr marL="13716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8pPr>
            <a:lvl9pPr marL="1828800" algn="ctr" rtl="0" eaLnBrk="1" fontAlgn="base" hangingPunct="1">
              <a:spcBef>
                <a:spcPct val="0"/>
              </a:spcBef>
              <a:spcAft>
                <a:spcPct val="0"/>
              </a:spcAft>
              <a:defRPr sz="3200" b="1">
                <a:solidFill>
                  <a:schemeClr val="bg1"/>
                </a:solidFill>
                <a:effectLst>
                  <a:outerShdw blurRad="38100" dist="38100" dir="2700000" algn="tl">
                    <a:srgbClr val="000000"/>
                  </a:outerShdw>
                </a:effectLst>
                <a:latin typeface="Helvetica" charset="0"/>
              </a:defRPr>
            </a:lvl9pPr>
          </a:lstStyle>
          <a:p>
            <a:endParaRPr lang="en-US" kern="0" dirty="0"/>
          </a:p>
        </p:txBody>
      </p:sp>
      <p:sp>
        <p:nvSpPr>
          <p:cNvPr id="9" name="Slide Number Placeholder 3"/>
          <p:cNvSpPr txBox="1">
            <a:spLocks noGrp="1"/>
          </p:cNvSpPr>
          <p:nvPr userDrawn="1"/>
        </p:nvSpPr>
        <p:spPr bwMode="auto">
          <a:xfrm>
            <a:off x="8305800" y="6262916"/>
            <a:ext cx="7620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nchor="b"/>
          <a:lstStyle>
            <a:lvl1pPr algn="r">
              <a:defRPr>
                <a:solidFill>
                  <a:schemeClr val="tx1"/>
                </a:solidFill>
                <a:latin typeface="Arial" panose="020B0604020202020204" pitchFamily="34" charset="0"/>
              </a:defRPr>
            </a:lvl1pPr>
            <a:lvl2pPr marL="742950" indent="-285750" algn="r">
              <a:defRPr>
                <a:solidFill>
                  <a:schemeClr val="tx1"/>
                </a:solidFill>
                <a:latin typeface="Arial" panose="020B0604020202020204" pitchFamily="34" charset="0"/>
              </a:defRPr>
            </a:lvl2pPr>
            <a:lvl3pPr marL="1143000" indent="-228600" algn="r">
              <a:defRPr>
                <a:solidFill>
                  <a:schemeClr val="tx1"/>
                </a:solidFill>
                <a:latin typeface="Arial" panose="020B0604020202020204" pitchFamily="34" charset="0"/>
              </a:defRPr>
            </a:lvl3pPr>
            <a:lvl4pPr marL="1600200" indent="-228600" algn="r">
              <a:defRPr>
                <a:solidFill>
                  <a:schemeClr val="tx1"/>
                </a:solidFill>
                <a:latin typeface="Arial" panose="020B0604020202020204" pitchFamily="34" charset="0"/>
              </a:defRPr>
            </a:lvl4pPr>
            <a:lvl5pPr marL="2057400" indent="-228600" algn="r">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500"/>
              </a:spcBef>
            </a:pPr>
            <a:fld id="{F7051C5F-0994-4C42-8BDD-F9DE4AC27786}" type="slidenum">
              <a:rPr lang="en-US" altLang="en-US" sz="1200">
                <a:solidFill>
                  <a:srgbClr val="424242"/>
                </a:solidFill>
                <a:latin typeface="+mn-lt"/>
              </a:rPr>
              <a:pPr eaLnBrk="1" hangingPunct="1">
                <a:spcBef>
                  <a:spcPts val="500"/>
                </a:spcBef>
              </a:pPr>
              <a:t>‹#›</a:t>
            </a:fld>
            <a:endParaRPr lang="en-US" altLang="en-US" dirty="0">
              <a:latin typeface="+mn-lt"/>
            </a:endParaRPr>
          </a:p>
        </p:txBody>
      </p:sp>
    </p:spTree>
    <p:extLst>
      <p:ext uri="{BB962C8B-B14F-4D97-AF65-F5344CB8AC3E}">
        <p14:creationId xmlns:p14="http://schemas.microsoft.com/office/powerpoint/2010/main" xmlns="" val="371376522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20" r:id="rId12"/>
    <p:sldLayoutId id="2147483721" r:id="rId13"/>
    <p:sldLayoutId id="2147483722" r:id="rId14"/>
    <p:sldLayoutId id="2147483723" r:id="rId15"/>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14700"/>
            <a:ext cx="7886700" cy="899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33845" y="1118507"/>
            <a:ext cx="7886700" cy="506163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8E797AAD-96CD-4A47-B0D1-61BA85EB678F}" type="datetime1">
              <a:rPr lang="en-US" smtClean="0"/>
              <a:pPr/>
              <a:t>12-Dec-23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49F71B0-1015-4D31-8384-23A63624B7DC}" type="slidenum">
              <a:rPr lang="en-US" smtClean="0"/>
              <a:pPr/>
              <a:t>‹#›</a:t>
            </a:fld>
            <a:endParaRPr lang="en-US"/>
          </a:p>
        </p:txBody>
      </p:sp>
    </p:spTree>
    <p:extLst>
      <p:ext uri="{BB962C8B-B14F-4D97-AF65-F5344CB8AC3E}">
        <p14:creationId xmlns:p14="http://schemas.microsoft.com/office/powerpoint/2010/main" xmlns="" val="41187715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1" latinLnBrk="0" hangingPunct="1">
        <a:lnSpc>
          <a:spcPct val="90000"/>
        </a:lnSpc>
        <a:spcBef>
          <a:spcPct val="0"/>
        </a:spcBef>
        <a:buNone/>
        <a:defRPr sz="3300" kern="1200">
          <a:solidFill>
            <a:srgbClr val="0033CC"/>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design-patterns-in-java" TargetMode="External"/><Relationship Id="rId2" Type="http://schemas.openxmlformats.org/officeDocument/2006/relationships/hyperlink" Target="https://javatechonline.com/java-design-patterns-jav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33CC"/>
                </a:solidFill>
              </a:rPr>
              <a:t>Creational Patterns</a:t>
            </a:r>
            <a:endParaRPr lang="en-US" dirty="0">
              <a:solidFill>
                <a:srgbClr val="0033CC"/>
              </a:solidFill>
            </a:endParaRPr>
          </a:p>
        </p:txBody>
      </p:sp>
    </p:spTree>
    <p:extLst>
      <p:ext uri="{BB962C8B-B14F-4D97-AF65-F5344CB8AC3E}">
        <p14:creationId xmlns:p14="http://schemas.microsoft.com/office/powerpoint/2010/main" xmlns="" val="3489869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Revisited</a:t>
            </a:r>
          </a:p>
        </p:txBody>
      </p:sp>
      <p:pic>
        <p:nvPicPr>
          <p:cNvPr id="19" name="Picture 18"/>
          <p:cNvPicPr>
            <a:picLocks noChangeAspect="1"/>
          </p:cNvPicPr>
          <p:nvPr/>
        </p:nvPicPr>
        <p:blipFill>
          <a:blip r:embed="rId2"/>
          <a:stretch>
            <a:fillRect/>
          </a:stretch>
        </p:blipFill>
        <p:spPr>
          <a:xfrm>
            <a:off x="838200" y="1828800"/>
            <a:ext cx="1751147" cy="3334986"/>
          </a:xfrm>
          <a:prstGeom prst="rect">
            <a:avLst/>
          </a:prstGeom>
        </p:spPr>
      </p:pic>
      <p:pic>
        <p:nvPicPr>
          <p:cNvPr id="52" name="Picture 51"/>
          <p:cNvPicPr>
            <a:picLocks noChangeAspect="1"/>
          </p:cNvPicPr>
          <p:nvPr/>
        </p:nvPicPr>
        <p:blipFill>
          <a:blip r:embed="rId3"/>
          <a:stretch>
            <a:fillRect/>
          </a:stretch>
        </p:blipFill>
        <p:spPr>
          <a:xfrm>
            <a:off x="4191000" y="1447800"/>
            <a:ext cx="3798137" cy="4669941"/>
          </a:xfrm>
          <a:prstGeom prst="rect">
            <a:avLst/>
          </a:prstGeom>
        </p:spPr>
      </p:pic>
      <p:sp>
        <p:nvSpPr>
          <p:cNvPr id="53" name="TextBox 52"/>
          <p:cNvSpPr txBox="1"/>
          <p:nvPr/>
        </p:nvSpPr>
        <p:spPr>
          <a:xfrm>
            <a:off x="941510" y="5257800"/>
            <a:ext cx="1544525" cy="369332"/>
          </a:xfrm>
          <a:prstGeom prst="rect">
            <a:avLst/>
          </a:prstGeom>
          <a:noFill/>
        </p:spPr>
        <p:txBody>
          <a:bodyPr wrap="none" rtlCol="0">
            <a:spAutoFit/>
          </a:bodyPr>
          <a:lstStyle/>
          <a:p>
            <a:r>
              <a:rPr lang="en-US" dirty="0">
                <a:solidFill>
                  <a:srgbClr val="0033CC"/>
                </a:solidFill>
              </a:rPr>
              <a:t>Generalization</a:t>
            </a:r>
          </a:p>
        </p:txBody>
      </p:sp>
      <p:sp>
        <p:nvSpPr>
          <p:cNvPr id="54" name="TextBox 53"/>
          <p:cNvSpPr txBox="1"/>
          <p:nvPr/>
        </p:nvSpPr>
        <p:spPr>
          <a:xfrm>
            <a:off x="5019902" y="6209091"/>
            <a:ext cx="2140330" cy="369332"/>
          </a:xfrm>
          <a:prstGeom prst="rect">
            <a:avLst/>
          </a:prstGeom>
          <a:noFill/>
        </p:spPr>
        <p:txBody>
          <a:bodyPr wrap="none" rtlCol="0">
            <a:spAutoFit/>
          </a:bodyPr>
          <a:lstStyle/>
          <a:p>
            <a:r>
              <a:rPr lang="en-US" dirty="0">
                <a:solidFill>
                  <a:srgbClr val="0033CC"/>
                </a:solidFill>
              </a:rPr>
              <a:t>Dependency: “uses” </a:t>
            </a:r>
          </a:p>
        </p:txBody>
      </p:sp>
      <p:sp>
        <p:nvSpPr>
          <p:cNvPr id="55" name="TextBox 54"/>
          <p:cNvSpPr txBox="1"/>
          <p:nvPr/>
        </p:nvSpPr>
        <p:spPr>
          <a:xfrm>
            <a:off x="4601547" y="4345317"/>
            <a:ext cx="3434723" cy="369332"/>
          </a:xfrm>
          <a:prstGeom prst="rect">
            <a:avLst/>
          </a:prstGeom>
          <a:noFill/>
        </p:spPr>
        <p:txBody>
          <a:bodyPr wrap="none" rtlCol="0">
            <a:spAutoFit/>
          </a:bodyPr>
          <a:lstStyle/>
          <a:p>
            <a:r>
              <a:rPr lang="en-US" dirty="0">
                <a:solidFill>
                  <a:srgbClr val="0033CC"/>
                </a:solidFill>
              </a:rPr>
              <a:t>Composition: “is entirely made of”</a:t>
            </a:r>
          </a:p>
        </p:txBody>
      </p:sp>
      <p:sp>
        <p:nvSpPr>
          <p:cNvPr id="56" name="TextBox 55"/>
          <p:cNvSpPr txBox="1"/>
          <p:nvPr/>
        </p:nvSpPr>
        <p:spPr>
          <a:xfrm>
            <a:off x="4856300" y="2465991"/>
            <a:ext cx="2467535" cy="369332"/>
          </a:xfrm>
          <a:prstGeom prst="rect">
            <a:avLst/>
          </a:prstGeom>
          <a:noFill/>
        </p:spPr>
        <p:txBody>
          <a:bodyPr wrap="none" rtlCol="0">
            <a:spAutoFit/>
          </a:bodyPr>
          <a:lstStyle/>
          <a:p>
            <a:r>
              <a:rPr lang="en-US" dirty="0">
                <a:solidFill>
                  <a:srgbClr val="0033CC"/>
                </a:solidFill>
              </a:rPr>
              <a:t>Aggregation: “is part of”</a:t>
            </a:r>
          </a:p>
        </p:txBody>
      </p:sp>
    </p:spTree>
    <p:extLst>
      <p:ext uri="{BB962C8B-B14F-4D97-AF65-F5344CB8AC3E}">
        <p14:creationId xmlns:p14="http://schemas.microsoft.com/office/powerpoint/2010/main" xmlns="" val="1957315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Creational Patterns to be Covered</a:t>
            </a:r>
            <a:endParaRPr lang="en-US" dirty="0"/>
          </a:p>
        </p:txBody>
      </p:sp>
      <p:sp>
        <p:nvSpPr>
          <p:cNvPr id="3" name="Content Placeholder 2"/>
          <p:cNvSpPr>
            <a:spLocks noGrp="1"/>
          </p:cNvSpPr>
          <p:nvPr>
            <p:ph idx="1"/>
          </p:nvPr>
        </p:nvSpPr>
        <p:spPr/>
        <p:txBody>
          <a:bodyPr>
            <a:normAutofit/>
          </a:bodyPr>
          <a:lstStyle/>
          <a:p>
            <a:pPr lvl="1"/>
            <a:r>
              <a:rPr lang="en-US" sz="2800" dirty="0"/>
              <a:t>Factory method</a:t>
            </a:r>
          </a:p>
          <a:p>
            <a:pPr lvl="1"/>
            <a:r>
              <a:rPr lang="en-US" sz="2800" dirty="0"/>
              <a:t>Abstract factory</a:t>
            </a:r>
          </a:p>
          <a:p>
            <a:pPr lvl="1"/>
            <a:r>
              <a:rPr lang="en-US" sz="2800" dirty="0"/>
              <a:t>Builder</a:t>
            </a:r>
          </a:p>
          <a:p>
            <a:pPr lvl="1"/>
            <a:r>
              <a:rPr lang="en-US" sz="2800" dirty="0" smtClean="0"/>
              <a:t>Singleton</a:t>
            </a:r>
            <a:endParaRPr lang="en-US" sz="2800" dirty="0"/>
          </a:p>
          <a:p>
            <a:endParaRPr lang="en-US" sz="2800" dirty="0"/>
          </a:p>
        </p:txBody>
      </p:sp>
      <p:sp>
        <p:nvSpPr>
          <p:cNvPr id="4" name="TextBox 3"/>
          <p:cNvSpPr txBox="1"/>
          <p:nvPr/>
        </p:nvSpPr>
        <p:spPr>
          <a:xfrm>
            <a:off x="1219200" y="4038600"/>
            <a:ext cx="7620000" cy="1938992"/>
          </a:xfrm>
          <a:prstGeom prst="rect">
            <a:avLst/>
          </a:prstGeom>
          <a:noFill/>
        </p:spPr>
        <p:txBody>
          <a:bodyPr wrap="square" rtlCol="0">
            <a:spAutoFit/>
          </a:bodyPr>
          <a:lstStyle/>
          <a:p>
            <a:r>
              <a:rPr lang="en-US" sz="2400" dirty="0" smtClean="0">
                <a:solidFill>
                  <a:schemeClr val="accent5">
                    <a:lumMod val="50000"/>
                  </a:schemeClr>
                </a:solidFill>
              </a:rPr>
              <a:t>Examples taken from:</a:t>
            </a:r>
          </a:p>
          <a:p>
            <a:r>
              <a:rPr lang="en-US" sz="2400" dirty="0" smtClean="0"/>
              <a:t>https://refactoring.guru/design-patterns</a:t>
            </a:r>
          </a:p>
          <a:p>
            <a:r>
              <a:rPr lang="en-US" sz="2400" dirty="0" smtClean="0">
                <a:hlinkClick r:id="rId2"/>
              </a:rPr>
              <a:t>https://javatechonline.com/java-design-patterns-java/</a:t>
            </a:r>
            <a:endParaRPr lang="en-US" sz="2400" dirty="0" smtClean="0"/>
          </a:p>
          <a:p>
            <a:r>
              <a:rPr lang="en-US" sz="2400" dirty="0" smtClean="0"/>
              <a:t>https</a:t>
            </a:r>
            <a:r>
              <a:rPr lang="en-US" sz="2400" dirty="0"/>
              <a:t>://www.tutorialspoint.com/design_pattern/</a:t>
            </a:r>
          </a:p>
          <a:p>
            <a:r>
              <a:rPr lang="en-US" sz="2400" dirty="0" smtClean="0">
                <a:hlinkClick r:id="rId3"/>
              </a:rPr>
              <a:t>https</a:t>
            </a:r>
            <a:r>
              <a:rPr lang="en-US" sz="2400" dirty="0">
                <a:hlinkClick r:id="rId3"/>
              </a:rPr>
              <a:t>://</a:t>
            </a:r>
            <a:r>
              <a:rPr lang="en-US" sz="2400" dirty="0" smtClean="0">
                <a:hlinkClick r:id="rId3"/>
              </a:rPr>
              <a:t>www.javatpoint.com/design-patterns-in-java</a:t>
            </a:r>
            <a:endParaRPr lang="en-US" sz="2400" dirty="0" smtClean="0"/>
          </a:p>
        </p:txBody>
      </p:sp>
    </p:spTree>
    <p:extLst>
      <p:ext uri="{BB962C8B-B14F-4D97-AF65-F5344CB8AC3E}">
        <p14:creationId xmlns:p14="http://schemas.microsoft.com/office/powerpoint/2010/main" xmlns="" val="2750154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Factory Method</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1272833736"/>
              </p:ext>
            </p:extLst>
          </p:nvPr>
        </p:nvGraphicFramePr>
        <p:xfrm>
          <a:off x="628650" y="1371600"/>
          <a:ext cx="7677150" cy="4038600"/>
        </p:xfrm>
        <a:graphic>
          <a:graphicData uri="http://schemas.openxmlformats.org/drawingml/2006/table">
            <a:tbl>
              <a:tblPr firstRow="1" bandRow="1">
                <a:tableStyleId>{22838BEF-8BB2-4498-84A7-C5851F593DF1}</a:tableStyleId>
              </a:tblPr>
              <a:tblGrid>
                <a:gridCol w="2281323">
                  <a:extLst>
                    <a:ext uri="{9D8B030D-6E8A-4147-A177-3AD203B41FA5}">
                      <a16:colId xmlns:a16="http://schemas.microsoft.com/office/drawing/2014/main" xmlns="" val="20000"/>
                    </a:ext>
                  </a:extLst>
                </a:gridCol>
                <a:gridCol w="5395827">
                  <a:extLst>
                    <a:ext uri="{9D8B030D-6E8A-4147-A177-3AD203B41FA5}">
                      <a16:colId xmlns:a16="http://schemas.microsoft.com/office/drawing/2014/main" xmlns="" val="20001"/>
                    </a:ext>
                  </a:extLst>
                </a:gridCol>
              </a:tblGrid>
              <a:tr h="1613445">
                <a:tc>
                  <a:txBody>
                    <a:bodyPr/>
                    <a:lstStyle/>
                    <a:p>
                      <a:r>
                        <a:rPr lang="en-US" sz="2400" b="0" dirty="0"/>
                        <a:t>Intent</a:t>
                      </a:r>
                    </a:p>
                  </a:txBody>
                  <a:tcPr>
                    <a:solidFill>
                      <a:schemeClr val="accent1">
                        <a:lumMod val="40000"/>
                        <a:lumOff val="60000"/>
                      </a:schemeClr>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Define an interface for creating an object, but let subclasses decide which class to instantiate. Factory Method lets a class defer instantiation to subclasses.</a:t>
                      </a:r>
                      <a:endParaRPr lang="en-US" dirty="0"/>
                    </a:p>
                  </a:txBody>
                  <a:tcPr>
                    <a:solidFill>
                      <a:schemeClr val="bg1"/>
                    </a:solidFill>
                  </a:tcPr>
                </a:tc>
                <a:extLst>
                  <a:ext uri="{0D108BD9-81ED-4DB2-BD59-A6C34878D82A}">
                    <a16:rowId xmlns:a16="http://schemas.microsoft.com/office/drawing/2014/main" xmlns="" val="10000"/>
                  </a:ext>
                </a:extLst>
              </a:tr>
              <a:tr h="2425155">
                <a:tc>
                  <a:txBody>
                    <a:bodyPr/>
                    <a:lstStyle/>
                    <a:p>
                      <a:r>
                        <a:rPr lang="en-US" sz="2400" b="0" dirty="0"/>
                        <a:t>Problem</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2000" dirty="0"/>
                        <a:t>A framework needs to standardize the architectural model for a range of applications, but allow for individual applications to define their own domain objects and provide for their instantiation.</a:t>
                      </a:r>
                    </a:p>
                    <a:p>
                      <a:pPr marL="285750" indent="-285750">
                        <a:buFont typeface="Arial" panose="020B0604020202020204" pitchFamily="34" charset="0"/>
                        <a:buChar char="•"/>
                      </a:pPr>
                      <a:r>
                        <a:rPr lang="en-US" sz="2000" dirty="0"/>
                        <a:t>Enable</a:t>
                      </a:r>
                      <a:r>
                        <a:rPr lang="en-US" sz="2000" baseline="0" dirty="0"/>
                        <a:t> the creator to defer product creation to sub-class.</a:t>
                      </a:r>
                      <a:endParaRPr lang="en-US" sz="2000" dirty="0"/>
                    </a:p>
                  </a:txBody>
                  <a:tcPr>
                    <a:solidFill>
                      <a:schemeClr val="bg1"/>
                    </a:solid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0382820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pic>
        <p:nvPicPr>
          <p:cNvPr id="9218" name="Picture 2" descr="http://upload.wikimedia.org/wikipedia/commons/e/ed/Factory_Method_UML_class_diagram.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28650" y="1828800"/>
            <a:ext cx="8078266" cy="37338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512695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2033"/>
            <a:ext cx="7886700" cy="502037"/>
          </a:xfrm>
        </p:spPr>
        <p:txBody>
          <a:bodyPr>
            <a:normAutofit fontScale="90000"/>
          </a:bodyPr>
          <a:lstStyle/>
          <a:p>
            <a:r>
              <a:rPr lang="en-US" dirty="0"/>
              <a:t>Example: Drawing</a:t>
            </a:r>
          </a:p>
        </p:txBody>
      </p:sp>
      <p:grpSp>
        <p:nvGrpSpPr>
          <p:cNvPr id="4" name="Group 3"/>
          <p:cNvGrpSpPr/>
          <p:nvPr/>
        </p:nvGrpSpPr>
        <p:grpSpPr>
          <a:xfrm>
            <a:off x="1714500" y="1323779"/>
            <a:ext cx="1790700" cy="973107"/>
            <a:chOff x="6092889" y="3733800"/>
            <a:chExt cx="2828265" cy="973107"/>
          </a:xfrm>
          <a:solidFill>
            <a:schemeClr val="accent6">
              <a:lumMod val="20000"/>
              <a:lumOff val="80000"/>
            </a:schemeClr>
          </a:solidFill>
        </p:grpSpPr>
        <p:sp>
          <p:nvSpPr>
            <p:cNvPr id="5" name="Flowchart: Process 4"/>
            <p:cNvSpPr/>
            <p:nvPr/>
          </p:nvSpPr>
          <p:spPr>
            <a:xfrm>
              <a:off x="6092889" y="3733800"/>
              <a:ext cx="2828265" cy="544286"/>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&lt;&lt;interface&gt;&gt;</a:t>
              </a:r>
            </a:p>
            <a:p>
              <a:pPr algn="ctr"/>
              <a:r>
                <a:rPr lang="en-US" b="1" dirty="0">
                  <a:solidFill>
                    <a:srgbClr val="800000"/>
                  </a:solidFill>
                </a:rPr>
                <a:t>Shape</a:t>
              </a:r>
            </a:p>
          </p:txBody>
        </p:sp>
        <p:sp>
          <p:nvSpPr>
            <p:cNvPr id="6" name="Flowchart: Process 5"/>
            <p:cNvSpPr/>
            <p:nvPr/>
          </p:nvSpPr>
          <p:spPr>
            <a:xfrm>
              <a:off x="6092889" y="4278087"/>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draw()</a:t>
              </a:r>
            </a:p>
          </p:txBody>
        </p:sp>
      </p:grpSp>
      <p:grpSp>
        <p:nvGrpSpPr>
          <p:cNvPr id="7" name="Group 6"/>
          <p:cNvGrpSpPr/>
          <p:nvPr/>
        </p:nvGrpSpPr>
        <p:grpSpPr>
          <a:xfrm>
            <a:off x="219072" y="3118946"/>
            <a:ext cx="1544414" cy="809820"/>
            <a:chOff x="6092889" y="3733800"/>
            <a:chExt cx="2828265" cy="809820"/>
          </a:xfrm>
          <a:solidFill>
            <a:schemeClr val="accent6">
              <a:lumMod val="20000"/>
              <a:lumOff val="80000"/>
            </a:schemeClr>
          </a:solidFill>
        </p:grpSpPr>
        <p:sp>
          <p:nvSpPr>
            <p:cNvPr id="8" name="Flowchart: Process 7"/>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Circle</a:t>
              </a:r>
            </a:p>
          </p:txBody>
        </p:sp>
        <p:sp>
          <p:nvSpPr>
            <p:cNvPr id="9" name="Flowchart: Process 8"/>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draw()</a:t>
              </a:r>
            </a:p>
          </p:txBody>
        </p:sp>
      </p:grpSp>
      <p:grpSp>
        <p:nvGrpSpPr>
          <p:cNvPr id="10" name="Group 9"/>
          <p:cNvGrpSpPr/>
          <p:nvPr/>
        </p:nvGrpSpPr>
        <p:grpSpPr>
          <a:xfrm>
            <a:off x="3733800" y="3124199"/>
            <a:ext cx="1600200" cy="809820"/>
            <a:chOff x="6092889" y="3733800"/>
            <a:chExt cx="2828265" cy="809820"/>
          </a:xfrm>
          <a:solidFill>
            <a:schemeClr val="accent6">
              <a:lumMod val="20000"/>
              <a:lumOff val="80000"/>
            </a:schemeClr>
          </a:solidFill>
        </p:grpSpPr>
        <p:sp>
          <p:nvSpPr>
            <p:cNvPr id="11" name="Flowchart: Process 10"/>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Rectangle</a:t>
              </a:r>
            </a:p>
          </p:txBody>
        </p:sp>
        <p:sp>
          <p:nvSpPr>
            <p:cNvPr id="12" name="Flowchart: Process 11"/>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draw()</a:t>
              </a:r>
            </a:p>
          </p:txBody>
        </p:sp>
      </p:grpSp>
      <p:sp>
        <p:nvSpPr>
          <p:cNvPr id="13" name="Isosceles Triangle 12"/>
          <p:cNvSpPr/>
          <p:nvPr/>
        </p:nvSpPr>
        <p:spPr>
          <a:xfrm>
            <a:off x="2609849" y="2305050"/>
            <a:ext cx="228600" cy="23326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flipH="1">
            <a:off x="2728426" y="2530150"/>
            <a:ext cx="14774" cy="376336"/>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6" name="Elbow Connector 15"/>
          <p:cNvCxnSpPr>
            <a:stCxn id="8" idx="0"/>
            <a:endCxn id="11" idx="0"/>
          </p:cNvCxnSpPr>
          <p:nvPr/>
        </p:nvCxnSpPr>
        <p:spPr>
          <a:xfrm rot="16200000" flipH="1">
            <a:off x="2759962" y="1350262"/>
            <a:ext cx="5253" cy="3542621"/>
          </a:xfrm>
          <a:prstGeom prst="bentConnector3">
            <a:avLst>
              <a:gd name="adj1" fmla="val -4351799"/>
            </a:avLst>
          </a:prstGeom>
          <a:ln w="12700"/>
        </p:spPr>
        <p:style>
          <a:lnRef idx="1">
            <a:schemeClr val="dk1"/>
          </a:lnRef>
          <a:fillRef idx="0">
            <a:schemeClr val="dk1"/>
          </a:fillRef>
          <a:effectRef idx="0">
            <a:schemeClr val="dk1"/>
          </a:effectRef>
          <a:fontRef idx="minor">
            <a:schemeClr val="tx1"/>
          </a:fontRef>
        </p:style>
      </p:cxnSp>
      <p:grpSp>
        <p:nvGrpSpPr>
          <p:cNvPr id="60" name="Group 59"/>
          <p:cNvGrpSpPr/>
          <p:nvPr/>
        </p:nvGrpSpPr>
        <p:grpSpPr>
          <a:xfrm>
            <a:off x="6562724" y="3178369"/>
            <a:ext cx="2276476" cy="579664"/>
            <a:chOff x="6092889" y="3733800"/>
            <a:chExt cx="2828265" cy="809820"/>
          </a:xfrm>
          <a:solidFill>
            <a:schemeClr val="accent6">
              <a:lumMod val="20000"/>
              <a:lumOff val="80000"/>
            </a:schemeClr>
          </a:solidFill>
        </p:grpSpPr>
        <p:sp>
          <p:nvSpPr>
            <p:cNvPr id="61" name="Flowchart: Process 60"/>
            <p:cNvSpPr/>
            <p:nvPr/>
          </p:nvSpPr>
          <p:spPr>
            <a:xfrm>
              <a:off x="6092889" y="3733800"/>
              <a:ext cx="2828265" cy="380999"/>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ShapeFactory</a:t>
              </a:r>
              <a:endParaRPr lang="en-US" b="1" dirty="0">
                <a:solidFill>
                  <a:srgbClr val="800000"/>
                </a:solidFill>
              </a:endParaRPr>
            </a:p>
          </p:txBody>
        </p:sp>
        <p:sp>
          <p:nvSpPr>
            <p:cNvPr id="62" name="Flowchart: Process 61"/>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a:t>
              </a:r>
              <a:r>
                <a:rPr lang="en-US" sz="1300" b="1" spc="-100" dirty="0" err="1">
                  <a:solidFill>
                    <a:schemeClr val="tx1"/>
                  </a:solidFill>
                  <a:latin typeface="Courier New" panose="02070309020205020404" pitchFamily="49" charset="0"/>
                  <a:cs typeface="Courier New" panose="02070309020205020404" pitchFamily="49" charset="0"/>
                </a:rPr>
                <a:t>drawShape</a:t>
              </a:r>
              <a:r>
                <a:rPr lang="en-US" sz="1300" b="1" spc="-100" dirty="0">
                  <a:solidFill>
                    <a:schemeClr val="tx1"/>
                  </a:solidFill>
                  <a:latin typeface="Courier New" panose="02070309020205020404" pitchFamily="49" charset="0"/>
                  <a:cs typeface="Courier New" panose="02070309020205020404" pitchFamily="49" charset="0"/>
                </a:rPr>
                <a:t>(type):Shape</a:t>
              </a:r>
            </a:p>
          </p:txBody>
        </p:sp>
      </p:grpSp>
      <p:sp>
        <p:nvSpPr>
          <p:cNvPr id="75" name="Flowchart: Process 74"/>
          <p:cNvSpPr/>
          <p:nvPr/>
        </p:nvSpPr>
        <p:spPr>
          <a:xfrm>
            <a:off x="6900861" y="1247903"/>
            <a:ext cx="1600200" cy="283295"/>
          </a:xfrm>
          <a:prstGeom prst="flowChartProcess">
            <a:avLst/>
          </a:prstGeom>
          <a:solidFill>
            <a:schemeClr val="accent6">
              <a:lumMod val="20000"/>
              <a:lumOff val="80000"/>
            </a:schemeClr>
          </a:solid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Client</a:t>
            </a:r>
          </a:p>
        </p:txBody>
      </p:sp>
      <p:grpSp>
        <p:nvGrpSpPr>
          <p:cNvPr id="47" name="Group 46"/>
          <p:cNvGrpSpPr/>
          <p:nvPr/>
        </p:nvGrpSpPr>
        <p:grpSpPr>
          <a:xfrm>
            <a:off x="1960785" y="3152579"/>
            <a:ext cx="1544414" cy="809820"/>
            <a:chOff x="6092889" y="3733800"/>
            <a:chExt cx="2828265" cy="809820"/>
          </a:xfrm>
          <a:solidFill>
            <a:schemeClr val="accent6">
              <a:lumMod val="20000"/>
              <a:lumOff val="80000"/>
            </a:schemeClr>
          </a:solidFill>
        </p:grpSpPr>
        <p:sp>
          <p:nvSpPr>
            <p:cNvPr id="48" name="Flowchart: Process 47"/>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solidFill>
                    <a:srgbClr val="800000"/>
                  </a:solidFill>
                </a:rPr>
                <a:t>Square</a:t>
              </a:r>
              <a:endParaRPr lang="en-US" b="1" dirty="0">
                <a:solidFill>
                  <a:srgbClr val="800000"/>
                </a:solidFill>
              </a:endParaRPr>
            </a:p>
          </p:txBody>
        </p:sp>
        <p:sp>
          <p:nvSpPr>
            <p:cNvPr id="49" name="Flowchart: Process 48"/>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draw()</a:t>
              </a:r>
            </a:p>
          </p:txBody>
        </p:sp>
      </p:grpSp>
      <p:cxnSp>
        <p:nvCxnSpPr>
          <p:cNvPr id="15" name="Straight Connector 14"/>
          <p:cNvCxnSpPr>
            <a:stCxn id="48" idx="0"/>
          </p:cNvCxnSpPr>
          <p:nvPr/>
        </p:nvCxnSpPr>
        <p:spPr>
          <a:xfrm flipH="1" flipV="1">
            <a:off x="2728425" y="2882770"/>
            <a:ext cx="4567" cy="269809"/>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Straight Arrow Connector 31"/>
          <p:cNvCxnSpPr>
            <a:stCxn id="75" idx="2"/>
            <a:endCxn id="61" idx="0"/>
          </p:cNvCxnSpPr>
          <p:nvPr/>
        </p:nvCxnSpPr>
        <p:spPr>
          <a:xfrm>
            <a:off x="7700961" y="1531198"/>
            <a:ext cx="1" cy="16471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Elbow Connector 55"/>
          <p:cNvCxnSpPr>
            <a:stCxn id="62" idx="2"/>
            <a:endCxn id="12" idx="2"/>
          </p:cNvCxnSpPr>
          <p:nvPr/>
        </p:nvCxnSpPr>
        <p:spPr>
          <a:xfrm rot="5400000">
            <a:off x="6029438" y="2262495"/>
            <a:ext cx="175986" cy="3167062"/>
          </a:xfrm>
          <a:prstGeom prst="bentConnector3">
            <a:avLst>
              <a:gd name="adj1" fmla="val 182180"/>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9" name="Elbow Connector 58"/>
          <p:cNvCxnSpPr>
            <a:endCxn id="49" idx="2"/>
          </p:cNvCxnSpPr>
          <p:nvPr/>
        </p:nvCxnSpPr>
        <p:spPr>
          <a:xfrm rot="10800000" flipV="1">
            <a:off x="2732992" y="3767275"/>
            <a:ext cx="4925108" cy="195124"/>
          </a:xfrm>
          <a:prstGeom prst="bentConnector4">
            <a:avLst>
              <a:gd name="adj1" fmla="val -844"/>
              <a:gd name="adj2" fmla="val 245847"/>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72" name="Elbow Connector 71"/>
          <p:cNvCxnSpPr>
            <a:stCxn id="62" idx="2"/>
            <a:endCxn id="9" idx="2"/>
          </p:cNvCxnSpPr>
          <p:nvPr/>
        </p:nvCxnSpPr>
        <p:spPr>
          <a:xfrm rot="5400000">
            <a:off x="4260755" y="488558"/>
            <a:ext cx="170733" cy="6709683"/>
          </a:xfrm>
          <a:prstGeom prst="bentConnector3">
            <a:avLst>
              <a:gd name="adj1" fmla="val 370519"/>
            </a:avLst>
          </a:prstGeom>
          <a:ln w="19050">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22530430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457200" y="228600"/>
            <a:ext cx="6451510" cy="313932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Unicode MS" pitchFamily="34" charset="-128"/>
                <a:cs typeface="Arial" pitchFamily="34" charset="0"/>
              </a:rPr>
              <a:t>public interface Shape { </a:t>
            </a:r>
          </a:p>
          <a:p>
            <a:pPr marL="0" marR="0" lvl="0" indent="0" algn="l" defTabSz="914400" rtl="0" eaLnBrk="1" fontAlgn="base" latinLnBrk="0" hangingPunct="1">
              <a:lnSpc>
                <a:spcPct val="100000"/>
              </a:lnSpc>
              <a:spcBef>
                <a:spcPct val="0"/>
              </a:spcBef>
              <a:spcAft>
                <a:spcPct val="0"/>
              </a:spcAft>
              <a:buClrTx/>
              <a:buSzTx/>
              <a:buFontTx/>
              <a:buNone/>
              <a:tabLst/>
            </a:pPr>
            <a:r>
              <a:rPr lang="en-US" dirty="0" smtClean="0">
                <a:latin typeface="Arial Unicode MS" pitchFamily="34" charset="-128"/>
                <a:cs typeface="Arial" pitchFamily="34" charset="0"/>
              </a:rPr>
              <a:t>       </a:t>
            </a:r>
            <a:r>
              <a:rPr kumimoji="0" lang="en-US" b="0" i="0" u="none" strike="noStrike" cap="none" normalizeH="0" baseline="0" dirty="0" smtClean="0">
                <a:ln>
                  <a:noFill/>
                </a:ln>
                <a:solidFill>
                  <a:schemeClr val="tx1"/>
                </a:solidFill>
                <a:effectLst/>
                <a:latin typeface="Arial Unicode MS" pitchFamily="34" charset="-128"/>
                <a:cs typeface="Arial" pitchFamily="34" charset="0"/>
              </a:rPr>
              <a:t>void draw();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Unicode MS" pitchFamily="34" charset="-128"/>
                <a:cs typeface="Arial" pitchFamily="34" charset="0"/>
              </a:rPr>
              <a:t>}</a:t>
            </a:r>
            <a:r>
              <a:rPr kumimoji="0" lang="en-US" b="0" i="0" u="none" strike="noStrike" cap="none" normalizeH="0" baseline="0" dirty="0" smtClean="0">
                <a:ln>
                  <a:noFill/>
                </a:ln>
                <a:solidFill>
                  <a:schemeClr val="tx1"/>
                </a:solidFill>
                <a:effectLst/>
                <a:latin typeface="Arial" pitchFamily="34" charset="0"/>
                <a:cs typeface="Arial" pitchFamily="34" charset="0"/>
              </a:rPr>
              <a:t> </a:t>
            </a:r>
          </a:p>
          <a:p>
            <a:pPr lvl="0" fontAlgn="base">
              <a:spcBef>
                <a:spcPct val="0"/>
              </a:spcBef>
              <a:spcAft>
                <a:spcPct val="0"/>
              </a:spcAft>
            </a:pPr>
            <a:r>
              <a:rPr lang="en-US" dirty="0" smtClean="0"/>
              <a:t>public class </a:t>
            </a:r>
            <a:r>
              <a:rPr lang="en-US" dirty="0" smtClean="0">
                <a:solidFill>
                  <a:srgbClr val="FF0000"/>
                </a:solidFill>
              </a:rPr>
              <a:t>Rectangle</a:t>
            </a:r>
            <a:r>
              <a:rPr lang="en-US" dirty="0" smtClean="0"/>
              <a:t> implements Shape {</a:t>
            </a:r>
          </a:p>
          <a:p>
            <a:pPr lvl="0" fontAlgn="base">
              <a:spcBef>
                <a:spcPct val="0"/>
              </a:spcBef>
              <a:spcAft>
                <a:spcPct val="0"/>
              </a:spcAft>
            </a:pPr>
            <a:r>
              <a:rPr lang="en-US" dirty="0" smtClean="0"/>
              <a:t>       @Override</a:t>
            </a:r>
          </a:p>
          <a:p>
            <a:pPr lvl="0" fontAlgn="base">
              <a:spcBef>
                <a:spcPct val="0"/>
              </a:spcBef>
              <a:spcAft>
                <a:spcPct val="0"/>
              </a:spcAft>
            </a:pPr>
            <a:r>
              <a:rPr lang="en-US" dirty="0" smtClean="0"/>
              <a:t>        public void draw() {</a:t>
            </a:r>
          </a:p>
          <a:p>
            <a:pPr lvl="0" fontAlgn="base">
              <a:spcBef>
                <a:spcPct val="0"/>
              </a:spcBef>
              <a:spcAft>
                <a:spcPct val="0"/>
              </a:spcAft>
            </a:pPr>
            <a:r>
              <a:rPr lang="en-US" dirty="0" smtClean="0"/>
              <a:t>	 </a:t>
            </a:r>
            <a:r>
              <a:rPr lang="en-US" dirty="0" err="1" smtClean="0"/>
              <a:t>System.out.println</a:t>
            </a:r>
            <a:r>
              <a:rPr lang="en-US" dirty="0" smtClean="0"/>
              <a:t>("Inside Rectangle::draw() method."); </a:t>
            </a:r>
          </a:p>
          <a:p>
            <a:pPr lvl="0" fontAlgn="base">
              <a:spcBef>
                <a:spcPct val="0"/>
              </a:spcBef>
              <a:spcAft>
                <a:spcPct val="0"/>
              </a:spcAft>
            </a:pPr>
            <a:r>
              <a:rPr lang="en-US" dirty="0" smtClean="0"/>
              <a:t>	}</a:t>
            </a:r>
          </a:p>
          <a:p>
            <a:pPr lvl="0" fontAlgn="base">
              <a:spcBef>
                <a:spcPct val="0"/>
              </a:spcBef>
              <a:spcAft>
                <a:spcPct val="0"/>
              </a:spcAft>
            </a:pPr>
            <a:r>
              <a:rPr lang="en-US" dirty="0" smtClean="0"/>
              <a:t> }</a:t>
            </a:r>
          </a:p>
          <a:p>
            <a:pPr lvl="0" fontAlgn="base">
              <a:spcBef>
                <a:spcPct val="0"/>
              </a:spcBef>
              <a:spcAft>
                <a:spcPct val="0"/>
              </a:spcAft>
            </a:pPr>
            <a:r>
              <a:rPr kumimoji="0" lang="en-US" b="0" i="0" u="none" strike="noStrike" cap="none" normalizeH="0" baseline="0" dirty="0" smtClean="0">
                <a:ln>
                  <a:noFill/>
                </a:ln>
                <a:solidFill>
                  <a:schemeClr val="tx1"/>
                </a:solidFill>
                <a:effectLst/>
                <a:latin typeface="Arial" pitchFamily="34" charset="0"/>
                <a:cs typeface="Arial" pitchFamily="34" charset="0"/>
              </a:rPr>
              <a:t>Similar</a:t>
            </a:r>
            <a:r>
              <a:rPr kumimoji="0" lang="en-US" b="0" i="0" u="none" strike="noStrike" cap="none" normalizeH="0" dirty="0" smtClean="0">
                <a:ln>
                  <a:noFill/>
                </a:ln>
                <a:solidFill>
                  <a:schemeClr val="tx1"/>
                </a:solidFill>
                <a:effectLst/>
                <a:latin typeface="Arial" pitchFamily="34" charset="0"/>
                <a:cs typeface="Arial" pitchFamily="34" charset="0"/>
              </a:rPr>
              <a:t> implementation</a:t>
            </a:r>
            <a:r>
              <a:rPr kumimoji="0" lang="en-US" b="0" i="0" u="none" strike="noStrike" cap="none" normalizeH="0" baseline="0" dirty="0" smtClean="0">
                <a:ln>
                  <a:noFill/>
                </a:ln>
                <a:solidFill>
                  <a:schemeClr val="tx1"/>
                </a:solidFill>
                <a:effectLst/>
                <a:latin typeface="Arial" pitchFamily="34" charset="0"/>
                <a:cs typeface="Arial" pitchFamily="34" charset="0"/>
              </a:rPr>
              <a:t> for </a:t>
            </a:r>
            <a:r>
              <a:rPr kumimoji="0" lang="en-US" b="0" i="0" u="none" strike="noStrike" cap="none" normalizeH="0" baseline="0" dirty="0" smtClean="0">
                <a:ln>
                  <a:noFill/>
                </a:ln>
                <a:solidFill>
                  <a:srgbClr val="FF0000"/>
                </a:solidFill>
                <a:effectLst/>
                <a:latin typeface="Arial" pitchFamily="34" charset="0"/>
                <a:cs typeface="Arial" pitchFamily="34" charset="0"/>
              </a:rPr>
              <a:t>Square</a:t>
            </a:r>
            <a:r>
              <a:rPr kumimoji="0" lang="en-US" b="0" i="0" u="none" strike="noStrike" cap="none" normalizeH="0" baseline="0" dirty="0" smtClean="0">
                <a:ln>
                  <a:noFill/>
                </a:ln>
                <a:solidFill>
                  <a:schemeClr val="tx1"/>
                </a:solidFill>
                <a:effectLst/>
                <a:latin typeface="Arial" pitchFamily="34" charset="0"/>
                <a:cs typeface="Arial" pitchFamily="34" charset="0"/>
              </a:rPr>
              <a:t> and </a:t>
            </a:r>
            <a:r>
              <a:rPr kumimoji="0" lang="en-US" b="0" i="0" u="none" strike="noStrike" cap="none" normalizeH="0" baseline="0" dirty="0" smtClean="0">
                <a:ln>
                  <a:noFill/>
                </a:ln>
                <a:solidFill>
                  <a:srgbClr val="FF0000"/>
                </a:solidFill>
                <a:effectLst/>
                <a:latin typeface="Arial" pitchFamily="34" charset="0"/>
                <a:cs typeface="Arial" pitchFamily="34" charset="0"/>
              </a:rPr>
              <a:t>Circle</a:t>
            </a:r>
          </a:p>
          <a:p>
            <a:pPr lvl="0" fontAlgn="base">
              <a:spcBef>
                <a:spcPct val="0"/>
              </a:spcBef>
              <a:spcAft>
                <a:spcPct val="0"/>
              </a:spcAft>
            </a:pPr>
            <a:endParaRPr kumimoji="0" lang="en-US" b="0" i="0" u="none" strike="noStrike" cap="none" normalizeH="0" baseline="0" dirty="0" smtClean="0">
              <a:ln>
                <a:noFill/>
              </a:ln>
              <a:solidFill>
                <a:srgbClr val="FF0000"/>
              </a:solidFill>
              <a:effectLst/>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76201" y="3429000"/>
            <a:ext cx="4267199" cy="31527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343400" y="3505200"/>
            <a:ext cx="4800600" cy="29730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2033"/>
            <a:ext cx="7886700" cy="502037"/>
          </a:xfrm>
        </p:spPr>
        <p:txBody>
          <a:bodyPr>
            <a:normAutofit fontScale="90000"/>
          </a:bodyPr>
          <a:lstStyle/>
          <a:p>
            <a:r>
              <a:rPr lang="en-US" dirty="0"/>
              <a:t>Example: Kiosk</a:t>
            </a:r>
          </a:p>
        </p:txBody>
      </p:sp>
      <p:grpSp>
        <p:nvGrpSpPr>
          <p:cNvPr id="4" name="Group 3"/>
          <p:cNvGrpSpPr/>
          <p:nvPr/>
        </p:nvGrpSpPr>
        <p:grpSpPr>
          <a:xfrm>
            <a:off x="2022424" y="1316162"/>
            <a:ext cx="2095500" cy="973107"/>
            <a:chOff x="6092889" y="3733800"/>
            <a:chExt cx="2828265" cy="973107"/>
          </a:xfrm>
          <a:solidFill>
            <a:schemeClr val="accent6">
              <a:lumMod val="20000"/>
              <a:lumOff val="80000"/>
            </a:schemeClr>
          </a:solidFill>
        </p:grpSpPr>
        <p:sp>
          <p:nvSpPr>
            <p:cNvPr id="5" name="Flowchart: Process 4"/>
            <p:cNvSpPr/>
            <p:nvPr/>
          </p:nvSpPr>
          <p:spPr>
            <a:xfrm>
              <a:off x="6092889" y="3733800"/>
              <a:ext cx="2828265" cy="544286"/>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&lt;&lt;interface&gt;&gt;</a:t>
              </a:r>
            </a:p>
            <a:p>
              <a:pPr algn="ctr"/>
              <a:r>
                <a:rPr lang="en-US" b="1" dirty="0" err="1">
                  <a:solidFill>
                    <a:srgbClr val="800000"/>
                  </a:solidFill>
                </a:rPr>
                <a:t>PaymentProcessor</a:t>
              </a:r>
              <a:endParaRPr lang="en-US" b="1" dirty="0">
                <a:solidFill>
                  <a:srgbClr val="800000"/>
                </a:solidFill>
              </a:endParaRPr>
            </a:p>
          </p:txBody>
        </p:sp>
        <p:sp>
          <p:nvSpPr>
            <p:cNvPr id="6" name="Flowchart: Process 5"/>
            <p:cNvSpPr/>
            <p:nvPr/>
          </p:nvSpPr>
          <p:spPr>
            <a:xfrm>
              <a:off x="6092889" y="4278087"/>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processPayment</a:t>
              </a:r>
              <a:r>
                <a:rPr lang="en-US" sz="1300" b="1" spc="-100" dirty="0">
                  <a:solidFill>
                    <a:schemeClr val="tx1"/>
                  </a:solidFill>
                  <a:latin typeface="Courier New" panose="02070309020205020404" pitchFamily="49" charset="0"/>
                  <a:cs typeface="Courier New" panose="02070309020205020404" pitchFamily="49" charset="0"/>
                </a:rPr>
                <a:t>()</a:t>
              </a:r>
            </a:p>
          </p:txBody>
        </p:sp>
      </p:grpSp>
      <p:grpSp>
        <p:nvGrpSpPr>
          <p:cNvPr id="7" name="Group 6"/>
          <p:cNvGrpSpPr/>
          <p:nvPr/>
        </p:nvGrpSpPr>
        <p:grpSpPr>
          <a:xfrm>
            <a:off x="44997" y="3158799"/>
            <a:ext cx="1763486" cy="809820"/>
            <a:chOff x="6092889" y="3733800"/>
            <a:chExt cx="2828265" cy="809820"/>
          </a:xfrm>
          <a:solidFill>
            <a:schemeClr val="accent6">
              <a:lumMod val="20000"/>
              <a:lumOff val="80000"/>
            </a:schemeClr>
          </a:solidFill>
        </p:grpSpPr>
        <p:sp>
          <p:nvSpPr>
            <p:cNvPr id="8" name="Flowchart: Process 7"/>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Cash</a:t>
              </a:r>
            </a:p>
          </p:txBody>
        </p:sp>
        <p:sp>
          <p:nvSpPr>
            <p:cNvPr id="9" name="Flowchart: Process 8"/>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prcessPayment</a:t>
              </a:r>
              <a:r>
                <a:rPr lang="en-US" sz="1300" b="1" spc="-100" dirty="0">
                  <a:solidFill>
                    <a:schemeClr val="tx1"/>
                  </a:solidFill>
                  <a:latin typeface="Courier New" panose="02070309020205020404" pitchFamily="49" charset="0"/>
                  <a:cs typeface="Courier New" panose="02070309020205020404" pitchFamily="49" charset="0"/>
                </a:rPr>
                <a:t>()</a:t>
              </a:r>
            </a:p>
          </p:txBody>
        </p:sp>
      </p:grpSp>
      <p:grpSp>
        <p:nvGrpSpPr>
          <p:cNvPr id="10" name="Group 9"/>
          <p:cNvGrpSpPr/>
          <p:nvPr/>
        </p:nvGrpSpPr>
        <p:grpSpPr>
          <a:xfrm>
            <a:off x="3945874" y="3151544"/>
            <a:ext cx="1690686" cy="809820"/>
            <a:chOff x="6092889" y="3733800"/>
            <a:chExt cx="2828265" cy="809820"/>
          </a:xfrm>
          <a:solidFill>
            <a:schemeClr val="accent6">
              <a:lumMod val="20000"/>
              <a:lumOff val="80000"/>
            </a:schemeClr>
          </a:solidFill>
        </p:grpSpPr>
        <p:sp>
          <p:nvSpPr>
            <p:cNvPr id="11" name="Flowchart: Process 10"/>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Coupon</a:t>
              </a:r>
            </a:p>
          </p:txBody>
        </p:sp>
        <p:sp>
          <p:nvSpPr>
            <p:cNvPr id="12" name="Flowchart: Process 11"/>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prcessPayment</a:t>
              </a:r>
              <a:r>
                <a:rPr lang="en-US" sz="1300" b="1" spc="-100" dirty="0">
                  <a:solidFill>
                    <a:schemeClr val="tx1"/>
                  </a:solidFill>
                  <a:latin typeface="Courier New" panose="02070309020205020404" pitchFamily="49" charset="0"/>
                  <a:cs typeface="Courier New" panose="02070309020205020404" pitchFamily="49" charset="0"/>
                </a:rPr>
                <a:t>()</a:t>
              </a:r>
            </a:p>
          </p:txBody>
        </p:sp>
      </p:grpSp>
      <p:sp>
        <p:nvSpPr>
          <p:cNvPr id="13" name="Isosceles Triangle 12"/>
          <p:cNvSpPr/>
          <p:nvPr/>
        </p:nvSpPr>
        <p:spPr>
          <a:xfrm>
            <a:off x="2743200" y="2305050"/>
            <a:ext cx="228600" cy="23326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flipH="1">
            <a:off x="2861777" y="2530150"/>
            <a:ext cx="14774" cy="376336"/>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6" name="Elbow Connector 15"/>
          <p:cNvCxnSpPr>
            <a:stCxn id="8" idx="0"/>
            <a:endCxn id="11" idx="0"/>
          </p:cNvCxnSpPr>
          <p:nvPr/>
        </p:nvCxnSpPr>
        <p:spPr>
          <a:xfrm rot="5400000" flipH="1" flipV="1">
            <a:off x="2855351" y="1222934"/>
            <a:ext cx="7255" cy="3864477"/>
          </a:xfrm>
          <a:prstGeom prst="bentConnector3">
            <a:avLst>
              <a:gd name="adj1" fmla="val 3250930"/>
            </a:avLst>
          </a:prstGeom>
          <a:ln w="12700"/>
        </p:spPr>
        <p:style>
          <a:lnRef idx="1">
            <a:schemeClr val="dk1"/>
          </a:lnRef>
          <a:fillRef idx="0">
            <a:schemeClr val="dk1"/>
          </a:fillRef>
          <a:effectRef idx="0">
            <a:schemeClr val="dk1"/>
          </a:effectRef>
          <a:fontRef idx="minor">
            <a:schemeClr val="tx1"/>
          </a:fontRef>
        </p:style>
      </p:cxnSp>
      <p:grpSp>
        <p:nvGrpSpPr>
          <p:cNvPr id="60" name="Group 59"/>
          <p:cNvGrpSpPr/>
          <p:nvPr/>
        </p:nvGrpSpPr>
        <p:grpSpPr>
          <a:xfrm>
            <a:off x="6549409" y="2853779"/>
            <a:ext cx="2276476" cy="917128"/>
            <a:chOff x="6092889" y="3733800"/>
            <a:chExt cx="2828265" cy="872187"/>
          </a:xfrm>
          <a:solidFill>
            <a:schemeClr val="accent6">
              <a:lumMod val="20000"/>
              <a:lumOff val="80000"/>
            </a:schemeClr>
          </a:solidFill>
        </p:grpSpPr>
        <p:sp>
          <p:nvSpPr>
            <p:cNvPr id="61" name="Flowchart: Process 60"/>
            <p:cNvSpPr/>
            <p:nvPr/>
          </p:nvSpPr>
          <p:spPr>
            <a:xfrm>
              <a:off x="6092889" y="3733800"/>
              <a:ext cx="2828265" cy="380999"/>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GetPayment</a:t>
              </a:r>
              <a:endParaRPr lang="en-US" b="1" dirty="0">
                <a:solidFill>
                  <a:srgbClr val="800000"/>
                </a:solidFill>
              </a:endParaRPr>
            </a:p>
          </p:txBody>
        </p:sp>
        <p:sp>
          <p:nvSpPr>
            <p:cNvPr id="62" name="Flowchart: Process 61"/>
            <p:cNvSpPr/>
            <p:nvPr/>
          </p:nvSpPr>
          <p:spPr>
            <a:xfrm>
              <a:off x="6092889" y="4114800"/>
              <a:ext cx="2828264" cy="491187"/>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a:t>
              </a:r>
              <a:r>
                <a:rPr lang="en-US" sz="1300" b="1" spc="-100" dirty="0" err="1">
                  <a:solidFill>
                    <a:schemeClr val="tx1"/>
                  </a:solidFill>
                  <a:latin typeface="Courier New" panose="02070309020205020404" pitchFamily="49" charset="0"/>
                  <a:cs typeface="Courier New" panose="02070309020205020404" pitchFamily="49" charset="0"/>
                </a:rPr>
                <a:t>getProcessor</a:t>
              </a:r>
              <a:r>
                <a:rPr lang="en-US" sz="1300" b="1" spc="-100" dirty="0">
                  <a:solidFill>
                    <a:schemeClr val="tx1"/>
                  </a:solidFill>
                  <a:latin typeface="Courier New" panose="02070309020205020404" pitchFamily="49" charset="0"/>
                  <a:cs typeface="Courier New" panose="02070309020205020404" pitchFamily="49" charset="0"/>
                </a:rPr>
                <a:t>(type):</a:t>
              </a:r>
            </a:p>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PaymentProcessor</a:t>
              </a:r>
              <a:endParaRPr lang="en-US" sz="1300" b="1" spc="-100" dirty="0">
                <a:solidFill>
                  <a:schemeClr val="tx1"/>
                </a:solidFill>
                <a:latin typeface="Courier New" panose="02070309020205020404" pitchFamily="49" charset="0"/>
                <a:cs typeface="Courier New" panose="02070309020205020404" pitchFamily="49" charset="0"/>
              </a:endParaRPr>
            </a:p>
          </p:txBody>
        </p:sp>
      </p:grpSp>
      <p:sp>
        <p:nvSpPr>
          <p:cNvPr id="75" name="Flowchart: Process 74"/>
          <p:cNvSpPr/>
          <p:nvPr/>
        </p:nvSpPr>
        <p:spPr>
          <a:xfrm>
            <a:off x="6900861" y="1247903"/>
            <a:ext cx="1600200" cy="283295"/>
          </a:xfrm>
          <a:prstGeom prst="flowChartProcess">
            <a:avLst/>
          </a:prstGeom>
          <a:solidFill>
            <a:schemeClr val="accent6">
              <a:lumMod val="20000"/>
              <a:lumOff val="80000"/>
            </a:schemeClr>
          </a:solid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Kiosk</a:t>
            </a:r>
          </a:p>
        </p:txBody>
      </p:sp>
      <p:grpSp>
        <p:nvGrpSpPr>
          <p:cNvPr id="47" name="Group 46"/>
          <p:cNvGrpSpPr/>
          <p:nvPr/>
        </p:nvGrpSpPr>
        <p:grpSpPr>
          <a:xfrm>
            <a:off x="2022424" y="3158799"/>
            <a:ext cx="1696815" cy="809820"/>
            <a:chOff x="6092889" y="3733800"/>
            <a:chExt cx="2828265" cy="809820"/>
          </a:xfrm>
          <a:solidFill>
            <a:schemeClr val="accent6">
              <a:lumMod val="20000"/>
              <a:lumOff val="80000"/>
            </a:schemeClr>
          </a:solidFill>
        </p:grpSpPr>
        <p:sp>
          <p:nvSpPr>
            <p:cNvPr id="48" name="Flowchart: Process 47"/>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CreditCard</a:t>
              </a:r>
              <a:endParaRPr lang="en-US" b="1" dirty="0">
                <a:solidFill>
                  <a:srgbClr val="800000"/>
                </a:solidFill>
              </a:endParaRPr>
            </a:p>
          </p:txBody>
        </p:sp>
        <p:sp>
          <p:nvSpPr>
            <p:cNvPr id="49" name="Flowchart: Process 48"/>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prcessPayment</a:t>
              </a:r>
              <a:r>
                <a:rPr lang="en-US" sz="1300" b="1" spc="-100" dirty="0">
                  <a:solidFill>
                    <a:schemeClr val="tx1"/>
                  </a:solidFill>
                  <a:latin typeface="Courier New" panose="02070309020205020404" pitchFamily="49" charset="0"/>
                  <a:cs typeface="Courier New" panose="02070309020205020404" pitchFamily="49" charset="0"/>
                </a:rPr>
                <a:t>()</a:t>
              </a:r>
            </a:p>
          </p:txBody>
        </p:sp>
      </p:grpSp>
      <p:cxnSp>
        <p:nvCxnSpPr>
          <p:cNvPr id="15" name="Straight Connector 14"/>
          <p:cNvCxnSpPr>
            <a:stCxn id="48" idx="0"/>
          </p:cNvCxnSpPr>
          <p:nvPr/>
        </p:nvCxnSpPr>
        <p:spPr>
          <a:xfrm flipH="1" flipV="1">
            <a:off x="2857500" y="2919312"/>
            <a:ext cx="13332" cy="239487"/>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Straight Arrow Connector 31"/>
          <p:cNvCxnSpPr>
            <a:stCxn id="75" idx="2"/>
            <a:endCxn id="61" idx="0"/>
          </p:cNvCxnSpPr>
          <p:nvPr/>
        </p:nvCxnSpPr>
        <p:spPr>
          <a:xfrm flipH="1">
            <a:off x="7687647" y="1531198"/>
            <a:ext cx="13314" cy="132258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Elbow Connector 55"/>
          <p:cNvCxnSpPr>
            <a:stCxn id="62" idx="2"/>
            <a:endCxn id="12" idx="2"/>
          </p:cNvCxnSpPr>
          <p:nvPr/>
        </p:nvCxnSpPr>
        <p:spPr>
          <a:xfrm rot="5400000">
            <a:off x="6144204" y="2417920"/>
            <a:ext cx="190457" cy="2896430"/>
          </a:xfrm>
          <a:prstGeom prst="bentConnector3">
            <a:avLst>
              <a:gd name="adj1" fmla="val 220027"/>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9" name="Elbow Connector 58"/>
          <p:cNvCxnSpPr>
            <a:endCxn id="49" idx="2"/>
          </p:cNvCxnSpPr>
          <p:nvPr/>
        </p:nvCxnSpPr>
        <p:spPr>
          <a:xfrm rot="10800000" flipV="1">
            <a:off x="2870832" y="3773495"/>
            <a:ext cx="4848909" cy="195124"/>
          </a:xfrm>
          <a:prstGeom prst="bentConnector4">
            <a:avLst>
              <a:gd name="adj1" fmla="val 457"/>
              <a:gd name="adj2" fmla="val 217156"/>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72" name="Elbow Connector 71"/>
          <p:cNvCxnSpPr>
            <a:stCxn id="62" idx="2"/>
            <a:endCxn id="9" idx="2"/>
          </p:cNvCxnSpPr>
          <p:nvPr/>
        </p:nvCxnSpPr>
        <p:spPr>
          <a:xfrm rot="5400000">
            <a:off x="4208338" y="489310"/>
            <a:ext cx="197712" cy="6760907"/>
          </a:xfrm>
          <a:prstGeom prst="bentConnector3">
            <a:avLst>
              <a:gd name="adj1" fmla="val 215623"/>
            </a:avLst>
          </a:prstGeom>
          <a:ln w="19050">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23871143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a:t>
            </a:r>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7390" t="23736" r="21374" b="10476"/>
          <a:stretch/>
        </p:blipFill>
        <p:spPr bwMode="auto">
          <a:xfrm>
            <a:off x="464330" y="1371600"/>
            <a:ext cx="8070070" cy="487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7397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6813" t="18315" r="48819" b="20586"/>
          <a:stretch/>
        </p:blipFill>
        <p:spPr bwMode="auto">
          <a:xfrm>
            <a:off x="152399" y="609600"/>
            <a:ext cx="4952999" cy="495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6786" t="25642" r="56923" b="29377"/>
          <a:stretch/>
        </p:blipFill>
        <p:spPr bwMode="auto">
          <a:xfrm>
            <a:off x="3886199" y="776235"/>
            <a:ext cx="4973455" cy="47863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021486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6649" t="20513" r="47335" b="15019"/>
          <a:stretch/>
        </p:blipFill>
        <p:spPr bwMode="auto">
          <a:xfrm>
            <a:off x="28470" y="76200"/>
            <a:ext cx="4162530" cy="44212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7692" t="20073" r="41154" b="14725"/>
          <a:stretch/>
        </p:blipFill>
        <p:spPr bwMode="auto">
          <a:xfrm>
            <a:off x="4114800" y="1376624"/>
            <a:ext cx="5017477" cy="44715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503657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Example </a:t>
            </a:r>
            <a:r>
              <a:rPr lang="en-US" dirty="0" err="1" smtClean="0"/>
              <a:t>Usecase</a:t>
            </a:r>
            <a:endParaRPr lang="en-US" dirty="0"/>
          </a:p>
        </p:txBody>
      </p:sp>
      <p:sp>
        <p:nvSpPr>
          <p:cNvPr id="3" name="Content Placeholder 2"/>
          <p:cNvSpPr>
            <a:spLocks noGrp="1"/>
          </p:cNvSpPr>
          <p:nvPr>
            <p:ph idx="1"/>
          </p:nvPr>
        </p:nvSpPr>
        <p:spPr/>
        <p:txBody>
          <a:bodyPr/>
          <a:lstStyle/>
          <a:p>
            <a:r>
              <a:rPr lang="en-US" dirty="0" smtClean="0"/>
              <a:t>Imagine that you’re creating a logistics management application. The first version of your app can only handle transportation by trucks, so the bulk of your code lives inside the Truck class.</a:t>
            </a:r>
          </a:p>
          <a:p>
            <a:r>
              <a:rPr lang="en-US" dirty="0" smtClean="0"/>
              <a:t>After a while, your app becomes pretty popular. Each day you receive dozens of requests from sea transportation companies to incorporate sea logistics into the app.</a:t>
            </a:r>
          </a:p>
          <a:p>
            <a:r>
              <a:rPr lang="en-US" dirty="0" smtClean="0"/>
              <a:t>Great news, right? But how about the code? At present, most of your code is coupled to the Truck class. Adding Ships into the app would require making changes to the entire codebase. Moreover, if later you decide to add another type of transportation to the app, you will probably need to make all of these changes again.</a:t>
            </a:r>
          </a:p>
          <a:p>
            <a:r>
              <a:rPr lang="en-US" dirty="0" smtClean="0"/>
              <a:t>As a result, you will end up with pretty nasty code, riddled with conditionals that switch the app’s behavior depending on the class of transportation objects.</a:t>
            </a:r>
          </a:p>
          <a:p>
            <a:r>
              <a:rPr lang="en-US" dirty="0" smtClean="0">
                <a:solidFill>
                  <a:srgbClr val="00B0F0"/>
                </a:solidFill>
              </a:rPr>
              <a:t>Solution: https://refactoring.guru/design-patterns/factory-method</a:t>
            </a:r>
            <a:endParaRPr lang="en-US" dirty="0">
              <a:solidFill>
                <a:srgbClr val="00B0F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00050" y="76200"/>
            <a:ext cx="8343900" cy="5962650"/>
          </a:xfrm>
          <a:prstGeom prst="rect">
            <a:avLst/>
          </a:prstGeom>
          <a:noFill/>
          <a:ln w="9525">
            <a:noFill/>
            <a:miter lim="800000"/>
            <a:headEnd/>
            <a:tailEnd/>
          </a:ln>
          <a:effectLst/>
        </p:spPr>
      </p:pic>
      <p:sp>
        <p:nvSpPr>
          <p:cNvPr id="5" name="TextBox 4"/>
          <p:cNvSpPr txBox="1"/>
          <p:nvPr/>
        </p:nvSpPr>
        <p:spPr>
          <a:xfrm>
            <a:off x="4495800" y="228600"/>
            <a:ext cx="3429000" cy="646331"/>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sz="3600" dirty="0" smtClean="0"/>
              <a:t>Another Example</a:t>
            </a:r>
            <a:endParaRPr lang="en-US" sz="3600" dirty="0"/>
          </a:p>
        </p:txBody>
      </p:sp>
      <p:sp>
        <p:nvSpPr>
          <p:cNvPr id="6" name="Rectangle 5"/>
          <p:cNvSpPr/>
          <p:nvPr/>
        </p:nvSpPr>
        <p:spPr>
          <a:xfrm>
            <a:off x="2362200" y="6019800"/>
            <a:ext cx="55626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smtClean="0"/>
              <a:t>https://refactoring.guru/design-patterns/factory-method</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smtClean="0"/>
              <a:t>Use the Factory Method when you want to provide users of your library or framework with a way to extend its internal components</a:t>
            </a:r>
            <a:endParaRPr lang="en-US" sz="2400" dirty="0"/>
          </a:p>
        </p:txBody>
      </p:sp>
      <p:sp>
        <p:nvSpPr>
          <p:cNvPr id="3" name="Content Placeholder 2"/>
          <p:cNvSpPr>
            <a:spLocks noGrp="1"/>
          </p:cNvSpPr>
          <p:nvPr>
            <p:ph idx="1"/>
          </p:nvPr>
        </p:nvSpPr>
        <p:spPr>
          <a:xfrm>
            <a:off x="381000" y="1216479"/>
            <a:ext cx="8534400" cy="4960484"/>
          </a:xfrm>
        </p:spPr>
        <p:txBody>
          <a:bodyPr>
            <a:noAutofit/>
          </a:bodyPr>
          <a:lstStyle/>
          <a:p>
            <a:r>
              <a:rPr lang="en-US" sz="2400" dirty="0" smtClean="0"/>
              <a:t>Imagine that you write an app using an open source UI framework.</a:t>
            </a:r>
          </a:p>
          <a:p>
            <a:r>
              <a:rPr lang="en-US" sz="2400" dirty="0" smtClean="0"/>
              <a:t> Your app should have round buttons, but the framework only provides square ones. </a:t>
            </a:r>
          </a:p>
          <a:p>
            <a:r>
              <a:rPr lang="en-US" sz="2400" dirty="0" smtClean="0"/>
              <a:t>You extend the standard Button class with a glorious </a:t>
            </a:r>
            <a:r>
              <a:rPr lang="en-US" sz="2400" dirty="0" err="1" smtClean="0"/>
              <a:t>RoundButton</a:t>
            </a:r>
            <a:r>
              <a:rPr lang="en-US" sz="2400" dirty="0" smtClean="0"/>
              <a:t> subclass. </a:t>
            </a:r>
          </a:p>
          <a:p>
            <a:r>
              <a:rPr lang="en-US" sz="2400" dirty="0" smtClean="0"/>
              <a:t>But now you need to tell the main </a:t>
            </a:r>
            <a:r>
              <a:rPr lang="en-US" sz="2400" dirty="0" err="1" smtClean="0"/>
              <a:t>UIFramework</a:t>
            </a:r>
            <a:r>
              <a:rPr lang="en-US" sz="2400" dirty="0" smtClean="0"/>
              <a:t> class to use the new button subclass instead of a default one.</a:t>
            </a:r>
          </a:p>
          <a:p>
            <a:r>
              <a:rPr lang="en-US" sz="2400" dirty="0" smtClean="0"/>
              <a:t>To achieve this, you create a subclass </a:t>
            </a:r>
            <a:r>
              <a:rPr lang="en-US" sz="2400" dirty="0" err="1" smtClean="0"/>
              <a:t>UIWithRoundButtons</a:t>
            </a:r>
            <a:r>
              <a:rPr lang="en-US" sz="2400" dirty="0" smtClean="0"/>
              <a:t> from a base framework class and override its </a:t>
            </a:r>
            <a:r>
              <a:rPr lang="en-US" sz="2400" dirty="0" err="1" smtClean="0"/>
              <a:t>createButton</a:t>
            </a:r>
            <a:r>
              <a:rPr lang="en-US" sz="2400" dirty="0" smtClean="0"/>
              <a:t> method. </a:t>
            </a:r>
          </a:p>
          <a:p>
            <a:r>
              <a:rPr lang="en-US" sz="2400" dirty="0" smtClean="0"/>
              <a:t>While this method returns Button objects in the base class, you make your subclass return </a:t>
            </a:r>
            <a:r>
              <a:rPr lang="en-US" sz="2400" dirty="0" err="1" smtClean="0"/>
              <a:t>RoundButton</a:t>
            </a:r>
            <a:r>
              <a:rPr lang="en-US" sz="2400" dirty="0" smtClean="0"/>
              <a:t> objects. </a:t>
            </a:r>
          </a:p>
          <a:p>
            <a:r>
              <a:rPr lang="en-US" sz="2400" dirty="0" smtClean="0"/>
              <a:t>Now use the </a:t>
            </a:r>
            <a:r>
              <a:rPr lang="en-US" sz="2400" dirty="0" err="1" smtClean="0"/>
              <a:t>UIWithRoundButtons</a:t>
            </a:r>
            <a:r>
              <a:rPr lang="en-US" sz="2400" dirty="0" smtClean="0"/>
              <a:t> class instead of </a:t>
            </a:r>
            <a:r>
              <a:rPr lang="en-US" sz="2400" dirty="0" err="1" smtClean="0"/>
              <a:t>UIFramework</a:t>
            </a:r>
            <a:r>
              <a:rPr lang="en-US" sz="2400" dirty="0" smtClean="0"/>
              <a:t>.</a:t>
            </a:r>
          </a:p>
          <a:p>
            <a:endParaRPr 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Consequences/Benefits</a:t>
            </a:r>
            <a:endParaRPr lang="en-US" dirty="0"/>
          </a:p>
        </p:txBody>
      </p:sp>
      <p:sp>
        <p:nvSpPr>
          <p:cNvPr id="3" name="Content Placeholder 2"/>
          <p:cNvSpPr>
            <a:spLocks noGrp="1"/>
          </p:cNvSpPr>
          <p:nvPr>
            <p:ph idx="1"/>
          </p:nvPr>
        </p:nvSpPr>
        <p:spPr/>
        <p:txBody>
          <a:bodyPr/>
          <a:lstStyle/>
          <a:p>
            <a:r>
              <a:rPr lang="en-US" dirty="0" smtClean="0"/>
              <a:t>Factory design pattern provides approach to code for interface rather than implementation.</a:t>
            </a:r>
          </a:p>
          <a:p>
            <a:r>
              <a:rPr lang="en-US" dirty="0" smtClean="0"/>
              <a:t>Factory pattern removes the instantiation of actual implementation classes from client code. Factory pattern makes our code more robust, less coupled and easy to extend. For example, we can easily change lower class implementation because client program is unaware of this.</a:t>
            </a:r>
          </a:p>
          <a:p>
            <a:r>
              <a:rPr lang="en-US" dirty="0" smtClean="0"/>
              <a:t>Factory pattern provides abstraction between implementation and client classes through inheritance.</a:t>
            </a:r>
          </a:p>
          <a:p>
            <a:endParaRPr lang="en-US" dirty="0"/>
          </a:p>
          <a:p>
            <a:endParaRPr lang="en-US" dirty="0"/>
          </a:p>
        </p:txBody>
      </p:sp>
    </p:spTree>
    <p:extLst>
      <p:ext uri="{BB962C8B-B14F-4D97-AF65-F5344CB8AC3E}">
        <p14:creationId xmlns:p14="http://schemas.microsoft.com/office/powerpoint/2010/main" xmlns="" val="14153709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57188" y="833438"/>
            <a:ext cx="8429625" cy="5191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Abstract Factory</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3152390146"/>
              </p:ext>
            </p:extLst>
          </p:nvPr>
        </p:nvGraphicFramePr>
        <p:xfrm>
          <a:off x="628650" y="1371600"/>
          <a:ext cx="7677150" cy="4038600"/>
        </p:xfrm>
        <a:graphic>
          <a:graphicData uri="http://schemas.openxmlformats.org/drawingml/2006/table">
            <a:tbl>
              <a:tblPr firstRow="1" bandRow="1">
                <a:tableStyleId>{22838BEF-8BB2-4498-84A7-C5851F593DF1}</a:tableStyleId>
              </a:tblPr>
              <a:tblGrid>
                <a:gridCol w="2281323">
                  <a:extLst>
                    <a:ext uri="{9D8B030D-6E8A-4147-A177-3AD203B41FA5}">
                      <a16:colId xmlns:a16="http://schemas.microsoft.com/office/drawing/2014/main" xmlns="" val="20000"/>
                    </a:ext>
                  </a:extLst>
                </a:gridCol>
                <a:gridCol w="5395827">
                  <a:extLst>
                    <a:ext uri="{9D8B030D-6E8A-4147-A177-3AD203B41FA5}">
                      <a16:colId xmlns:a16="http://schemas.microsoft.com/office/drawing/2014/main" xmlns="" val="20001"/>
                    </a:ext>
                  </a:extLst>
                </a:gridCol>
              </a:tblGrid>
              <a:tr h="1613445">
                <a:tc>
                  <a:txBody>
                    <a:bodyPr/>
                    <a:lstStyle/>
                    <a:p>
                      <a:r>
                        <a:rPr lang="en-US" sz="2400" b="0" dirty="0"/>
                        <a:t>Intent</a:t>
                      </a:r>
                    </a:p>
                  </a:txBody>
                  <a:tcPr>
                    <a:solidFill>
                      <a:schemeClr val="accent1">
                        <a:lumMod val="40000"/>
                        <a:lumOff val="60000"/>
                      </a:schemeClr>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Provide an interface for creating families of related or dependent objects without specifying their concrete classes.</a:t>
                      </a:r>
                      <a:endParaRPr lang="en-US" dirty="0"/>
                    </a:p>
                  </a:txBody>
                  <a:tcPr>
                    <a:solidFill>
                      <a:schemeClr val="bg1"/>
                    </a:solidFill>
                  </a:tcPr>
                </a:tc>
                <a:extLst>
                  <a:ext uri="{0D108BD9-81ED-4DB2-BD59-A6C34878D82A}">
                    <a16:rowId xmlns:a16="http://schemas.microsoft.com/office/drawing/2014/main" xmlns="" val="10000"/>
                  </a:ext>
                </a:extLst>
              </a:tr>
              <a:tr h="2425155">
                <a:tc>
                  <a:txBody>
                    <a:bodyPr/>
                    <a:lstStyle/>
                    <a:p>
                      <a:r>
                        <a:rPr lang="en-US" sz="2400" b="0" dirty="0"/>
                        <a:t>Problem</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2000" dirty="0"/>
                        <a:t>A portable application</a:t>
                      </a:r>
                      <a:r>
                        <a:rPr lang="en-US" sz="2000" baseline="0" dirty="0"/>
                        <a:t> needs to encapsulate platform dependencies</a:t>
                      </a:r>
                      <a:endParaRPr lang="en-US" sz="2000" dirty="0"/>
                    </a:p>
                    <a:p>
                      <a:pPr marL="285750" indent="-285750">
                        <a:buFont typeface="Arial" panose="020B0604020202020204" pitchFamily="34" charset="0"/>
                        <a:buChar char="•"/>
                      </a:pPr>
                      <a:r>
                        <a:rPr lang="en-US" sz="2000" dirty="0"/>
                        <a:t>Consider an application that support</a:t>
                      </a:r>
                      <a:r>
                        <a:rPr lang="en-US" sz="2000" baseline="0" dirty="0"/>
                        <a:t> multiple look and feels.</a:t>
                      </a:r>
                      <a:endParaRPr lang="en-US" sz="2000" dirty="0"/>
                    </a:p>
                    <a:p>
                      <a:pPr marL="285750" indent="-285750">
                        <a:buFont typeface="Arial" panose="020B0604020202020204" pitchFamily="34" charset="0"/>
                        <a:buChar char="•"/>
                      </a:pPr>
                      <a:r>
                        <a:rPr lang="en-US" sz="2000" dirty="0"/>
                        <a:t>An application need</a:t>
                      </a:r>
                      <a:r>
                        <a:rPr lang="en-US" sz="2000" baseline="0" dirty="0"/>
                        <a:t> to work with multiple types of DBMS</a:t>
                      </a:r>
                      <a:endParaRPr lang="en-US" sz="2000" dirty="0"/>
                    </a:p>
                  </a:txBody>
                  <a:tcPr>
                    <a:solidFill>
                      <a:schemeClr val="bg1"/>
                    </a:solid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3708113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pic>
        <p:nvPicPr>
          <p:cNvPr id="8196" name="Picture 4" descr="https://upload.wikimedia.org/wikipedia/commons/thumb/9/9d/Abstract_factory_UML.svg/2000px-Abstract_factory_UML.svg.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70640" y="1143000"/>
            <a:ext cx="7602720" cy="50292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640546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Problem</a:t>
            </a:r>
            <a:endParaRPr lang="en-US" dirty="0"/>
          </a:p>
        </p:txBody>
      </p:sp>
      <p:sp>
        <p:nvSpPr>
          <p:cNvPr id="3" name="Content Placeholder 2"/>
          <p:cNvSpPr>
            <a:spLocks noGrp="1"/>
          </p:cNvSpPr>
          <p:nvPr>
            <p:ph idx="1"/>
          </p:nvPr>
        </p:nvSpPr>
        <p:spPr>
          <a:xfrm>
            <a:off x="628650" y="1066800"/>
            <a:ext cx="7886700" cy="764721"/>
          </a:xfrm>
        </p:spPr>
        <p:txBody>
          <a:bodyPr>
            <a:noAutofit/>
          </a:bodyPr>
          <a:lstStyle/>
          <a:p>
            <a:r>
              <a:rPr lang="en-US" sz="2400" dirty="0" smtClean="0"/>
              <a:t>Imagine that you’re creating a furniture shop simulator. Your code consists of classes that represent a family of products and their variants.</a:t>
            </a:r>
            <a:endParaRPr lang="en-US" sz="2400" dirty="0"/>
          </a:p>
        </p:txBody>
      </p:sp>
      <p:pic>
        <p:nvPicPr>
          <p:cNvPr id="1026" name="Picture 2"/>
          <p:cNvPicPr>
            <a:picLocks noChangeAspect="1" noChangeArrowheads="1"/>
          </p:cNvPicPr>
          <p:nvPr/>
        </p:nvPicPr>
        <p:blipFill>
          <a:blip r:embed="rId2"/>
          <a:srcRect/>
          <a:stretch>
            <a:fillRect/>
          </a:stretch>
        </p:blipFill>
        <p:spPr bwMode="auto">
          <a:xfrm>
            <a:off x="3394319" y="2133600"/>
            <a:ext cx="5292481" cy="4452938"/>
          </a:xfrm>
          <a:prstGeom prst="rect">
            <a:avLst/>
          </a:prstGeom>
          <a:noFill/>
          <a:ln w="9525">
            <a:noFill/>
            <a:miter lim="800000"/>
            <a:headEnd/>
            <a:tailEnd/>
          </a:ln>
          <a:effectLst/>
        </p:spPr>
      </p:pic>
      <p:sp>
        <p:nvSpPr>
          <p:cNvPr id="5" name="TextBox 4"/>
          <p:cNvSpPr txBox="1"/>
          <p:nvPr/>
        </p:nvSpPr>
        <p:spPr>
          <a:xfrm>
            <a:off x="609600" y="3276600"/>
            <a:ext cx="2438400" cy="1200329"/>
          </a:xfrm>
          <a:prstGeom prst="rect">
            <a:avLst/>
          </a:prstGeom>
          <a:noFill/>
        </p:spPr>
        <p:txBody>
          <a:bodyPr wrap="square" rtlCol="0">
            <a:spAutoFit/>
          </a:bodyPr>
          <a:lstStyle/>
          <a:p>
            <a:r>
              <a:rPr lang="en-US" dirty="0" smtClean="0"/>
              <a:t>https://refactoring.guru/design-patterns/abstract-factory</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Factory</a:t>
            </a:r>
            <a:endParaRPr lang="en-US" dirty="0"/>
          </a:p>
        </p:txBody>
      </p:sp>
      <p:sp>
        <p:nvSpPr>
          <p:cNvPr id="3" name="Content Placeholder 2"/>
          <p:cNvSpPr>
            <a:spLocks noGrp="1"/>
          </p:cNvSpPr>
          <p:nvPr>
            <p:ph idx="1"/>
          </p:nvPr>
        </p:nvSpPr>
        <p:spPr>
          <a:xfrm>
            <a:off x="628650" y="1216479"/>
            <a:ext cx="7886700" cy="2441121"/>
          </a:xfrm>
        </p:spPr>
        <p:txBody>
          <a:bodyPr/>
          <a:lstStyle/>
          <a:p>
            <a:r>
              <a:rPr lang="en-US" dirty="0" smtClean="0"/>
              <a:t>You need a way to create individual furniture objects so that they match other objects of the same family. </a:t>
            </a:r>
          </a:p>
          <a:p>
            <a:r>
              <a:rPr lang="en-US" dirty="0" smtClean="0"/>
              <a:t>Customers get quite mad when they receive non-matching furniture.</a:t>
            </a:r>
          </a:p>
          <a:p>
            <a:r>
              <a:rPr lang="en-US" dirty="0" smtClean="0"/>
              <a:t>Also, you don’t want to change existing code when adding new products or families of products to the program. </a:t>
            </a:r>
          </a:p>
          <a:p>
            <a:r>
              <a:rPr lang="en-US" dirty="0" smtClean="0"/>
              <a:t>Furniture vendors update their catalogs very often, and you wouldn’t want to change the core code each time it happens.</a:t>
            </a:r>
            <a:endParaRPr lang="en-US" dirty="0"/>
          </a:p>
        </p:txBody>
      </p:sp>
      <p:pic>
        <p:nvPicPr>
          <p:cNvPr id="2050" name="Picture 2"/>
          <p:cNvPicPr>
            <a:picLocks noChangeAspect="1" noChangeArrowheads="1"/>
          </p:cNvPicPr>
          <p:nvPr/>
        </p:nvPicPr>
        <p:blipFill>
          <a:blip r:embed="rId2"/>
          <a:srcRect/>
          <a:stretch>
            <a:fillRect/>
          </a:stretch>
        </p:blipFill>
        <p:spPr bwMode="auto">
          <a:xfrm>
            <a:off x="2209800" y="3835083"/>
            <a:ext cx="4798805" cy="27943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p:sp>
        <p:nvSpPr>
          <p:cNvPr id="3" name="Content Placeholder 2"/>
          <p:cNvSpPr>
            <a:spLocks noGrp="1"/>
          </p:cNvSpPr>
          <p:nvPr>
            <p:ph idx="1"/>
          </p:nvPr>
        </p:nvSpPr>
        <p:spPr>
          <a:xfrm>
            <a:off x="628650" y="1216479"/>
            <a:ext cx="8210550" cy="2212521"/>
          </a:xfrm>
        </p:spPr>
        <p:txBody>
          <a:bodyPr>
            <a:normAutofit/>
          </a:bodyPr>
          <a:lstStyle/>
          <a:p>
            <a:r>
              <a:rPr lang="en-US" dirty="0" smtClean="0"/>
              <a:t>The first thing the Abstract Factory pattern suggests is to explicitly declare interfaces for each distinct product of the product family (e.g., chair, sofa or coffee table). </a:t>
            </a:r>
          </a:p>
          <a:p>
            <a:r>
              <a:rPr lang="en-US" dirty="0" smtClean="0"/>
              <a:t>Then you can make all variants of products follow those interfaces. For example, all chair variants can implement the Chair interface; all coffee table variants can implement the </a:t>
            </a:r>
            <a:r>
              <a:rPr lang="en-US" dirty="0" err="1" smtClean="0"/>
              <a:t>CoffeeTable</a:t>
            </a:r>
            <a:r>
              <a:rPr lang="en-US" dirty="0" smtClean="0"/>
              <a:t> interface, and so on.</a:t>
            </a:r>
            <a:br>
              <a:rPr lang="en-US" dirty="0" smtClean="0"/>
            </a:br>
            <a:endParaRPr lang="en-US" dirty="0"/>
          </a:p>
        </p:txBody>
      </p:sp>
      <p:pic>
        <p:nvPicPr>
          <p:cNvPr id="3074" name="Picture 2"/>
          <p:cNvPicPr>
            <a:picLocks noChangeAspect="1" noChangeArrowheads="1"/>
          </p:cNvPicPr>
          <p:nvPr/>
        </p:nvPicPr>
        <p:blipFill>
          <a:blip r:embed="rId2"/>
          <a:srcRect/>
          <a:stretch>
            <a:fillRect/>
          </a:stretch>
        </p:blipFill>
        <p:spPr bwMode="auto">
          <a:xfrm>
            <a:off x="2286000" y="3124200"/>
            <a:ext cx="5005388" cy="3540692"/>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304801"/>
            <a:ext cx="7886700" cy="2819400"/>
          </a:xfrm>
        </p:spPr>
        <p:txBody>
          <a:bodyPr>
            <a:normAutofit fontScale="92500" lnSpcReduction="10000"/>
          </a:bodyPr>
          <a:lstStyle/>
          <a:p>
            <a:r>
              <a:rPr lang="en-US" sz="2300" dirty="0" smtClean="0"/>
              <a:t>The next move is to declare the </a:t>
            </a:r>
            <a:r>
              <a:rPr lang="en-US" sz="2300" i="1" dirty="0" smtClean="0"/>
              <a:t>Abstract Factory</a:t>
            </a:r>
            <a:r>
              <a:rPr lang="en-US" sz="2300" dirty="0" smtClean="0"/>
              <a:t>—an interface</a:t>
            </a:r>
            <a:br>
              <a:rPr lang="en-US" sz="2300" dirty="0" smtClean="0"/>
            </a:br>
            <a:r>
              <a:rPr lang="en-US" sz="2300" dirty="0" smtClean="0"/>
              <a:t>with a list of creation methods for all products that are part</a:t>
            </a:r>
            <a:br>
              <a:rPr lang="en-US" sz="2300" dirty="0" smtClean="0"/>
            </a:br>
            <a:r>
              <a:rPr lang="en-US" sz="2300" dirty="0" smtClean="0"/>
              <a:t>of the product family (for example, </a:t>
            </a:r>
            <a:r>
              <a:rPr lang="en-US" sz="2300" dirty="0" err="1" smtClean="0"/>
              <a:t>createChair</a:t>
            </a:r>
            <a:r>
              <a:rPr lang="en-US" sz="2300" dirty="0" smtClean="0"/>
              <a:t>). </a:t>
            </a:r>
          </a:p>
          <a:p>
            <a:r>
              <a:rPr lang="en-US" sz="2300" dirty="0" smtClean="0"/>
              <a:t>For each variant of a product family, we create a separate factory class based on the </a:t>
            </a:r>
            <a:r>
              <a:rPr lang="en-US" sz="2300" dirty="0" err="1" smtClean="0"/>
              <a:t>AbstractFactory</a:t>
            </a:r>
            <a:r>
              <a:rPr lang="en-US" sz="2300" dirty="0" smtClean="0"/>
              <a:t> interface. </a:t>
            </a:r>
          </a:p>
          <a:p>
            <a:r>
              <a:rPr lang="en-US" sz="2300" dirty="0" smtClean="0"/>
              <a:t>A factory is a class that returns products of a particular kind. For example, the </a:t>
            </a:r>
            <a:r>
              <a:rPr lang="en-US" sz="2300" dirty="0" err="1" smtClean="0"/>
              <a:t>ModernFactory</a:t>
            </a:r>
            <a:r>
              <a:rPr lang="en-US" sz="2300" dirty="0" smtClean="0"/>
              <a:t> can only create </a:t>
            </a:r>
            <a:r>
              <a:rPr lang="en-US" sz="2300" dirty="0" err="1" smtClean="0"/>
              <a:t>ModernChair</a:t>
            </a:r>
            <a:r>
              <a:rPr lang="en-US" sz="2300" dirty="0" smtClean="0"/>
              <a:t> , </a:t>
            </a:r>
            <a:r>
              <a:rPr lang="en-US" sz="2300" dirty="0" err="1" smtClean="0"/>
              <a:t>ModernSofa</a:t>
            </a:r>
            <a:r>
              <a:rPr lang="en-US" sz="2300" dirty="0" smtClean="0"/>
              <a:t> and </a:t>
            </a:r>
            <a:r>
              <a:rPr lang="en-US" sz="2300" dirty="0" err="1" smtClean="0"/>
              <a:t>ModernCoffeeTable</a:t>
            </a:r>
            <a:r>
              <a:rPr lang="en-US" sz="2300" dirty="0" smtClean="0"/>
              <a:t> objects. </a:t>
            </a:r>
            <a:r>
              <a:rPr lang="en-US" dirty="0" smtClean="0"/>
              <a:t/>
            </a:r>
            <a:br>
              <a:rPr lang="en-US" dirty="0" smtClean="0"/>
            </a:br>
            <a:r>
              <a:rPr lang="en-US" dirty="0" smtClean="0"/>
              <a:t/>
            </a:r>
            <a:br>
              <a:rPr lang="en-US" dirty="0" smtClean="0"/>
            </a:br>
            <a:endParaRPr lang="en-US" dirty="0"/>
          </a:p>
        </p:txBody>
      </p:sp>
      <p:pic>
        <p:nvPicPr>
          <p:cNvPr id="4098" name="Picture 2"/>
          <p:cNvPicPr>
            <a:picLocks noChangeAspect="1" noChangeArrowheads="1"/>
          </p:cNvPicPr>
          <p:nvPr/>
        </p:nvPicPr>
        <p:blipFill>
          <a:blip r:embed="rId2"/>
          <a:srcRect/>
          <a:stretch>
            <a:fillRect/>
          </a:stretch>
        </p:blipFill>
        <p:spPr bwMode="auto">
          <a:xfrm>
            <a:off x="1371600" y="2590800"/>
            <a:ext cx="6800850" cy="4072216"/>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Example</a:t>
            </a:r>
            <a:endParaRPr lang="en-US" dirty="0"/>
          </a:p>
        </p:txBody>
      </p:sp>
      <p:pic>
        <p:nvPicPr>
          <p:cNvPr id="5122" name="Picture 2"/>
          <p:cNvPicPr>
            <a:picLocks noChangeAspect="1" noChangeArrowheads="1"/>
          </p:cNvPicPr>
          <p:nvPr/>
        </p:nvPicPr>
        <p:blipFill>
          <a:blip r:embed="rId2"/>
          <a:srcRect/>
          <a:stretch>
            <a:fillRect/>
          </a:stretch>
        </p:blipFill>
        <p:spPr bwMode="auto">
          <a:xfrm>
            <a:off x="1295400" y="1202681"/>
            <a:ext cx="6872288" cy="5283843"/>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Example</a:t>
            </a:r>
            <a:endParaRPr lang="en-US" dirty="0"/>
          </a:p>
        </p:txBody>
      </p:sp>
      <p:sp>
        <p:nvSpPr>
          <p:cNvPr id="3" name="Content Placeholder 2"/>
          <p:cNvSpPr>
            <a:spLocks noGrp="1"/>
          </p:cNvSpPr>
          <p:nvPr>
            <p:ph idx="1"/>
          </p:nvPr>
        </p:nvSpPr>
        <p:spPr/>
        <p:txBody>
          <a:bodyPr>
            <a:normAutofit/>
          </a:bodyPr>
          <a:lstStyle/>
          <a:p>
            <a:r>
              <a:rPr lang="en-US" sz="2400" dirty="0" smtClean="0"/>
              <a:t>When an application launches, it checks the type of the current operating system. </a:t>
            </a:r>
          </a:p>
          <a:p>
            <a:r>
              <a:rPr lang="en-US" sz="2400" dirty="0" smtClean="0"/>
              <a:t>The app uses this information to create a factory object from a class that matches the operating system. </a:t>
            </a:r>
          </a:p>
          <a:p>
            <a:r>
              <a:rPr lang="en-US" sz="2400" dirty="0" smtClean="0"/>
              <a:t>The rest of the code uses this factory to create UI elements. </a:t>
            </a:r>
          </a:p>
          <a:p>
            <a:r>
              <a:rPr lang="en-US" sz="2400" dirty="0" smtClean="0"/>
              <a:t>With this approach, the client code doesn’t depend on concrete classes of factories and UI elements as long as it works with these objects via their abstract interfaces. </a:t>
            </a:r>
          </a:p>
          <a:p>
            <a:r>
              <a:rPr lang="en-US" sz="2400" dirty="0" smtClean="0"/>
              <a:t>This also lets the client code support other factories or UI elements that you might add in the future.</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600200" y="533400"/>
            <a:ext cx="4800600" cy="1209675"/>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533400" y="1905000"/>
            <a:ext cx="8001000" cy="454342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709613" y="1147763"/>
            <a:ext cx="7724775" cy="456247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1771650" y="1524000"/>
            <a:ext cx="5600700" cy="38100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266700" y="1119188"/>
            <a:ext cx="8610600" cy="4619625"/>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404813" y="447675"/>
            <a:ext cx="8334375" cy="596265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2033"/>
            <a:ext cx="7886700" cy="502037"/>
          </a:xfrm>
        </p:spPr>
        <p:txBody>
          <a:bodyPr>
            <a:normAutofit fontScale="90000"/>
          </a:bodyPr>
          <a:lstStyle/>
          <a:p>
            <a:r>
              <a:rPr lang="en-US" dirty="0"/>
              <a:t>Example: Car Factory</a:t>
            </a:r>
          </a:p>
        </p:txBody>
      </p:sp>
      <p:grpSp>
        <p:nvGrpSpPr>
          <p:cNvPr id="3" name="Group 3"/>
          <p:cNvGrpSpPr/>
          <p:nvPr/>
        </p:nvGrpSpPr>
        <p:grpSpPr>
          <a:xfrm>
            <a:off x="1562099" y="942780"/>
            <a:ext cx="1790700" cy="973107"/>
            <a:chOff x="6092889" y="3733800"/>
            <a:chExt cx="2828265" cy="973107"/>
          </a:xfrm>
          <a:solidFill>
            <a:schemeClr val="accent6">
              <a:lumMod val="20000"/>
              <a:lumOff val="80000"/>
            </a:schemeClr>
          </a:solidFill>
        </p:grpSpPr>
        <p:sp>
          <p:nvSpPr>
            <p:cNvPr id="5" name="Flowchart: Process 4"/>
            <p:cNvSpPr/>
            <p:nvPr/>
          </p:nvSpPr>
          <p:spPr>
            <a:xfrm>
              <a:off x="6092889" y="3733800"/>
              <a:ext cx="2828265" cy="544286"/>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&lt;&lt;interface&gt;&gt;</a:t>
              </a:r>
            </a:p>
            <a:p>
              <a:pPr algn="ctr"/>
              <a:r>
                <a:rPr lang="en-US" b="1" dirty="0" err="1">
                  <a:solidFill>
                    <a:srgbClr val="800000"/>
                  </a:solidFill>
                </a:rPr>
                <a:t>HondaFactory</a:t>
              </a:r>
              <a:endParaRPr lang="en-US" b="1" dirty="0">
                <a:solidFill>
                  <a:srgbClr val="800000"/>
                </a:solidFill>
              </a:endParaRPr>
            </a:p>
          </p:txBody>
        </p:sp>
        <p:sp>
          <p:nvSpPr>
            <p:cNvPr id="6" name="Flowchart: Process 5"/>
            <p:cNvSpPr/>
            <p:nvPr/>
          </p:nvSpPr>
          <p:spPr>
            <a:xfrm>
              <a:off x="6092889" y="4278087"/>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createEngine</a:t>
              </a:r>
              <a:r>
                <a:rPr lang="en-US" sz="1300" b="1" spc="-100" dirty="0">
                  <a:solidFill>
                    <a:schemeClr val="tx1"/>
                  </a:solidFill>
                  <a:latin typeface="Courier New" panose="02070309020205020404" pitchFamily="49" charset="0"/>
                  <a:cs typeface="Courier New" panose="02070309020205020404" pitchFamily="49" charset="0"/>
                </a:rPr>
                <a:t>()</a:t>
              </a:r>
            </a:p>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smtClean="0">
                  <a:solidFill>
                    <a:schemeClr val="tx1"/>
                  </a:solidFill>
                  <a:latin typeface="Courier New" panose="02070309020205020404" pitchFamily="49" charset="0"/>
                  <a:cs typeface="Courier New" panose="02070309020205020404" pitchFamily="49" charset="0"/>
                </a:rPr>
                <a:t>createTrans</a:t>
              </a:r>
              <a:r>
                <a:rPr lang="en-US" sz="1300" b="1" spc="-100" dirty="0" smtClean="0">
                  <a:solidFill>
                    <a:schemeClr val="tx1"/>
                  </a:solidFill>
                  <a:latin typeface="Courier New" panose="02070309020205020404" pitchFamily="49" charset="0"/>
                  <a:cs typeface="Courier New" panose="02070309020205020404" pitchFamily="49" charset="0"/>
                </a:rPr>
                <a:t>()</a:t>
              </a:r>
              <a:endParaRPr lang="en-US" sz="1300" b="1" spc="-100" dirty="0">
                <a:solidFill>
                  <a:schemeClr val="tx1"/>
                </a:solidFill>
                <a:latin typeface="Courier New" panose="02070309020205020404" pitchFamily="49" charset="0"/>
                <a:cs typeface="Courier New" panose="02070309020205020404" pitchFamily="49" charset="0"/>
              </a:endParaRPr>
            </a:p>
          </p:txBody>
        </p:sp>
      </p:grpSp>
      <p:grpSp>
        <p:nvGrpSpPr>
          <p:cNvPr id="4" name="Group 6"/>
          <p:cNvGrpSpPr/>
          <p:nvPr/>
        </p:nvGrpSpPr>
        <p:grpSpPr>
          <a:xfrm>
            <a:off x="228600" y="2695380"/>
            <a:ext cx="1676400" cy="809820"/>
            <a:chOff x="6092889" y="3733800"/>
            <a:chExt cx="2828265" cy="809820"/>
          </a:xfrm>
          <a:solidFill>
            <a:schemeClr val="accent6">
              <a:lumMod val="20000"/>
              <a:lumOff val="80000"/>
            </a:schemeClr>
          </a:solidFill>
        </p:grpSpPr>
        <p:sp>
          <p:nvSpPr>
            <p:cNvPr id="8" name="Flowchart: Process 7"/>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CivicFactory</a:t>
              </a:r>
              <a:endParaRPr lang="en-US" b="1" dirty="0">
                <a:solidFill>
                  <a:srgbClr val="800000"/>
                </a:solidFill>
              </a:endParaRPr>
            </a:p>
          </p:txBody>
        </p:sp>
        <p:sp>
          <p:nvSpPr>
            <p:cNvPr id="9" name="Flowchart: Process 8"/>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createEngine</a:t>
              </a:r>
              <a:r>
                <a:rPr lang="en-US" sz="1300" b="1" spc="-100" dirty="0">
                  <a:solidFill>
                    <a:schemeClr val="tx1"/>
                  </a:solidFill>
                  <a:latin typeface="Courier New" panose="02070309020205020404" pitchFamily="49" charset="0"/>
                  <a:cs typeface="Courier New" panose="02070309020205020404" pitchFamily="49" charset="0"/>
                </a:rPr>
                <a:t>()</a:t>
              </a:r>
            </a:p>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smtClean="0">
                  <a:solidFill>
                    <a:schemeClr val="tx1"/>
                  </a:solidFill>
                  <a:latin typeface="Courier New" panose="02070309020205020404" pitchFamily="49" charset="0"/>
                  <a:cs typeface="Courier New" panose="02070309020205020404" pitchFamily="49" charset="0"/>
                </a:rPr>
                <a:t>createTrans</a:t>
              </a:r>
              <a:r>
                <a:rPr lang="en-US" sz="1300" b="1" spc="-100" dirty="0" smtClean="0">
                  <a:solidFill>
                    <a:schemeClr val="tx1"/>
                  </a:solidFill>
                  <a:latin typeface="Courier New" panose="02070309020205020404" pitchFamily="49" charset="0"/>
                  <a:cs typeface="Courier New" panose="02070309020205020404" pitchFamily="49" charset="0"/>
                </a:rPr>
                <a:t>()</a:t>
              </a:r>
              <a:endParaRPr lang="en-US" sz="1300" b="1" spc="-100" dirty="0">
                <a:solidFill>
                  <a:schemeClr val="tx1"/>
                </a:solidFill>
                <a:latin typeface="Courier New" panose="02070309020205020404" pitchFamily="49" charset="0"/>
                <a:cs typeface="Courier New" panose="02070309020205020404" pitchFamily="49" charset="0"/>
              </a:endParaRPr>
            </a:p>
          </p:txBody>
        </p:sp>
      </p:grpSp>
      <p:grpSp>
        <p:nvGrpSpPr>
          <p:cNvPr id="7" name="Group 9"/>
          <p:cNvGrpSpPr/>
          <p:nvPr/>
        </p:nvGrpSpPr>
        <p:grpSpPr>
          <a:xfrm>
            <a:off x="2743200" y="2695380"/>
            <a:ext cx="1752600" cy="809820"/>
            <a:chOff x="6092889" y="3733800"/>
            <a:chExt cx="2828265" cy="809820"/>
          </a:xfrm>
          <a:solidFill>
            <a:schemeClr val="accent6">
              <a:lumMod val="20000"/>
              <a:lumOff val="80000"/>
            </a:schemeClr>
          </a:solidFill>
        </p:grpSpPr>
        <p:sp>
          <p:nvSpPr>
            <p:cNvPr id="11" name="Flowchart: Process 10"/>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AccordFactory</a:t>
              </a:r>
              <a:endParaRPr lang="en-US" b="1" dirty="0">
                <a:solidFill>
                  <a:srgbClr val="800000"/>
                </a:solidFill>
              </a:endParaRPr>
            </a:p>
          </p:txBody>
        </p:sp>
        <p:sp>
          <p:nvSpPr>
            <p:cNvPr id="12" name="Flowchart: Process 11"/>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a:solidFill>
                    <a:schemeClr val="tx1"/>
                  </a:solidFill>
                  <a:latin typeface="Courier New" panose="02070309020205020404" pitchFamily="49" charset="0"/>
                  <a:cs typeface="Courier New" panose="02070309020205020404" pitchFamily="49" charset="0"/>
                </a:rPr>
                <a:t>createEngine</a:t>
              </a:r>
              <a:r>
                <a:rPr lang="en-US" sz="1300" b="1" spc="-100" dirty="0">
                  <a:solidFill>
                    <a:schemeClr val="tx1"/>
                  </a:solidFill>
                  <a:latin typeface="Courier New" panose="02070309020205020404" pitchFamily="49" charset="0"/>
                  <a:cs typeface="Courier New" panose="02070309020205020404" pitchFamily="49" charset="0"/>
                </a:rPr>
                <a:t>()</a:t>
              </a:r>
            </a:p>
            <a:p>
              <a:r>
                <a:rPr lang="en-US" sz="1300" b="1" spc="-100" dirty="0">
                  <a:solidFill>
                    <a:schemeClr val="tx1"/>
                  </a:solidFill>
                  <a:latin typeface="Courier New" panose="02070309020205020404" pitchFamily="49" charset="0"/>
                  <a:cs typeface="Courier New" panose="02070309020205020404" pitchFamily="49" charset="0"/>
                </a:rPr>
                <a:t>+ </a:t>
              </a:r>
              <a:r>
                <a:rPr lang="en-US" sz="1300" b="1" spc="-100" dirty="0" err="1" smtClean="0">
                  <a:solidFill>
                    <a:schemeClr val="tx1"/>
                  </a:solidFill>
                  <a:latin typeface="Courier New" panose="02070309020205020404" pitchFamily="49" charset="0"/>
                  <a:cs typeface="Courier New" panose="02070309020205020404" pitchFamily="49" charset="0"/>
                </a:rPr>
                <a:t>createTrans</a:t>
              </a:r>
              <a:r>
                <a:rPr lang="en-US" sz="1300" b="1" spc="-100" dirty="0" smtClean="0">
                  <a:solidFill>
                    <a:schemeClr val="tx1"/>
                  </a:solidFill>
                  <a:latin typeface="Courier New" panose="02070309020205020404" pitchFamily="49" charset="0"/>
                  <a:cs typeface="Courier New" panose="02070309020205020404" pitchFamily="49" charset="0"/>
                </a:rPr>
                <a:t>()</a:t>
              </a:r>
              <a:endParaRPr lang="en-US" sz="1300" b="1" spc="-100" dirty="0">
                <a:solidFill>
                  <a:schemeClr val="tx1"/>
                </a:solidFill>
                <a:latin typeface="Courier New" panose="02070309020205020404" pitchFamily="49" charset="0"/>
                <a:cs typeface="Courier New" panose="02070309020205020404" pitchFamily="49" charset="0"/>
              </a:endParaRPr>
            </a:p>
          </p:txBody>
        </p:sp>
      </p:grpSp>
      <p:sp>
        <p:nvSpPr>
          <p:cNvPr id="13" name="Isosceles Triangle 12"/>
          <p:cNvSpPr/>
          <p:nvPr/>
        </p:nvSpPr>
        <p:spPr>
          <a:xfrm>
            <a:off x="2286000" y="1915887"/>
            <a:ext cx="228600" cy="23326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13" idx="3"/>
          </p:cNvCxnSpPr>
          <p:nvPr/>
        </p:nvCxnSpPr>
        <p:spPr>
          <a:xfrm flipH="1">
            <a:off x="2385526" y="2149151"/>
            <a:ext cx="14774" cy="376336"/>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6" name="Elbow Connector 15"/>
          <p:cNvCxnSpPr>
            <a:stCxn id="8" idx="0"/>
            <a:endCxn id="11" idx="0"/>
          </p:cNvCxnSpPr>
          <p:nvPr/>
        </p:nvCxnSpPr>
        <p:spPr>
          <a:xfrm rot="5400000" flipH="1" flipV="1">
            <a:off x="2343150" y="1419030"/>
            <a:ext cx="12700" cy="2552700"/>
          </a:xfrm>
          <a:prstGeom prst="bentConnector3">
            <a:avLst>
              <a:gd name="adj1" fmla="val 1575000"/>
            </a:avLst>
          </a:prstGeom>
          <a:ln w="12700"/>
        </p:spPr>
        <p:style>
          <a:lnRef idx="1">
            <a:schemeClr val="dk1"/>
          </a:lnRef>
          <a:fillRef idx="0">
            <a:schemeClr val="dk1"/>
          </a:fillRef>
          <a:effectRef idx="0">
            <a:schemeClr val="dk1"/>
          </a:effectRef>
          <a:fontRef idx="minor">
            <a:schemeClr val="tx1"/>
          </a:fontRef>
        </p:style>
      </p:cxnSp>
      <p:grpSp>
        <p:nvGrpSpPr>
          <p:cNvPr id="10" name="Group 17"/>
          <p:cNvGrpSpPr/>
          <p:nvPr/>
        </p:nvGrpSpPr>
        <p:grpSpPr>
          <a:xfrm>
            <a:off x="6286499" y="2127638"/>
            <a:ext cx="1600200" cy="602146"/>
            <a:chOff x="6092889" y="3733800"/>
            <a:chExt cx="2828265" cy="809820"/>
          </a:xfrm>
          <a:solidFill>
            <a:schemeClr val="accent6">
              <a:lumMod val="20000"/>
              <a:lumOff val="80000"/>
            </a:schemeClr>
          </a:solidFill>
        </p:grpSpPr>
        <p:sp>
          <p:nvSpPr>
            <p:cNvPr id="19" name="Flowchart: Process 18"/>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Engine</a:t>
              </a:r>
            </a:p>
          </p:txBody>
        </p:sp>
        <p:sp>
          <p:nvSpPr>
            <p:cNvPr id="20" name="Flowchart: Process 19"/>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300" b="1" spc="-100" dirty="0">
                <a:solidFill>
                  <a:schemeClr val="tx1"/>
                </a:solidFill>
                <a:latin typeface="Courier New" panose="02070309020205020404" pitchFamily="49" charset="0"/>
                <a:cs typeface="Courier New" panose="02070309020205020404" pitchFamily="49" charset="0"/>
              </a:endParaRPr>
            </a:p>
          </p:txBody>
        </p:sp>
      </p:grpSp>
      <p:grpSp>
        <p:nvGrpSpPr>
          <p:cNvPr id="15" name="Group 20"/>
          <p:cNvGrpSpPr/>
          <p:nvPr/>
        </p:nvGrpSpPr>
        <p:grpSpPr>
          <a:xfrm>
            <a:off x="5181600" y="3319492"/>
            <a:ext cx="1543049" cy="566708"/>
            <a:chOff x="6092889" y="3733800"/>
            <a:chExt cx="2828265" cy="566708"/>
          </a:xfrm>
          <a:solidFill>
            <a:schemeClr val="accent6">
              <a:lumMod val="20000"/>
              <a:lumOff val="80000"/>
            </a:schemeClr>
          </a:solidFill>
        </p:grpSpPr>
        <p:sp>
          <p:nvSpPr>
            <p:cNvPr id="22" name="Flowchart: Process 21"/>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CivicEngine</a:t>
              </a:r>
              <a:endParaRPr lang="en-US" b="1" dirty="0">
                <a:solidFill>
                  <a:srgbClr val="800000"/>
                </a:solidFill>
              </a:endParaRPr>
            </a:p>
          </p:txBody>
        </p:sp>
        <p:sp>
          <p:nvSpPr>
            <p:cNvPr id="23" name="Flowchart: Process 22"/>
            <p:cNvSpPr/>
            <p:nvPr/>
          </p:nvSpPr>
          <p:spPr>
            <a:xfrm>
              <a:off x="6092889" y="4114800"/>
              <a:ext cx="2828263" cy="185708"/>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300" b="1" spc="-100" dirty="0">
                <a:solidFill>
                  <a:schemeClr val="tx1"/>
                </a:solidFill>
                <a:latin typeface="Courier New" panose="02070309020205020404" pitchFamily="49" charset="0"/>
                <a:cs typeface="Courier New" panose="02070309020205020404" pitchFamily="49" charset="0"/>
              </a:endParaRPr>
            </a:p>
          </p:txBody>
        </p:sp>
      </p:grpSp>
      <p:grpSp>
        <p:nvGrpSpPr>
          <p:cNvPr id="17" name="Group 23"/>
          <p:cNvGrpSpPr/>
          <p:nvPr/>
        </p:nvGrpSpPr>
        <p:grpSpPr>
          <a:xfrm>
            <a:off x="7200899" y="3319492"/>
            <a:ext cx="1562101" cy="558799"/>
            <a:chOff x="6092889" y="3733800"/>
            <a:chExt cx="2828265" cy="558799"/>
          </a:xfrm>
          <a:solidFill>
            <a:schemeClr val="accent6">
              <a:lumMod val="20000"/>
              <a:lumOff val="80000"/>
            </a:schemeClr>
          </a:solidFill>
        </p:grpSpPr>
        <p:sp>
          <p:nvSpPr>
            <p:cNvPr id="25" name="Flowchart: Process 24"/>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AccordEngine</a:t>
              </a:r>
              <a:endParaRPr lang="en-US" b="1" dirty="0">
                <a:solidFill>
                  <a:srgbClr val="800000"/>
                </a:solidFill>
              </a:endParaRPr>
            </a:p>
          </p:txBody>
        </p:sp>
        <p:sp>
          <p:nvSpPr>
            <p:cNvPr id="26" name="Flowchart: Process 25"/>
            <p:cNvSpPr/>
            <p:nvPr/>
          </p:nvSpPr>
          <p:spPr>
            <a:xfrm>
              <a:off x="6092889" y="4114800"/>
              <a:ext cx="2828263" cy="177799"/>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300" b="1" spc="-100" dirty="0">
                <a:solidFill>
                  <a:schemeClr val="tx1"/>
                </a:solidFill>
                <a:latin typeface="Courier New" panose="02070309020205020404" pitchFamily="49" charset="0"/>
                <a:cs typeface="Courier New" panose="02070309020205020404" pitchFamily="49" charset="0"/>
              </a:endParaRPr>
            </a:p>
          </p:txBody>
        </p:sp>
      </p:grpSp>
      <p:cxnSp>
        <p:nvCxnSpPr>
          <p:cNvPr id="27" name="Elbow Connector 26"/>
          <p:cNvCxnSpPr/>
          <p:nvPr/>
        </p:nvCxnSpPr>
        <p:spPr>
          <a:xfrm rot="5400000" flipH="1" flipV="1">
            <a:off x="7099300" y="2049492"/>
            <a:ext cx="12700" cy="2552700"/>
          </a:xfrm>
          <a:prstGeom prst="bentConnector3">
            <a:avLst>
              <a:gd name="adj1" fmla="val 1575000"/>
            </a:avLst>
          </a:prstGeom>
          <a:ln w="12700"/>
        </p:spPr>
        <p:style>
          <a:lnRef idx="1">
            <a:schemeClr val="dk1"/>
          </a:lnRef>
          <a:fillRef idx="0">
            <a:schemeClr val="dk1"/>
          </a:fillRef>
          <a:effectRef idx="0">
            <a:schemeClr val="dk1"/>
          </a:effectRef>
          <a:fontRef idx="minor">
            <a:schemeClr val="tx1"/>
          </a:fontRef>
        </p:style>
      </p:cxnSp>
      <p:sp>
        <p:nvSpPr>
          <p:cNvPr id="28" name="Isosceles Triangle 27"/>
          <p:cNvSpPr/>
          <p:nvPr/>
        </p:nvSpPr>
        <p:spPr>
          <a:xfrm>
            <a:off x="6972299" y="2731147"/>
            <a:ext cx="228600" cy="23326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p:cNvCxnSpPr>
            <a:stCxn id="28" idx="3"/>
          </p:cNvCxnSpPr>
          <p:nvPr/>
        </p:nvCxnSpPr>
        <p:spPr>
          <a:xfrm>
            <a:off x="7086599" y="2964411"/>
            <a:ext cx="1" cy="177282"/>
          </a:xfrm>
          <a:prstGeom prst="line">
            <a:avLst/>
          </a:prstGeom>
          <a:ln w="19050"/>
        </p:spPr>
        <p:style>
          <a:lnRef idx="1">
            <a:schemeClr val="dk1"/>
          </a:lnRef>
          <a:fillRef idx="0">
            <a:schemeClr val="dk1"/>
          </a:fillRef>
          <a:effectRef idx="0">
            <a:schemeClr val="dk1"/>
          </a:effectRef>
          <a:fontRef idx="minor">
            <a:schemeClr val="tx1"/>
          </a:fontRef>
        </p:style>
      </p:cxnSp>
      <p:grpSp>
        <p:nvGrpSpPr>
          <p:cNvPr id="18" name="Group 59"/>
          <p:cNvGrpSpPr/>
          <p:nvPr/>
        </p:nvGrpSpPr>
        <p:grpSpPr>
          <a:xfrm>
            <a:off x="6362700" y="4452517"/>
            <a:ext cx="1600200" cy="579664"/>
            <a:chOff x="6092889" y="3733800"/>
            <a:chExt cx="2828265" cy="809820"/>
          </a:xfrm>
          <a:solidFill>
            <a:schemeClr val="accent6">
              <a:lumMod val="20000"/>
              <a:lumOff val="80000"/>
            </a:schemeClr>
          </a:solidFill>
        </p:grpSpPr>
        <p:sp>
          <p:nvSpPr>
            <p:cNvPr id="61" name="Flowchart: Process 60"/>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Transmission</a:t>
              </a:r>
            </a:p>
          </p:txBody>
        </p:sp>
        <p:sp>
          <p:nvSpPr>
            <p:cNvPr id="62" name="Flowchart: Process 61"/>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300" b="1" spc="-100" dirty="0">
                <a:solidFill>
                  <a:schemeClr val="tx1"/>
                </a:solidFill>
                <a:latin typeface="Courier New" panose="02070309020205020404" pitchFamily="49" charset="0"/>
                <a:cs typeface="Courier New" panose="02070309020205020404" pitchFamily="49" charset="0"/>
              </a:endParaRPr>
            </a:p>
          </p:txBody>
        </p:sp>
      </p:grpSp>
      <p:grpSp>
        <p:nvGrpSpPr>
          <p:cNvPr id="21" name="Group 62"/>
          <p:cNvGrpSpPr/>
          <p:nvPr/>
        </p:nvGrpSpPr>
        <p:grpSpPr>
          <a:xfrm>
            <a:off x="5181600" y="5667180"/>
            <a:ext cx="1381124" cy="599879"/>
            <a:chOff x="6092889" y="3733800"/>
            <a:chExt cx="2828265" cy="599879"/>
          </a:xfrm>
          <a:solidFill>
            <a:schemeClr val="accent6">
              <a:lumMod val="20000"/>
              <a:lumOff val="80000"/>
            </a:schemeClr>
          </a:solidFill>
        </p:grpSpPr>
        <p:sp>
          <p:nvSpPr>
            <p:cNvPr id="64" name="Flowchart: Process 63"/>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CivicTrans</a:t>
              </a:r>
              <a:endParaRPr lang="en-US" b="1" dirty="0">
                <a:solidFill>
                  <a:srgbClr val="800000"/>
                </a:solidFill>
              </a:endParaRPr>
            </a:p>
          </p:txBody>
        </p:sp>
        <p:sp>
          <p:nvSpPr>
            <p:cNvPr id="65" name="Flowchart: Process 64"/>
            <p:cNvSpPr/>
            <p:nvPr/>
          </p:nvSpPr>
          <p:spPr>
            <a:xfrm>
              <a:off x="6092889" y="4114800"/>
              <a:ext cx="2828265" cy="218879"/>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300" b="1" spc="-100" dirty="0">
                <a:solidFill>
                  <a:schemeClr val="tx1"/>
                </a:solidFill>
                <a:latin typeface="Courier New" panose="02070309020205020404" pitchFamily="49" charset="0"/>
                <a:cs typeface="Courier New" panose="02070309020205020404" pitchFamily="49" charset="0"/>
              </a:endParaRPr>
            </a:p>
          </p:txBody>
        </p:sp>
      </p:grpSp>
      <p:grpSp>
        <p:nvGrpSpPr>
          <p:cNvPr id="24" name="Group 65"/>
          <p:cNvGrpSpPr/>
          <p:nvPr/>
        </p:nvGrpSpPr>
        <p:grpSpPr>
          <a:xfrm>
            <a:off x="7600949" y="5667180"/>
            <a:ext cx="1352551" cy="599879"/>
            <a:chOff x="6092889" y="3733800"/>
            <a:chExt cx="2828265" cy="599879"/>
          </a:xfrm>
          <a:solidFill>
            <a:schemeClr val="accent6">
              <a:lumMod val="20000"/>
              <a:lumOff val="80000"/>
            </a:schemeClr>
          </a:solidFill>
        </p:grpSpPr>
        <p:sp>
          <p:nvSpPr>
            <p:cNvPr id="67" name="Flowchart: Process 66"/>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solidFill>
                    <a:srgbClr val="800000"/>
                  </a:solidFill>
                </a:rPr>
                <a:t>AccordTrans</a:t>
              </a:r>
              <a:endParaRPr lang="en-US" b="1" dirty="0">
                <a:solidFill>
                  <a:srgbClr val="800000"/>
                </a:solidFill>
              </a:endParaRPr>
            </a:p>
          </p:txBody>
        </p:sp>
        <p:sp>
          <p:nvSpPr>
            <p:cNvPr id="68" name="Flowchart: Process 67"/>
            <p:cNvSpPr/>
            <p:nvPr/>
          </p:nvSpPr>
          <p:spPr>
            <a:xfrm>
              <a:off x="6092889" y="4114800"/>
              <a:ext cx="2828265" cy="218879"/>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300" b="1" spc="-100" dirty="0">
                <a:solidFill>
                  <a:schemeClr val="tx1"/>
                </a:solidFill>
                <a:latin typeface="Courier New" panose="02070309020205020404" pitchFamily="49" charset="0"/>
                <a:cs typeface="Courier New" panose="02070309020205020404" pitchFamily="49" charset="0"/>
              </a:endParaRPr>
            </a:p>
          </p:txBody>
        </p:sp>
      </p:grpSp>
      <p:cxnSp>
        <p:nvCxnSpPr>
          <p:cNvPr id="69" name="Elbow Connector 68"/>
          <p:cNvCxnSpPr/>
          <p:nvPr/>
        </p:nvCxnSpPr>
        <p:spPr>
          <a:xfrm rot="5400000" flipH="1" flipV="1">
            <a:off x="7127876" y="4373270"/>
            <a:ext cx="12700" cy="2552700"/>
          </a:xfrm>
          <a:prstGeom prst="bentConnector3">
            <a:avLst>
              <a:gd name="adj1" fmla="val 1575000"/>
            </a:avLst>
          </a:prstGeom>
          <a:ln w="12700"/>
        </p:spPr>
        <p:style>
          <a:lnRef idx="1">
            <a:schemeClr val="dk1"/>
          </a:lnRef>
          <a:fillRef idx="0">
            <a:schemeClr val="dk1"/>
          </a:fillRef>
          <a:effectRef idx="0">
            <a:schemeClr val="dk1"/>
          </a:effectRef>
          <a:fontRef idx="minor">
            <a:schemeClr val="tx1"/>
          </a:fontRef>
        </p:style>
      </p:cxnSp>
      <p:sp>
        <p:nvSpPr>
          <p:cNvPr id="70" name="Isosceles Triangle 69"/>
          <p:cNvSpPr/>
          <p:nvPr/>
        </p:nvSpPr>
        <p:spPr>
          <a:xfrm>
            <a:off x="7000875" y="5054925"/>
            <a:ext cx="228600" cy="23326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p:cNvCxnSpPr>
            <a:stCxn id="70" idx="3"/>
          </p:cNvCxnSpPr>
          <p:nvPr/>
        </p:nvCxnSpPr>
        <p:spPr>
          <a:xfrm>
            <a:off x="7115175" y="5288189"/>
            <a:ext cx="1" cy="177282"/>
          </a:xfrm>
          <a:prstGeom prst="line">
            <a:avLst/>
          </a:prstGeom>
          <a:ln w="19050"/>
        </p:spPr>
        <p:style>
          <a:lnRef idx="1">
            <a:schemeClr val="dk1"/>
          </a:lnRef>
          <a:fillRef idx="0">
            <a:schemeClr val="dk1"/>
          </a:fillRef>
          <a:effectRef idx="0">
            <a:schemeClr val="dk1"/>
          </a:effectRef>
          <a:fontRef idx="minor">
            <a:schemeClr val="tx1"/>
          </a:fontRef>
        </p:style>
      </p:cxnSp>
      <p:sp>
        <p:nvSpPr>
          <p:cNvPr id="75" name="Flowchart: Process 74"/>
          <p:cNvSpPr/>
          <p:nvPr/>
        </p:nvSpPr>
        <p:spPr>
          <a:xfrm>
            <a:off x="6477000" y="1041783"/>
            <a:ext cx="1600200" cy="283295"/>
          </a:xfrm>
          <a:prstGeom prst="flowChartProcess">
            <a:avLst/>
          </a:prstGeom>
          <a:solidFill>
            <a:schemeClr val="accent6">
              <a:lumMod val="20000"/>
              <a:lumOff val="80000"/>
            </a:schemeClr>
          </a:solid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rgbClr val="800000"/>
                </a:solidFill>
              </a:rPr>
              <a:t>Client</a:t>
            </a:r>
          </a:p>
        </p:txBody>
      </p:sp>
      <p:cxnSp>
        <p:nvCxnSpPr>
          <p:cNvPr id="78" name="Straight Arrow Connector 77"/>
          <p:cNvCxnSpPr>
            <a:stCxn id="75" idx="1"/>
            <a:endCxn id="5" idx="3"/>
          </p:cNvCxnSpPr>
          <p:nvPr/>
        </p:nvCxnSpPr>
        <p:spPr>
          <a:xfrm flipH="1">
            <a:off x="3352799" y="1183431"/>
            <a:ext cx="3124201" cy="31492"/>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83" name="Elbow Connector 82"/>
          <p:cNvCxnSpPr>
            <a:stCxn id="9" idx="3"/>
            <a:endCxn id="23" idx="2"/>
          </p:cNvCxnSpPr>
          <p:nvPr/>
        </p:nvCxnSpPr>
        <p:spPr>
          <a:xfrm>
            <a:off x="1904999" y="3290790"/>
            <a:ext cx="4048125" cy="595410"/>
          </a:xfrm>
          <a:prstGeom prst="bentConnector4">
            <a:avLst>
              <a:gd name="adj1" fmla="val 8236"/>
              <a:gd name="adj2" fmla="val 117957"/>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87" name="Elbow Connector 86"/>
          <p:cNvCxnSpPr>
            <a:stCxn id="9" idx="2"/>
            <a:endCxn id="64" idx="1"/>
          </p:cNvCxnSpPr>
          <p:nvPr/>
        </p:nvCxnSpPr>
        <p:spPr>
          <a:xfrm rot="16200000" flipH="1">
            <a:off x="1947960" y="2624040"/>
            <a:ext cx="2352480" cy="4114800"/>
          </a:xfrm>
          <a:prstGeom prst="bentConnector2">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93" name="Elbow Connector 92"/>
          <p:cNvCxnSpPr>
            <a:stCxn id="12" idx="2"/>
            <a:endCxn id="68" idx="2"/>
          </p:cNvCxnSpPr>
          <p:nvPr/>
        </p:nvCxnSpPr>
        <p:spPr>
          <a:xfrm rot="16200000" flipH="1">
            <a:off x="4567433" y="2557266"/>
            <a:ext cx="2761859" cy="4657725"/>
          </a:xfrm>
          <a:prstGeom prst="bentConnector3">
            <a:avLst>
              <a:gd name="adj1" fmla="val 108277"/>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97" name="Elbow Connector 96"/>
          <p:cNvCxnSpPr>
            <a:stCxn id="12" idx="3"/>
            <a:endCxn id="26" idx="2"/>
          </p:cNvCxnSpPr>
          <p:nvPr/>
        </p:nvCxnSpPr>
        <p:spPr>
          <a:xfrm>
            <a:off x="4495799" y="3290790"/>
            <a:ext cx="3486150" cy="587501"/>
          </a:xfrm>
          <a:prstGeom prst="bentConnector4">
            <a:avLst>
              <a:gd name="adj1" fmla="val 7483"/>
              <a:gd name="adj2" fmla="val 161146"/>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06" name="Elbow Connector 105"/>
          <p:cNvCxnSpPr>
            <a:stCxn id="75" idx="3"/>
            <a:endCxn id="61" idx="3"/>
          </p:cNvCxnSpPr>
          <p:nvPr/>
        </p:nvCxnSpPr>
        <p:spPr>
          <a:xfrm flipH="1">
            <a:off x="7962900" y="1183431"/>
            <a:ext cx="114300" cy="3405445"/>
          </a:xfrm>
          <a:prstGeom prst="bentConnector3">
            <a:avLst>
              <a:gd name="adj1" fmla="val -75510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13" name="Elbow Connector 112"/>
          <p:cNvCxnSpPr>
            <a:stCxn id="75" idx="2"/>
            <a:endCxn id="19" idx="0"/>
          </p:cNvCxnSpPr>
          <p:nvPr/>
        </p:nvCxnSpPr>
        <p:spPr>
          <a:xfrm rot="5400000">
            <a:off x="6780570" y="1631108"/>
            <a:ext cx="802560" cy="190501"/>
          </a:xfrm>
          <a:prstGeom prst="bentConnector3">
            <a:avLst>
              <a:gd name="adj1" fmla="val 50000"/>
            </a:avLst>
          </a:prstGeom>
          <a:ln w="19050">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25668848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smtClean="0"/>
              <a:t>https://www.tutorialspoint.com/design_pattern/design_pattern_quick_guide.htm</a:t>
            </a:r>
            <a:endParaRPr lang="en-US" sz="2000" dirty="0"/>
          </a:p>
        </p:txBody>
      </p:sp>
      <p:pic>
        <p:nvPicPr>
          <p:cNvPr id="48130" name="Picture 2"/>
          <p:cNvPicPr>
            <a:picLocks noChangeAspect="1" noChangeArrowheads="1"/>
          </p:cNvPicPr>
          <p:nvPr/>
        </p:nvPicPr>
        <p:blipFill>
          <a:blip r:embed="rId2"/>
          <a:srcRect/>
          <a:stretch>
            <a:fillRect/>
          </a:stretch>
        </p:blipFill>
        <p:spPr bwMode="auto">
          <a:xfrm>
            <a:off x="1219200" y="1036818"/>
            <a:ext cx="6751787" cy="53639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srcRect/>
          <a:stretch>
            <a:fillRect/>
          </a:stretch>
        </p:blipFill>
        <p:spPr bwMode="auto">
          <a:xfrm>
            <a:off x="1748971" y="304800"/>
            <a:ext cx="5490029" cy="1295400"/>
          </a:xfrm>
          <a:prstGeom prst="rect">
            <a:avLst/>
          </a:prstGeom>
          <a:noFill/>
          <a:ln w="9525">
            <a:noFill/>
            <a:miter lim="800000"/>
            <a:headEnd/>
            <a:tailEnd/>
          </a:ln>
          <a:effectLst/>
        </p:spPr>
      </p:pic>
      <p:pic>
        <p:nvPicPr>
          <p:cNvPr id="49155" name="Picture 3"/>
          <p:cNvPicPr>
            <a:picLocks noChangeAspect="1" noChangeArrowheads="1"/>
          </p:cNvPicPr>
          <p:nvPr/>
        </p:nvPicPr>
        <p:blipFill>
          <a:blip r:embed="rId3"/>
          <a:srcRect/>
          <a:stretch>
            <a:fillRect/>
          </a:stretch>
        </p:blipFill>
        <p:spPr bwMode="auto">
          <a:xfrm>
            <a:off x="1098101" y="1981200"/>
            <a:ext cx="6979099" cy="4419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066801" y="76201"/>
            <a:ext cx="6705599" cy="2551195"/>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937017" y="2514601"/>
            <a:ext cx="7269964" cy="4114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Consequences</a:t>
            </a:r>
          </a:p>
        </p:txBody>
      </p:sp>
      <p:sp>
        <p:nvSpPr>
          <p:cNvPr id="3" name="Content Placeholder 2"/>
          <p:cNvSpPr>
            <a:spLocks noGrp="1"/>
          </p:cNvSpPr>
          <p:nvPr>
            <p:ph idx="1"/>
          </p:nvPr>
        </p:nvSpPr>
        <p:spPr/>
        <p:txBody>
          <a:bodyPr>
            <a:normAutofit lnSpcReduction="10000"/>
          </a:bodyPr>
          <a:lstStyle/>
          <a:p>
            <a:r>
              <a:rPr lang="en-US" dirty="0"/>
              <a:t>Isolates the concrete class</a:t>
            </a:r>
          </a:p>
          <a:p>
            <a:r>
              <a:rPr lang="en-US" dirty="0" smtClean="0"/>
              <a:t>Makes </a:t>
            </a:r>
            <a:r>
              <a:rPr lang="en-US" dirty="0"/>
              <a:t>exchanging product family easy</a:t>
            </a:r>
          </a:p>
          <a:p>
            <a:r>
              <a:rPr lang="en-US" dirty="0" smtClean="0"/>
              <a:t>Promotes </a:t>
            </a:r>
            <a:r>
              <a:rPr lang="en-US" dirty="0"/>
              <a:t>consistency among products</a:t>
            </a:r>
          </a:p>
          <a:p>
            <a:r>
              <a:rPr lang="en-US" dirty="0" smtClean="0"/>
              <a:t>Abstract Factory design pattern provides approach to code for interface rather than implementation.</a:t>
            </a:r>
          </a:p>
          <a:p>
            <a:r>
              <a:rPr lang="en-US" dirty="0" smtClean="0"/>
              <a:t>Abstract Factory pattern is “factory of factories” and can be easily extended to accommodate more products.</a:t>
            </a:r>
          </a:p>
          <a:p>
            <a:r>
              <a:rPr lang="en-US" dirty="0" smtClean="0"/>
              <a:t>Abstract Factory pattern is robust and avoid conditional logic of Factory pattern.</a:t>
            </a:r>
          </a:p>
          <a:p>
            <a:r>
              <a:rPr lang="en-US" dirty="0" smtClean="0"/>
              <a:t>Supporting new types of products is difficult</a:t>
            </a:r>
          </a:p>
          <a:p>
            <a:r>
              <a:rPr lang="en-US" dirty="0" smtClean="0"/>
              <a:t>Use the Abstract Factory when your code needs to work with</a:t>
            </a:r>
            <a:br>
              <a:rPr lang="en-US" dirty="0" smtClean="0"/>
            </a:br>
            <a:r>
              <a:rPr lang="en-US" dirty="0" smtClean="0"/>
              <a:t>various families of related products, but you don’t want it to</a:t>
            </a:r>
            <a:br>
              <a:rPr lang="en-US" dirty="0" smtClean="0"/>
            </a:br>
            <a:r>
              <a:rPr lang="en-US" dirty="0" smtClean="0"/>
              <a:t>depend on the concrete classes of those products—they might</a:t>
            </a:r>
            <a:br>
              <a:rPr lang="en-US" dirty="0" smtClean="0"/>
            </a:br>
            <a:r>
              <a:rPr lang="en-US" dirty="0" smtClean="0"/>
              <a:t>be unknown beforehand or you simply want to allow for future</a:t>
            </a:r>
            <a:br>
              <a:rPr lang="en-US" dirty="0" smtClean="0"/>
            </a:br>
            <a:r>
              <a:rPr lang="en-US" dirty="0" smtClean="0"/>
              <a:t>extensibility </a:t>
            </a:r>
            <a:br>
              <a:rPr lang="en-US" dirty="0" smtClean="0"/>
            </a:br>
            <a:endParaRPr lang="en-US" dirty="0" smtClean="0"/>
          </a:p>
          <a:p>
            <a:endParaRPr lang="en-US" dirty="0"/>
          </a:p>
        </p:txBody>
      </p:sp>
    </p:spTree>
    <p:extLst>
      <p:ext uri="{BB962C8B-B14F-4D97-AF65-F5344CB8AC3E}">
        <p14:creationId xmlns:p14="http://schemas.microsoft.com/office/powerpoint/2010/main" xmlns="" val="152876243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447675" y="442913"/>
            <a:ext cx="8248650" cy="597217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Singleton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1545858110"/>
              </p:ext>
            </p:extLst>
          </p:nvPr>
        </p:nvGraphicFramePr>
        <p:xfrm>
          <a:off x="628650" y="1371600"/>
          <a:ext cx="7677150" cy="4038600"/>
        </p:xfrm>
        <a:graphic>
          <a:graphicData uri="http://schemas.openxmlformats.org/drawingml/2006/table">
            <a:tbl>
              <a:tblPr firstRow="1" bandRow="1">
                <a:tableStyleId>{22838BEF-8BB2-4498-84A7-C5851F593DF1}</a:tableStyleId>
              </a:tblPr>
              <a:tblGrid>
                <a:gridCol w="2281323">
                  <a:extLst>
                    <a:ext uri="{9D8B030D-6E8A-4147-A177-3AD203B41FA5}">
                      <a16:colId xmlns:a16="http://schemas.microsoft.com/office/drawing/2014/main" xmlns="" val="20000"/>
                    </a:ext>
                  </a:extLst>
                </a:gridCol>
                <a:gridCol w="5395827">
                  <a:extLst>
                    <a:ext uri="{9D8B030D-6E8A-4147-A177-3AD203B41FA5}">
                      <a16:colId xmlns:a16="http://schemas.microsoft.com/office/drawing/2014/main" xmlns="" val="20001"/>
                    </a:ext>
                  </a:extLst>
                </a:gridCol>
              </a:tblGrid>
              <a:tr h="1613445">
                <a:tc>
                  <a:txBody>
                    <a:bodyPr/>
                    <a:lstStyle/>
                    <a:p>
                      <a:r>
                        <a:rPr lang="en-US" sz="2400" b="0" dirty="0"/>
                        <a:t>Intent</a:t>
                      </a:r>
                    </a:p>
                  </a:txBody>
                  <a:tcPr>
                    <a:solidFill>
                      <a:schemeClr val="accent1">
                        <a:lumMod val="40000"/>
                        <a:lumOff val="60000"/>
                      </a:schemeClr>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Ensure a class has only one instance, and provide a global point of access to it.</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Encapsulated "just-in-time initialization" or "initialization on first use".</a:t>
                      </a:r>
                      <a:endParaRPr lang="en-US" dirty="0"/>
                    </a:p>
                  </a:txBody>
                  <a:tcPr>
                    <a:solidFill>
                      <a:schemeClr val="bg1"/>
                    </a:solidFill>
                  </a:tcPr>
                </a:tc>
                <a:extLst>
                  <a:ext uri="{0D108BD9-81ED-4DB2-BD59-A6C34878D82A}">
                    <a16:rowId xmlns:a16="http://schemas.microsoft.com/office/drawing/2014/main" xmlns="" val="10000"/>
                  </a:ext>
                </a:extLst>
              </a:tr>
              <a:tr h="2425155">
                <a:tc>
                  <a:txBody>
                    <a:bodyPr/>
                    <a:lstStyle/>
                    <a:p>
                      <a:r>
                        <a:rPr lang="en-US" sz="2400" b="0" dirty="0"/>
                        <a:t>Problem</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2000" dirty="0"/>
                        <a:t>Application needs one, and only one, instance of an object. Additionally, lazy initialization and global access are necessary.</a:t>
                      </a:r>
                    </a:p>
                  </a:txBody>
                  <a:tcPr>
                    <a:solidFill>
                      <a:schemeClr val="bg1"/>
                    </a:solid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3945871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grpSp>
        <p:nvGrpSpPr>
          <p:cNvPr id="4" name="Group 3"/>
          <p:cNvGrpSpPr/>
          <p:nvPr/>
        </p:nvGrpSpPr>
        <p:grpSpPr>
          <a:xfrm>
            <a:off x="2438402" y="1981200"/>
            <a:ext cx="4876800" cy="1295400"/>
            <a:chOff x="6092889" y="3733800"/>
            <a:chExt cx="2828265" cy="809820"/>
          </a:xfrm>
          <a:solidFill>
            <a:schemeClr val="accent6">
              <a:lumMod val="20000"/>
              <a:lumOff val="80000"/>
            </a:schemeClr>
          </a:solidFill>
        </p:grpSpPr>
        <p:sp>
          <p:nvSpPr>
            <p:cNvPr id="5" name="Flowchart: Process 4"/>
            <p:cNvSpPr/>
            <p:nvPr/>
          </p:nvSpPr>
          <p:spPr>
            <a:xfrm>
              <a:off x="6092889" y="3733800"/>
              <a:ext cx="2828265" cy="38100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err="1">
                  <a:solidFill>
                    <a:srgbClr val="800000"/>
                  </a:solidFill>
                </a:rPr>
                <a:t>SingletonClass</a:t>
              </a:r>
              <a:endParaRPr lang="en-US" sz="3200" b="1" dirty="0">
                <a:solidFill>
                  <a:srgbClr val="800000"/>
                </a:solidFill>
              </a:endParaRPr>
            </a:p>
          </p:txBody>
        </p:sp>
        <p:sp>
          <p:nvSpPr>
            <p:cNvPr id="6" name="Flowchart: Process 5"/>
            <p:cNvSpPr/>
            <p:nvPr/>
          </p:nvSpPr>
          <p:spPr>
            <a:xfrm>
              <a:off x="6092889" y="4114800"/>
              <a:ext cx="2828264" cy="428820"/>
            </a:xfrm>
            <a:prstGeom prst="flowChartProcess">
              <a:avLst/>
            </a:prstGeom>
            <a:grp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2000" b="1" spc="-100" dirty="0">
                  <a:solidFill>
                    <a:schemeClr val="tx1"/>
                  </a:solidFill>
                  <a:latin typeface="Courier New" panose="02070309020205020404" pitchFamily="49" charset="0"/>
                  <a:cs typeface="Courier New" panose="02070309020205020404" pitchFamily="49" charset="0"/>
                </a:rPr>
                <a:t>- </a:t>
              </a:r>
              <a:r>
                <a:rPr lang="en-US" sz="2000" b="1" u="sng" spc="-100" dirty="0">
                  <a:solidFill>
                    <a:schemeClr val="tx1"/>
                  </a:solidFill>
                  <a:latin typeface="Courier New" panose="02070309020205020404" pitchFamily="49" charset="0"/>
                  <a:cs typeface="Courier New" panose="02070309020205020404" pitchFamily="49" charset="0"/>
                </a:rPr>
                <a:t>instance: </a:t>
              </a:r>
              <a:r>
                <a:rPr lang="en-US" sz="2000" b="1" u="sng" spc="-100" dirty="0" err="1">
                  <a:solidFill>
                    <a:schemeClr val="tx1"/>
                  </a:solidFill>
                  <a:latin typeface="Courier New" panose="02070309020205020404" pitchFamily="49" charset="0"/>
                  <a:cs typeface="Courier New" panose="02070309020205020404" pitchFamily="49" charset="0"/>
                </a:rPr>
                <a:t>SingletonClass</a:t>
              </a:r>
              <a:endParaRPr lang="en-US" sz="2000" b="1" u="sng" spc="-100" dirty="0">
                <a:solidFill>
                  <a:schemeClr val="tx1"/>
                </a:solidFill>
                <a:latin typeface="Courier New" panose="02070309020205020404" pitchFamily="49" charset="0"/>
                <a:cs typeface="Courier New" panose="02070309020205020404" pitchFamily="49" charset="0"/>
              </a:endParaRPr>
            </a:p>
          </p:txBody>
        </p:sp>
      </p:grpSp>
      <p:sp>
        <p:nvSpPr>
          <p:cNvPr id="7" name="Flowchart: Process 6"/>
          <p:cNvSpPr/>
          <p:nvPr/>
        </p:nvSpPr>
        <p:spPr>
          <a:xfrm>
            <a:off x="2438400" y="3276600"/>
            <a:ext cx="4876802" cy="1295400"/>
          </a:xfrm>
          <a:prstGeom prst="flowChartProcess">
            <a:avLst/>
          </a:prstGeom>
          <a:solidFill>
            <a:schemeClr val="accent6">
              <a:lumMod val="20000"/>
              <a:lumOff val="80000"/>
            </a:schemeClr>
          </a:solidFill>
          <a:ln w="1905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2000" b="1" spc="-100" dirty="0">
                <a:solidFill>
                  <a:schemeClr val="tx1"/>
                </a:solidFill>
                <a:latin typeface="Courier New" panose="02070309020205020404" pitchFamily="49" charset="0"/>
                <a:cs typeface="Courier New" panose="02070309020205020404" pitchFamily="49" charset="0"/>
              </a:rPr>
              <a:t>- </a:t>
            </a:r>
            <a:r>
              <a:rPr lang="en-US" sz="2000" b="1" spc="-100" dirty="0" err="1">
                <a:solidFill>
                  <a:schemeClr val="tx1"/>
                </a:solidFill>
                <a:latin typeface="Courier New" panose="02070309020205020404" pitchFamily="49" charset="0"/>
                <a:cs typeface="Courier New" panose="02070309020205020404" pitchFamily="49" charset="0"/>
              </a:rPr>
              <a:t>SingletonClass</a:t>
            </a:r>
            <a:r>
              <a:rPr lang="en-US" sz="2000" b="1" spc="-100" dirty="0">
                <a:solidFill>
                  <a:schemeClr val="tx1"/>
                </a:solidFill>
                <a:latin typeface="Courier New" panose="02070309020205020404" pitchFamily="49" charset="0"/>
                <a:cs typeface="Courier New" panose="02070309020205020404" pitchFamily="49" charset="0"/>
              </a:rPr>
              <a:t>()</a:t>
            </a:r>
          </a:p>
          <a:p>
            <a:r>
              <a:rPr lang="en-US" sz="2000" b="1" u="sng" spc="-100" dirty="0">
                <a:solidFill>
                  <a:schemeClr val="tx1"/>
                </a:solidFill>
                <a:latin typeface="Courier New" panose="02070309020205020404" pitchFamily="49" charset="0"/>
                <a:cs typeface="Courier New" panose="02070309020205020404" pitchFamily="49" charset="0"/>
              </a:rPr>
              <a:t>+ </a:t>
            </a:r>
            <a:r>
              <a:rPr lang="en-US" sz="2000" b="1" u="sng" spc="-100" dirty="0" err="1">
                <a:solidFill>
                  <a:schemeClr val="tx1"/>
                </a:solidFill>
                <a:latin typeface="Courier New" panose="02070309020205020404" pitchFamily="49" charset="0"/>
                <a:cs typeface="Courier New" panose="02070309020205020404" pitchFamily="49" charset="0"/>
              </a:rPr>
              <a:t>getInstance</a:t>
            </a:r>
            <a:r>
              <a:rPr lang="en-US" sz="2000" b="1" u="sng" spc="-100" dirty="0">
                <a:solidFill>
                  <a:schemeClr val="tx1"/>
                </a:solidFill>
                <a:latin typeface="Courier New" panose="02070309020205020404" pitchFamily="49" charset="0"/>
                <a:cs typeface="Courier New" panose="02070309020205020404" pitchFamily="49" charset="0"/>
              </a:rPr>
              <a:t>(): </a:t>
            </a:r>
            <a:r>
              <a:rPr lang="en-US" sz="2000" b="1" u="sng" spc="-100" dirty="0" err="1">
                <a:solidFill>
                  <a:schemeClr val="tx1"/>
                </a:solidFill>
                <a:latin typeface="Courier New" panose="02070309020205020404" pitchFamily="49" charset="0"/>
                <a:cs typeface="Courier New" panose="02070309020205020404" pitchFamily="49" charset="0"/>
              </a:rPr>
              <a:t>SingletonClass</a:t>
            </a:r>
            <a:endParaRPr lang="en-US" sz="2000" b="1" u="sng" spc="-1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xmlns="" val="390671361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DB Connection Manger</a:t>
            </a:r>
          </a:p>
        </p:txBody>
      </p:sp>
      <p:sp>
        <p:nvSpPr>
          <p:cNvPr id="3" name="Content Placeholder 2"/>
          <p:cNvSpPr>
            <a:spLocks noGrp="1"/>
          </p:cNvSpPr>
          <p:nvPr>
            <p:ph idx="1"/>
          </p:nvPr>
        </p:nvSpPr>
        <p:spPr>
          <a:xfrm>
            <a:off x="457200" y="971548"/>
            <a:ext cx="8458200" cy="5353051"/>
          </a:xfrm>
        </p:spPr>
        <p:txBody>
          <a:bodyPr>
            <a:normAutofit fontScale="77500" lnSpcReduction="20000"/>
          </a:bodyPr>
          <a:lstStyle/>
          <a:p>
            <a:pPr marL="0" indent="0">
              <a:buNone/>
            </a:pPr>
            <a:r>
              <a:rPr lang="en-US" b="1" dirty="0">
                <a:latin typeface="Courier New" panose="02070309020205020404" pitchFamily="49" charset="0"/>
                <a:cs typeface="Courier New" panose="02070309020205020404" pitchFamily="49" charset="0"/>
              </a:rPr>
              <a:t>public class </a:t>
            </a:r>
            <a:r>
              <a:rPr lang="en-US" b="1" dirty="0" err="1">
                <a:latin typeface="Courier New" panose="02070309020205020404" pitchFamily="49" charset="0"/>
                <a:cs typeface="Courier New" panose="02070309020205020404" pitchFamily="49" charset="0"/>
              </a:rPr>
              <a:t>DbConnection</a:t>
            </a:r>
            <a:r>
              <a:rPr lang="en-US" b="1" dirty="0">
                <a:latin typeface="Courier New" panose="02070309020205020404" pitchFamily="49" charset="0"/>
                <a:cs typeface="Courier New" panose="02070309020205020404" pitchFamily="49" charset="0"/>
              </a:rPr>
              <a:t>{</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a:latin typeface="Courier New" panose="02070309020205020404" pitchFamily="49" charset="0"/>
                <a:cs typeface="Courier New" panose="02070309020205020404" pitchFamily="49" charset="0"/>
              </a:rPr>
              <a:t>    private static </a:t>
            </a:r>
            <a:r>
              <a:rPr lang="en-US" b="1" dirty="0" err="1">
                <a:latin typeface="Courier New" panose="02070309020205020404" pitchFamily="49" charset="0"/>
                <a:cs typeface="Courier New" panose="02070309020205020404" pitchFamily="49" charset="0"/>
              </a:rPr>
              <a:t>DbConnection</a:t>
            </a:r>
            <a:r>
              <a:rPr lang="en-US" b="1" dirty="0">
                <a:latin typeface="Courier New" panose="02070309020205020404" pitchFamily="49" charset="0"/>
                <a:cs typeface="Courier New" panose="02070309020205020404" pitchFamily="49" charset="0"/>
              </a:rPr>
              <a:t> instance=null;</a:t>
            </a:r>
          </a:p>
          <a:p>
            <a:pPr marL="0" indent="0">
              <a:buNone/>
            </a:pPr>
            <a:r>
              <a:rPr lang="en-US" b="1" dirty="0">
                <a:latin typeface="Courier New" panose="02070309020205020404" pitchFamily="49" charset="0"/>
                <a:cs typeface="Courier New" panose="02070309020205020404" pitchFamily="49" charset="0"/>
              </a:rPr>
              <a:t>    private </a:t>
            </a:r>
            <a:r>
              <a:rPr lang="en-US" b="1" dirty="0" err="1">
                <a:latin typeface="Courier New" panose="02070309020205020404" pitchFamily="49" charset="0"/>
                <a:cs typeface="Courier New" panose="02070309020205020404" pitchFamily="49" charset="0"/>
              </a:rPr>
              <a:t>SQLConnection</a:t>
            </a:r>
            <a:r>
              <a:rPr lang="en-US" b="1" dirty="0">
                <a:latin typeface="Courier New" panose="02070309020205020404" pitchFamily="49" charset="0"/>
                <a:cs typeface="Courier New" panose="02070309020205020404" pitchFamily="49" charset="0"/>
              </a:rPr>
              <a:t> connection;</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a:latin typeface="Courier New" panose="02070309020205020404" pitchFamily="49" charset="0"/>
                <a:cs typeface="Courier New" panose="02070309020205020404" pitchFamily="49" charset="0"/>
              </a:rPr>
              <a:t>    private </a:t>
            </a:r>
            <a:r>
              <a:rPr lang="en-US" b="1" dirty="0" err="1">
                <a:latin typeface="Courier New" panose="02070309020205020404" pitchFamily="49" charset="0"/>
                <a:cs typeface="Courier New" panose="02070309020205020404" pitchFamily="49" charset="0"/>
              </a:rPr>
              <a:t>DbConnection</a:t>
            </a:r>
            <a:r>
              <a:rPr lang="en-US" b="1" dirty="0">
                <a:latin typeface="Courier New" panose="02070309020205020404" pitchFamily="49" charset="0"/>
                <a:cs typeface="Courier New" panose="02070309020205020404" pitchFamily="49" charset="0"/>
              </a:rPr>
              <a:t>() { </a:t>
            </a:r>
          </a:p>
          <a:p>
            <a:pPr marL="0" indent="0">
              <a:buNone/>
            </a:pPr>
            <a:r>
              <a:rPr lang="en-US" b="1" dirty="0">
                <a:latin typeface="Courier New" panose="02070309020205020404" pitchFamily="49" charset="0"/>
                <a:cs typeface="Courier New" panose="02070309020205020404" pitchFamily="49" charset="0"/>
              </a:rPr>
              <a:t>	 connection = </a:t>
            </a:r>
            <a:r>
              <a:rPr lang="en-US" b="1" dirty="0" err="1">
                <a:latin typeface="Courier New" panose="02070309020205020404" pitchFamily="49" charset="0"/>
                <a:cs typeface="Courier New" panose="02070309020205020404" pitchFamily="49" charset="0"/>
              </a:rPr>
              <a:t>connectToDatabase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dbUser,dbPassword,dbName</a:t>
            </a:r>
            <a:r>
              <a:rPr lang="en-US" b="1" dirty="0">
                <a:latin typeface="Courier New" panose="02070309020205020404" pitchFamily="49" charset="0"/>
                <a:cs typeface="Courier New" panose="02070309020205020404" pitchFamily="49" charset="0"/>
              </a:rPr>
              <a:t>);</a:t>
            </a:r>
          </a:p>
          <a:p>
            <a:pPr marL="0" indent="0">
              <a:buNone/>
            </a:pPr>
            <a:r>
              <a:rPr lang="en-US" b="1" dirty="0">
                <a:latin typeface="Courier New" panose="02070309020205020404" pitchFamily="49" charset="0"/>
                <a:cs typeface="Courier New" panose="02070309020205020404" pitchFamily="49" charset="0"/>
              </a:rPr>
              <a:t>   }</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a:latin typeface="Courier New" panose="02070309020205020404" pitchFamily="49" charset="0"/>
                <a:cs typeface="Courier New" panose="02070309020205020404" pitchFamily="49" charset="0"/>
              </a:rPr>
              <a:t>    public static </a:t>
            </a:r>
            <a:r>
              <a:rPr lang="en-US" b="1" dirty="0" err="1">
                <a:latin typeface="Courier New" panose="02070309020205020404" pitchFamily="49" charset="0"/>
                <a:cs typeface="Courier New" panose="02070309020205020404" pitchFamily="49" charset="0"/>
              </a:rPr>
              <a:t>getDbConnection</a:t>
            </a:r>
            <a:r>
              <a:rPr lang="en-US" b="1" dirty="0">
                <a:latin typeface="Courier New" panose="02070309020205020404" pitchFamily="49" charset="0"/>
                <a:cs typeface="Courier New" panose="02070309020205020404" pitchFamily="49" charset="0"/>
              </a:rPr>
              <a:t>() {</a:t>
            </a:r>
          </a:p>
          <a:p>
            <a:pPr marL="0" indent="0">
              <a:buNone/>
            </a:pPr>
            <a:r>
              <a:rPr lang="en-US" b="1" dirty="0">
                <a:latin typeface="Courier New" panose="02070309020205020404" pitchFamily="49" charset="0"/>
                <a:cs typeface="Courier New" panose="02070309020205020404" pitchFamily="49" charset="0"/>
              </a:rPr>
              <a:t>      if (instance== null ) </a:t>
            </a:r>
          </a:p>
          <a:p>
            <a:pPr marL="0" indent="0">
              <a:buNone/>
            </a:pPr>
            <a:r>
              <a:rPr lang="en-US" b="1" dirty="0">
                <a:latin typeface="Courier New" panose="02070309020205020404" pitchFamily="49" charset="0"/>
                <a:cs typeface="Courier New" panose="02070309020205020404" pitchFamily="49" charset="0"/>
              </a:rPr>
              <a:t>		instance = new </a:t>
            </a:r>
            <a:r>
              <a:rPr lang="en-US" b="1" dirty="0" err="1">
                <a:latin typeface="Courier New" panose="02070309020205020404" pitchFamily="49" charset="0"/>
                <a:cs typeface="Courier New" panose="02070309020205020404" pitchFamily="49" charset="0"/>
              </a:rPr>
              <a:t>DbConnection</a:t>
            </a:r>
            <a:r>
              <a:rPr lang="en-US" b="1" dirty="0">
                <a:latin typeface="Courier New" panose="02070309020205020404" pitchFamily="49" charset="0"/>
                <a:cs typeface="Courier New" panose="02070309020205020404" pitchFamily="49" charset="0"/>
              </a:rPr>
              <a:t>() ;                           </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a:latin typeface="Courier New" panose="02070309020205020404" pitchFamily="49" charset="0"/>
                <a:cs typeface="Courier New" panose="02070309020205020404" pitchFamily="49" charset="0"/>
              </a:rPr>
              <a:t>      return instance;</a:t>
            </a:r>
          </a:p>
          <a:p>
            <a:pPr marL="0" indent="0">
              <a:buNone/>
            </a:pPr>
            <a:r>
              <a:rPr lang="en-US" b="1" dirty="0">
                <a:latin typeface="Courier New" panose="02070309020205020404" pitchFamily="49" charset="0"/>
                <a:cs typeface="Courier New" panose="02070309020205020404" pitchFamily="49" charset="0"/>
              </a:rPr>
              <a:t>    }</a:t>
            </a:r>
          </a:p>
          <a:p>
            <a:pPr marL="0" indent="0">
              <a:buNone/>
            </a:pPr>
            <a:r>
              <a:rPr lang="en-US" b="1" dirty="0">
                <a:latin typeface="Courier New" panose="02070309020205020404" pitchFamily="49" charset="0"/>
                <a:cs typeface="Courier New" panose="02070309020205020404" pitchFamily="49" charset="0"/>
              </a:rPr>
              <a:t>}</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err="1">
                <a:solidFill>
                  <a:srgbClr val="0033CC"/>
                </a:solidFill>
                <a:latin typeface="Courier New" panose="02070309020205020404" pitchFamily="49" charset="0"/>
                <a:cs typeface="Courier New" panose="02070309020205020404" pitchFamily="49" charset="0"/>
              </a:rPr>
              <a:t>DbConnection</a:t>
            </a:r>
            <a:r>
              <a:rPr lang="en-US" b="1" dirty="0">
                <a:solidFill>
                  <a:srgbClr val="0033CC"/>
                </a:solidFill>
                <a:latin typeface="Courier New" panose="02070309020205020404" pitchFamily="49" charset="0"/>
                <a:cs typeface="Courier New" panose="02070309020205020404" pitchFamily="49" charset="0"/>
              </a:rPr>
              <a:t> connection=</a:t>
            </a:r>
            <a:r>
              <a:rPr lang="en-US" b="1" dirty="0" err="1">
                <a:solidFill>
                  <a:srgbClr val="0033CC"/>
                </a:solidFill>
                <a:latin typeface="Courier New" panose="02070309020205020404" pitchFamily="49" charset="0"/>
                <a:cs typeface="Courier New" panose="02070309020205020404" pitchFamily="49" charset="0"/>
              </a:rPr>
              <a:t>DbConnection.getDbConnection</a:t>
            </a:r>
            <a:r>
              <a:rPr lang="en-US" b="1" dirty="0">
                <a:solidFill>
                  <a:srgbClr val="0033CC"/>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xmlns="" val="34797766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295400" y="188209"/>
            <a:ext cx="6324600" cy="6255479"/>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Applicability</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295400" y="1152818"/>
            <a:ext cx="6629400" cy="5146508"/>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Applicability</a:t>
            </a:r>
            <a:endParaRPr lang="en-US" dirty="0"/>
          </a:p>
        </p:txBody>
      </p:sp>
      <p:pic>
        <p:nvPicPr>
          <p:cNvPr id="2050" name="Picture 2"/>
          <p:cNvPicPr>
            <a:picLocks noChangeAspect="1" noChangeArrowheads="1"/>
          </p:cNvPicPr>
          <p:nvPr/>
        </p:nvPicPr>
        <p:blipFill>
          <a:blip r:embed="rId2"/>
          <a:srcRect/>
          <a:stretch>
            <a:fillRect/>
          </a:stretch>
        </p:blipFill>
        <p:spPr bwMode="auto">
          <a:xfrm>
            <a:off x="990600" y="1066800"/>
            <a:ext cx="6477000" cy="4812112"/>
          </a:xfrm>
          <a:prstGeom prst="rect">
            <a:avLst/>
          </a:prstGeom>
          <a:noFill/>
          <a:ln w="9525">
            <a:noFill/>
            <a:miter lim="800000"/>
            <a:headEnd/>
            <a:tailEnd/>
          </a:ln>
          <a:effectLst/>
        </p:spPr>
      </p:pic>
      <p:sp>
        <p:nvSpPr>
          <p:cNvPr id="5" name="TextBox 4"/>
          <p:cNvSpPr txBox="1"/>
          <p:nvPr/>
        </p:nvSpPr>
        <p:spPr>
          <a:xfrm>
            <a:off x="228600" y="5858470"/>
            <a:ext cx="8458200" cy="923330"/>
          </a:xfrm>
          <a:prstGeom prst="rect">
            <a:avLst/>
          </a:prstGeom>
          <a:noFill/>
        </p:spPr>
        <p:txBody>
          <a:bodyPr wrap="square" rtlCol="0">
            <a:spAutoFit/>
          </a:bodyPr>
          <a:lstStyle/>
          <a:p>
            <a:r>
              <a:rPr lang="en-US" dirty="0" smtClean="0"/>
              <a:t>Unlike global variables, the Singleton pattern guarantees </a:t>
            </a:r>
            <a:r>
              <a:rPr lang="en-US" dirty="0" smtClean="0"/>
              <a:t>that there’s </a:t>
            </a:r>
            <a:r>
              <a:rPr lang="en-US" dirty="0" smtClean="0"/>
              <a:t>just one instance of a class. Nothing, except for the Singleton class itself, can replace the cached instance </a:t>
            </a:r>
            <a:br>
              <a:rPr lang="en-US" dirty="0" smtClean="0"/>
            </a:b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Consequences</a:t>
            </a:r>
          </a:p>
        </p:txBody>
      </p:sp>
      <p:sp>
        <p:nvSpPr>
          <p:cNvPr id="3" name="Content Placeholder 2"/>
          <p:cNvSpPr>
            <a:spLocks noGrp="1"/>
          </p:cNvSpPr>
          <p:nvPr>
            <p:ph idx="1"/>
          </p:nvPr>
        </p:nvSpPr>
        <p:spPr/>
        <p:txBody>
          <a:bodyPr/>
          <a:lstStyle/>
          <a:p>
            <a:r>
              <a:rPr lang="en-US" dirty="0"/>
              <a:t>Controlled access to sole instance</a:t>
            </a:r>
          </a:p>
          <a:p>
            <a:endParaRPr lang="en-US" dirty="0"/>
          </a:p>
          <a:p>
            <a:r>
              <a:rPr lang="en-US" dirty="0"/>
              <a:t>Reduced namespace</a:t>
            </a:r>
          </a:p>
          <a:p>
            <a:endParaRPr lang="en-US" dirty="0"/>
          </a:p>
          <a:p>
            <a:r>
              <a:rPr lang="en-US" dirty="0"/>
              <a:t>Permits variable number of instances</a:t>
            </a:r>
          </a:p>
          <a:p>
            <a:endParaRPr lang="en-US" dirty="0"/>
          </a:p>
          <a:p>
            <a:endParaRPr lang="en-US" dirty="0"/>
          </a:p>
        </p:txBody>
      </p:sp>
    </p:spTree>
    <p:extLst>
      <p:ext uri="{BB962C8B-B14F-4D97-AF65-F5344CB8AC3E}">
        <p14:creationId xmlns:p14="http://schemas.microsoft.com/office/powerpoint/2010/main" xmlns="" val="40474557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Builder</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114141963"/>
              </p:ext>
            </p:extLst>
          </p:nvPr>
        </p:nvGraphicFramePr>
        <p:xfrm>
          <a:off x="628650" y="1371600"/>
          <a:ext cx="7677150" cy="4345395"/>
        </p:xfrm>
        <a:graphic>
          <a:graphicData uri="http://schemas.openxmlformats.org/drawingml/2006/table">
            <a:tbl>
              <a:tblPr firstRow="1" bandRow="1">
                <a:tableStyleId>{22838BEF-8BB2-4498-84A7-C5851F593DF1}</a:tableStyleId>
              </a:tblPr>
              <a:tblGrid>
                <a:gridCol w="2281323">
                  <a:extLst>
                    <a:ext uri="{9D8B030D-6E8A-4147-A177-3AD203B41FA5}">
                      <a16:colId xmlns="" xmlns:a16="http://schemas.microsoft.com/office/drawing/2014/main" val="20000"/>
                    </a:ext>
                  </a:extLst>
                </a:gridCol>
                <a:gridCol w="5395827">
                  <a:extLst>
                    <a:ext uri="{9D8B030D-6E8A-4147-A177-3AD203B41FA5}">
                      <a16:colId xmlns="" xmlns:a16="http://schemas.microsoft.com/office/drawing/2014/main" val="20001"/>
                    </a:ext>
                  </a:extLst>
                </a:gridCol>
              </a:tblGrid>
              <a:tr h="1613445">
                <a:tc>
                  <a:txBody>
                    <a:bodyPr/>
                    <a:lstStyle/>
                    <a:p>
                      <a:r>
                        <a:rPr lang="en-US" sz="2400" b="0" dirty="0"/>
                        <a:t>Intent</a:t>
                      </a:r>
                    </a:p>
                  </a:txBody>
                  <a:tcPr>
                    <a:solidFill>
                      <a:schemeClr val="accent1">
                        <a:lumMod val="40000"/>
                        <a:lumOff val="60000"/>
                      </a:schemeClr>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Separate the construction of a complex object from its representation so that the same construction process can create different representations.</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Parse a complex representation, create one of several targets.</a:t>
                      </a:r>
                      <a:endParaRPr lang="en-US" dirty="0"/>
                    </a:p>
                  </a:txBody>
                  <a:tcPr>
                    <a:solidFill>
                      <a:schemeClr val="bg1"/>
                    </a:solidFill>
                  </a:tcPr>
                </a:tc>
                <a:extLst>
                  <a:ext uri="{0D108BD9-81ED-4DB2-BD59-A6C34878D82A}">
                    <a16:rowId xmlns="" xmlns:a16="http://schemas.microsoft.com/office/drawing/2014/main" val="10000"/>
                  </a:ext>
                </a:extLst>
              </a:tr>
              <a:tr h="2425155">
                <a:tc>
                  <a:txBody>
                    <a:bodyPr/>
                    <a:lstStyle/>
                    <a:p>
                      <a:r>
                        <a:rPr lang="en-US" sz="2400" b="0" dirty="0"/>
                        <a:t>Problem</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2000" dirty="0"/>
                        <a:t>An application needs to create the elements of a complex aggregate. The specification for the aggregate exists on secondary storage and one of many representations needs to be built in primary storage.</a:t>
                      </a:r>
                    </a:p>
                  </a:txBody>
                  <a:tcPr>
                    <a:solidFill>
                      <a:schemeClr val="bg1"/>
                    </a:solidFill>
                  </a:tcP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xmlns="" val="22181708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pic>
        <p:nvPicPr>
          <p:cNvPr id="14338" name="Picture 2" descr="http://upload.wikimedia.org/wikipedia/en/6/6e/Builder2.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33610" y="1752600"/>
            <a:ext cx="7276779" cy="3276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075815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r>
              <a:rPr lang="en-US" dirty="0"/>
              <a:t>s</a:t>
            </a:r>
          </a:p>
        </p:txBody>
      </p:sp>
      <p:pic>
        <p:nvPicPr>
          <p:cNvPr id="16386" name="Picture 2" descr="https://sourcemaking.com/files/v2/content/patterns/Builder_example1-2x.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968938" y="1371600"/>
            <a:ext cx="5098862" cy="4611267"/>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152400" y="1853148"/>
            <a:ext cx="3886200" cy="3785652"/>
          </a:xfrm>
          <a:prstGeom prst="rect">
            <a:avLst/>
          </a:prstGeom>
        </p:spPr>
        <p:txBody>
          <a:bodyPr wrap="square">
            <a:spAutoFit/>
          </a:bodyPr>
          <a:lstStyle/>
          <a:p>
            <a:r>
              <a:rPr lang="en-US" sz="2400" dirty="0"/>
              <a:t>To create a computer, different parts are assembled depending upon the order received by the customer</a:t>
            </a:r>
          </a:p>
          <a:p>
            <a:r>
              <a:rPr lang="en-US" sz="2400" dirty="0"/>
              <a:t>(e.g., a customer can demand a 500 GB hard disk with an Intel processor; another customer can choose a 250</a:t>
            </a:r>
          </a:p>
          <a:p>
            <a:r>
              <a:rPr lang="en-US" sz="2400" dirty="0"/>
              <a:t>GB hard disk with an AMD processor).</a:t>
            </a:r>
          </a:p>
        </p:txBody>
      </p:sp>
    </p:spTree>
    <p:extLst>
      <p:ext uri="{BB962C8B-B14F-4D97-AF65-F5344CB8AC3E}">
        <p14:creationId xmlns:p14="http://schemas.microsoft.com/office/powerpoint/2010/main" xmlns="" val="313173111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Consequences</a:t>
            </a:r>
          </a:p>
        </p:txBody>
      </p:sp>
      <p:sp>
        <p:nvSpPr>
          <p:cNvPr id="3" name="Content Placeholder 2"/>
          <p:cNvSpPr>
            <a:spLocks noGrp="1"/>
          </p:cNvSpPr>
          <p:nvPr>
            <p:ph idx="1"/>
          </p:nvPr>
        </p:nvSpPr>
        <p:spPr/>
        <p:txBody>
          <a:bodyPr/>
          <a:lstStyle/>
          <a:p>
            <a:r>
              <a:rPr lang="en-US" dirty="0"/>
              <a:t>Lets you vary a product’s internal representation</a:t>
            </a:r>
          </a:p>
          <a:p>
            <a:endParaRPr lang="en-US" dirty="0"/>
          </a:p>
          <a:p>
            <a:r>
              <a:rPr lang="en-US" dirty="0"/>
              <a:t>Isolates construction and representation</a:t>
            </a:r>
          </a:p>
          <a:p>
            <a:endParaRPr lang="en-US" dirty="0"/>
          </a:p>
          <a:p>
            <a:r>
              <a:rPr lang="en-US" dirty="0"/>
              <a:t>Gives you finer control over the construction process</a:t>
            </a:r>
          </a:p>
        </p:txBody>
      </p:sp>
    </p:spTree>
    <p:extLst>
      <p:ext uri="{BB962C8B-B14F-4D97-AF65-F5344CB8AC3E}">
        <p14:creationId xmlns:p14="http://schemas.microsoft.com/office/powerpoint/2010/main" xmlns="" val="26983652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6814" t="12161" r="18324" b="6666"/>
          <a:stretch/>
        </p:blipFill>
        <p:spPr bwMode="auto">
          <a:xfrm>
            <a:off x="473948" y="609600"/>
            <a:ext cx="7908052" cy="5566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291755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5495" t="11722" r="41154" b="1276"/>
          <a:stretch/>
        </p:blipFill>
        <p:spPr bwMode="auto">
          <a:xfrm>
            <a:off x="1" y="0"/>
            <a:ext cx="5055886" cy="541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6621" t="60073" r="54368" b="19964"/>
          <a:stretch/>
        </p:blipFill>
        <p:spPr bwMode="auto">
          <a:xfrm>
            <a:off x="44381" y="5486400"/>
            <a:ext cx="3537019" cy="1369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 name="Picture 4"/>
          <p:cNvPicPr>
            <a:picLocks noChangeAspect="1" noChangeArrowheads="1"/>
          </p:cNvPicPr>
          <p:nvPr/>
        </p:nvPicPr>
        <p:blipFill rotWithShape="1">
          <a:blip r:embed="rId4">
            <a:extLst>
              <a:ext uri="{28A0092B-C50C-407E-A947-70E740481C1C}">
                <a14:useLocalDpi xmlns:a14="http://schemas.microsoft.com/office/drawing/2010/main" xmlns="" val="0"/>
              </a:ext>
            </a:extLst>
          </a:blip>
          <a:srcRect l="20494" t="12602" r="31373" b="13037"/>
          <a:stretch/>
        </p:blipFill>
        <p:spPr bwMode="auto">
          <a:xfrm>
            <a:off x="4648201" y="457200"/>
            <a:ext cx="4495799" cy="4538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558610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9505" t="69304" r="59444" b="12234"/>
          <a:stretch/>
        </p:blipFill>
        <p:spPr bwMode="auto">
          <a:xfrm>
            <a:off x="533400" y="381000"/>
            <a:ext cx="2566516" cy="12660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2"/>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7637" t="11429" r="47795" b="62502"/>
          <a:stretch/>
        </p:blipFill>
        <p:spPr bwMode="auto">
          <a:xfrm>
            <a:off x="52753" y="1488830"/>
            <a:ext cx="4214447" cy="17877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2"/>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7637" t="37813" r="36044"/>
          <a:stretch/>
        </p:blipFill>
        <p:spPr bwMode="auto">
          <a:xfrm>
            <a:off x="3573026" y="2364606"/>
            <a:ext cx="5647174" cy="4264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6411471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8544" t="8644" r="31099" b="7692"/>
          <a:stretch/>
        </p:blipFill>
        <p:spPr bwMode="auto">
          <a:xfrm>
            <a:off x="990600" y="152400"/>
            <a:ext cx="7010400" cy="65514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extBox 3"/>
          <p:cNvSpPr txBox="1"/>
          <p:nvPr/>
        </p:nvSpPr>
        <p:spPr>
          <a:xfrm>
            <a:off x="381000" y="2819400"/>
            <a:ext cx="1752600" cy="707886"/>
          </a:xfrm>
          <a:prstGeom prst="rect">
            <a:avLst/>
          </a:prstGeom>
          <a:noFill/>
        </p:spPr>
        <p:txBody>
          <a:bodyPr wrap="square" rtlCol="0">
            <a:spAutoFit/>
          </a:bodyPr>
          <a:lstStyle/>
          <a:p>
            <a:r>
              <a:rPr lang="en-US" sz="4000" dirty="0" smtClean="0"/>
              <a:t>Builder</a:t>
            </a:r>
            <a:endParaRPr lang="en-US" sz="4000" dirty="0"/>
          </a:p>
        </p:txBody>
      </p:sp>
    </p:spTree>
    <p:extLst>
      <p:ext uri="{BB962C8B-B14F-4D97-AF65-F5344CB8AC3E}">
        <p14:creationId xmlns:p14="http://schemas.microsoft.com/office/powerpoint/2010/main" xmlns="" val="36514037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6566" t="15531" r="50000" b="22638"/>
          <a:stretch/>
        </p:blipFill>
        <p:spPr bwMode="auto">
          <a:xfrm>
            <a:off x="1524000" y="581168"/>
            <a:ext cx="5447882" cy="5667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919580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6978" t="15971" r="58791" b="7693"/>
          <a:stretch/>
        </p:blipFill>
        <p:spPr bwMode="auto">
          <a:xfrm>
            <a:off x="152400" y="152400"/>
            <a:ext cx="3505200" cy="6211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6457" t="11575" r="49340" b="18974"/>
          <a:stretch/>
        </p:blipFill>
        <p:spPr bwMode="auto">
          <a:xfrm>
            <a:off x="3886200" y="457200"/>
            <a:ext cx="4170066" cy="47629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625564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6071" t="11135" r="60605" b="7985"/>
          <a:stretch/>
        </p:blipFill>
        <p:spPr bwMode="auto">
          <a:xfrm>
            <a:off x="1066801" y="76200"/>
            <a:ext cx="3398768" cy="6629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13208204"/>
      </p:ext>
    </p:extLst>
  </p:cSld>
  <p:clrMapOvr>
    <a:masterClrMapping/>
  </p:clrMapOvr>
</p:sld>
</file>

<file path=ppt/theme/theme1.xml><?xml version="1.0" encoding="utf-8"?>
<a:theme xmlns:a="http://schemas.openxmlformats.org/drawingml/2006/main" name="Lecture2-Lifecyc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Lecture2-Lifecycle</Template>
  <TotalTime>9713</TotalTime>
  <Words>1039</Words>
  <Application>Microsoft Office PowerPoint</Application>
  <PresentationFormat>On-screen Show (4:3)</PresentationFormat>
  <Paragraphs>195</Paragraphs>
  <Slides>53</Slides>
  <Notes>0</Notes>
  <HiddenSlides>0</HiddenSlides>
  <MMClips>0</MMClips>
  <ScaleCrop>false</ScaleCrop>
  <HeadingPairs>
    <vt:vector size="4" baseType="variant">
      <vt:variant>
        <vt:lpstr>Theme</vt:lpstr>
      </vt:variant>
      <vt:variant>
        <vt:i4>2</vt:i4>
      </vt:variant>
      <vt:variant>
        <vt:lpstr>Slide Titles</vt:lpstr>
      </vt:variant>
      <vt:variant>
        <vt:i4>53</vt:i4>
      </vt:variant>
    </vt:vector>
  </HeadingPairs>
  <TitlesOfParts>
    <vt:vector size="55" baseType="lpstr">
      <vt:lpstr>Lecture2-Lifecycle</vt:lpstr>
      <vt:lpstr>HDOfficeLightV0</vt:lpstr>
      <vt:lpstr>Creational Patterns</vt:lpstr>
      <vt:lpstr>UML Revisited</vt:lpstr>
      <vt:lpstr>Creational Patterns to be Covered</vt:lpstr>
      <vt:lpstr>Factory Method</vt:lpstr>
      <vt:lpstr>Solution</vt:lpstr>
      <vt:lpstr>Example: Drawing</vt:lpstr>
      <vt:lpstr>Slide 7</vt:lpstr>
      <vt:lpstr>Example: Kiosk</vt:lpstr>
      <vt:lpstr>Factory</vt:lpstr>
      <vt:lpstr>Slide 10</vt:lpstr>
      <vt:lpstr>Slide 11</vt:lpstr>
      <vt:lpstr>Another Example Usecase</vt:lpstr>
      <vt:lpstr>Slide 13</vt:lpstr>
      <vt:lpstr>Use the Factory Method when you want to provide users of your library or framework with a way to extend its internal components</vt:lpstr>
      <vt:lpstr>Consequences/Benefits</vt:lpstr>
      <vt:lpstr>Slide 16</vt:lpstr>
      <vt:lpstr>Abstract Factory</vt:lpstr>
      <vt:lpstr>Solution</vt:lpstr>
      <vt:lpstr>Problem</vt:lpstr>
      <vt:lpstr>Abstract Factory</vt:lpstr>
      <vt:lpstr>Solution</vt:lpstr>
      <vt:lpstr>Slide 22</vt:lpstr>
      <vt:lpstr>Another Example</vt:lpstr>
      <vt:lpstr>Another Example</vt:lpstr>
      <vt:lpstr>Slide 25</vt:lpstr>
      <vt:lpstr>Slide 26</vt:lpstr>
      <vt:lpstr>Slide 27</vt:lpstr>
      <vt:lpstr>Slide 28</vt:lpstr>
      <vt:lpstr>Slide 29</vt:lpstr>
      <vt:lpstr>Example: Car Factory</vt:lpstr>
      <vt:lpstr>https://www.tutorialspoint.com/design_pattern/design_pattern_quick_guide.htm</vt:lpstr>
      <vt:lpstr>Slide 32</vt:lpstr>
      <vt:lpstr>Slide 33</vt:lpstr>
      <vt:lpstr>Consequences</vt:lpstr>
      <vt:lpstr>Slide 35</vt:lpstr>
      <vt:lpstr>Singleton</vt:lpstr>
      <vt:lpstr>Solution</vt:lpstr>
      <vt:lpstr>Example: DB Connection Manger</vt:lpstr>
      <vt:lpstr>Slide 39</vt:lpstr>
      <vt:lpstr>Applicability</vt:lpstr>
      <vt:lpstr>Applicability</vt:lpstr>
      <vt:lpstr>Consequences</vt:lpstr>
      <vt:lpstr>Builder</vt:lpstr>
      <vt:lpstr>Solution</vt:lpstr>
      <vt:lpstr>Examples</vt:lpstr>
      <vt:lpstr>Consequences</vt:lpstr>
      <vt:lpstr>Slide 47</vt:lpstr>
      <vt:lpstr>Slide 48</vt:lpstr>
      <vt:lpstr>Slide 49</vt:lpstr>
      <vt:lpstr>Slide 50</vt:lpstr>
      <vt:lpstr>Slide 51</vt:lpstr>
      <vt:lpstr>Slide 52</vt:lpstr>
      <vt:lpstr>Slide 53</vt:lpstr>
    </vt:vector>
  </TitlesOfParts>
  <Company>University of Washington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CS435</dc:title>
  <dc:creator>Amiangshu Bosu; Marty Stepp</dc:creator>
  <cp:keywords/>
  <dc:description>Amiangshu Bosu, SIU Carbondale</dc:description>
  <cp:lastModifiedBy>user</cp:lastModifiedBy>
  <cp:revision>1045</cp:revision>
  <dcterms:created xsi:type="dcterms:W3CDTF">2008-06-28T20:57:21Z</dcterms:created>
  <dcterms:modified xsi:type="dcterms:W3CDTF">2023-12-12T05:56:19Z</dcterms:modified>
</cp:coreProperties>
</file>