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  <p:sldMasterId id="2147483708" r:id="rId2"/>
  </p:sldMasterIdLst>
  <p:notesMasterIdLst>
    <p:notesMasterId r:id="rId13"/>
  </p:notesMasterIdLst>
  <p:sldIdLst>
    <p:sldId id="336" r:id="rId3"/>
    <p:sldId id="384" r:id="rId4"/>
    <p:sldId id="385" r:id="rId5"/>
    <p:sldId id="386" r:id="rId6"/>
    <p:sldId id="387" r:id="rId7"/>
    <p:sldId id="389" r:id="rId8"/>
    <p:sldId id="388" r:id="rId9"/>
    <p:sldId id="391" r:id="rId10"/>
    <p:sldId id="390" r:id="rId11"/>
    <p:sldId id="37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33CC"/>
    <a:srgbClr val="008000"/>
    <a:srgbClr val="FCD4D4"/>
    <a:srgbClr val="E1F2F3"/>
    <a:srgbClr val="FFFFC0"/>
    <a:srgbClr val="FF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3" autoAdjust="0"/>
    <p:restoredTop sz="88785" autoAdjust="0"/>
  </p:normalViewPr>
  <p:slideViewPr>
    <p:cSldViewPr>
      <p:cViewPr varScale="1">
        <p:scale>
          <a:sx n="65" d="100"/>
          <a:sy n="65" d="100"/>
        </p:scale>
        <p:origin x="-1168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1CAB84F-B75A-4984-8F3C-AF33274BE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181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80F6-D8F9-4861-A47D-FB5C54C59CB3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78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2033"/>
            <a:ext cx="7886700" cy="859516"/>
          </a:xfrm>
        </p:spPr>
        <p:txBody>
          <a:bodyPr/>
          <a:lstStyle>
            <a:lvl1pPr algn="ctr">
              <a:defRPr>
                <a:solidFill>
                  <a:srgbClr val="0033CC"/>
                </a:solidFill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4960484"/>
          </a:xfrm>
        </p:spPr>
        <p:txBody>
          <a:bodyPr/>
          <a:lstStyle>
            <a:lvl2pPr marL="514350" indent="-171450">
              <a:buFont typeface="Calibri" panose="020F0502020204030204" pitchFamily="34" charset="0"/>
              <a:buChar char="ꟷ"/>
              <a:defRPr/>
            </a:lvl2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078F-E661-48DF-8D03-D0A50507C023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40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3A8-167A-4325-AC58-C125C20F04E5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066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9C363-00E5-4873-92AC-6FCDF94FB804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766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0710-5570-4B4A-AE9F-426CB1D545EA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42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CFBE-BA8E-42DA-94C4-303826948E42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26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F559-AD7B-4E56-ABF5-FF34E2DBC8A2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49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64ED-635C-40CA-8BE7-BE2C04A36912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0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A45-0C1D-4CDA-AED5-977A475009FE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7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6BA6-EDF0-41F8-A44F-28D36A9FF955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4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9962-6CD1-4735-8959-BF829C68AEB8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23CF-EEE8-42B3-B379-29CA3A9AD32E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69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4CBB-8DC2-4B02-880A-5B1B61C50280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1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60FF-FF94-4CBA-8E0A-430FBA53ACAB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6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A2FF-3C94-4AD5-ADB2-25FC35199BC0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48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118A-8C73-4274-903B-9E0E12B37512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46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F233-675C-4E2D-ADE1-062026707D88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40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D0C5-1A3B-4AF9-B1AF-82EC1777D8DE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24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B099-D8CB-4603-B933-8D2B27420331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0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949-74B6-4108-8BF4-F11AB8FB4A07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7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5ABA2-14F6-4CC3-9DAC-BBBB0D99BD97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5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C58A-6D66-4D15-BB59-04E72387B4C0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8349D-D56D-48A9-A584-3FF7CB447BAA}" type="datetime1">
              <a:rPr lang="en-US" smtClean="0"/>
              <a:pPr/>
              <a:t>5/15/2020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6692348"/>
            <a:ext cx="9144001" cy="165652"/>
          </a:xfrm>
          <a:prstGeom prst="rect">
            <a:avLst/>
          </a:prstGeom>
          <a:solidFill>
            <a:srgbClr val="66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endParaRPr lang="en-US" kern="0" dirty="0" smtClean="0"/>
          </a:p>
        </p:txBody>
      </p:sp>
      <p:sp>
        <p:nvSpPr>
          <p:cNvPr id="9" name="Slide Number Placeholder 3"/>
          <p:cNvSpPr txBox="1">
            <a:spLocks noGrp="1"/>
          </p:cNvSpPr>
          <p:nvPr userDrawn="1"/>
        </p:nvSpPr>
        <p:spPr bwMode="auto">
          <a:xfrm>
            <a:off x="8305800" y="6262916"/>
            <a:ext cx="762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</a:pPr>
            <a:fld id="{F7051C5F-0994-4C42-8BDD-F9DE4AC27786}" type="slidenum">
              <a:rPr lang="en-US" altLang="en-US" sz="1200">
                <a:solidFill>
                  <a:srgbClr val="424242"/>
                </a:solidFill>
                <a:latin typeface="+mn-lt"/>
              </a:rPr>
              <a:pPr eaLnBrk="1" hangingPunct="1">
                <a:spcBef>
                  <a:spcPts val="500"/>
                </a:spcBef>
              </a:pPr>
              <a:t>‹#›</a:t>
            </a:fld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376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14700"/>
            <a:ext cx="7886700" cy="899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118507"/>
            <a:ext cx="7886700" cy="5061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797AAD-96CD-4A47-B0D1-61BA85EB678F}" type="datetime1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71B0-1015-4D31-8384-23A63624B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rgouml.tigris.org/" TargetMode="External"/><Relationship Id="rId7" Type="http://schemas.openxmlformats.org/officeDocument/2006/relationships/hyperlink" Target="http://www.umlet.com/" TargetMode="External"/><Relationship Id="rId2" Type="http://schemas.openxmlformats.org/officeDocument/2006/relationships/hyperlink" Target="http://www-03.ibm.com/software/products/en/ratirosefam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taruml.io/" TargetMode="External"/><Relationship Id="rId5" Type="http://schemas.openxmlformats.org/officeDocument/2006/relationships/hyperlink" Target="http://www.visual-paradigm.com/solution/freeumltool/" TargetMode="External"/><Relationship Id="rId4" Type="http://schemas.openxmlformats.org/officeDocument/2006/relationships/hyperlink" Target="http://alexdp.free.fr/violetumleditor/page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Sequence diagram</a:t>
            </a:r>
            <a:r>
              <a:rPr lang="en-US" sz="2400" dirty="0"/>
              <a:t>: an “interaction diagram” </a:t>
            </a:r>
            <a:r>
              <a:rPr lang="en-US" sz="2400" dirty="0" smtClean="0"/>
              <a:t>that models </a:t>
            </a:r>
            <a:r>
              <a:rPr lang="en-US" sz="2400" dirty="0"/>
              <a:t>a single scenario executing in a system</a:t>
            </a:r>
          </a:p>
          <a:p>
            <a:pPr>
              <a:spcAft>
                <a:spcPts val="1200"/>
              </a:spcAft>
            </a:pPr>
            <a:r>
              <a:rPr lang="en-US" sz="2400" dirty="0" smtClean="0"/>
              <a:t>Shows </a:t>
            </a:r>
            <a:r>
              <a:rPr lang="en-US" sz="2400" dirty="0"/>
              <a:t>what messages are sent and when</a:t>
            </a:r>
          </a:p>
          <a:p>
            <a:pPr>
              <a:spcAft>
                <a:spcPts val="1200"/>
              </a:spcAft>
            </a:pPr>
            <a:r>
              <a:rPr lang="en-US" sz="2400" dirty="0" smtClean="0"/>
              <a:t>Visualizes the execution sequences of an use case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855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508"/>
          <a:stretch/>
        </p:blipFill>
        <p:spPr>
          <a:xfrm>
            <a:off x="4942799" y="914400"/>
            <a:ext cx="3857447" cy="441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parts of a sequence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4476750" cy="496048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Participant: </a:t>
            </a:r>
            <a:r>
              <a:rPr lang="en-US" dirty="0"/>
              <a:t>an object or an entity</a:t>
            </a:r>
            <a:r>
              <a:rPr lang="en-US" dirty="0" smtClean="0"/>
              <a:t>; the </a:t>
            </a:r>
            <a:r>
              <a:rPr lang="en-US" dirty="0"/>
              <a:t>sequence diagram actor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sequence </a:t>
            </a:r>
            <a:r>
              <a:rPr lang="en-US" dirty="0"/>
              <a:t>diagram starts with </a:t>
            </a:r>
            <a:r>
              <a:rPr lang="en-US" dirty="0" smtClean="0"/>
              <a:t>an unattached </a:t>
            </a:r>
            <a:r>
              <a:rPr lang="en-US" dirty="0"/>
              <a:t>"found message" arrow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/>
              <a:t>Message</a:t>
            </a:r>
            <a:r>
              <a:rPr lang="en-US" b="1" dirty="0"/>
              <a:t>: </a:t>
            </a:r>
            <a:r>
              <a:rPr lang="en-US" dirty="0"/>
              <a:t>communication </a:t>
            </a:r>
            <a:r>
              <a:rPr lang="en-US" dirty="0" smtClean="0"/>
              <a:t>between objects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Axes </a:t>
            </a:r>
            <a:r>
              <a:rPr lang="en-US" dirty="0"/>
              <a:t>in a sequence diagram</a:t>
            </a:r>
            <a:r>
              <a:rPr lang="en-US" dirty="0" smtClean="0"/>
              <a:t>: 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/>
              <a:t>horizontal</a:t>
            </a:r>
            <a:r>
              <a:rPr lang="en-US" b="1" dirty="0"/>
              <a:t>: </a:t>
            </a:r>
            <a:r>
              <a:rPr lang="en-US" dirty="0"/>
              <a:t>which participant is acting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/>
              <a:t>vertical</a:t>
            </a:r>
            <a:r>
              <a:rPr lang="en-US" b="1" dirty="0"/>
              <a:t>: </a:t>
            </a:r>
            <a:r>
              <a:rPr lang="en-US" dirty="0"/>
              <a:t>time (↓ forward in time)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985838"/>
            <a:ext cx="3726926" cy="442436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4604657" y="2209800"/>
            <a:ext cx="805543" cy="171504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00600" y="2812223"/>
            <a:ext cx="2070922" cy="7177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459517" y="4207689"/>
            <a:ext cx="1788883" cy="126267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648885" y="1416366"/>
            <a:ext cx="1294715" cy="95701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94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diagram from a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3962400" cy="4960484"/>
          </a:xfrm>
        </p:spPr>
        <p:txBody>
          <a:bodyPr/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The user presses the “check email</a:t>
            </a:r>
            <a:r>
              <a:rPr lang="en-US" dirty="0" smtClean="0"/>
              <a:t>” button</a:t>
            </a:r>
            <a:r>
              <a:rPr lang="en-US" dirty="0"/>
              <a:t>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client first sends all unsent </a:t>
            </a:r>
            <a:r>
              <a:rPr lang="en-US" dirty="0" smtClean="0"/>
              <a:t>email to </a:t>
            </a:r>
            <a:r>
              <a:rPr lang="en-US" dirty="0"/>
              <a:t>the server.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After </a:t>
            </a:r>
            <a:r>
              <a:rPr lang="en-US" dirty="0"/>
              <a:t>receiving an acknowledgement</a:t>
            </a:r>
            <a:r>
              <a:rPr lang="en-US" dirty="0" smtClean="0"/>
              <a:t>, the </a:t>
            </a:r>
            <a:r>
              <a:rPr lang="en-US" dirty="0"/>
              <a:t>client asks the server if there </a:t>
            </a:r>
            <a:r>
              <a:rPr lang="en-US" dirty="0" smtClean="0"/>
              <a:t>is any </a:t>
            </a:r>
            <a:r>
              <a:rPr lang="en-US" dirty="0"/>
              <a:t>new email.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so, it downloads the new email.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dirty="0" smtClean="0"/>
              <a:t>Next</a:t>
            </a:r>
            <a:r>
              <a:rPr lang="en-US" dirty="0"/>
              <a:t>, it deletes old thrashed </a:t>
            </a:r>
            <a:r>
              <a:rPr lang="en-US" dirty="0" smtClean="0"/>
              <a:t>email from </a:t>
            </a:r>
            <a:r>
              <a:rPr lang="en-US" dirty="0"/>
              <a:t>the server.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371600"/>
            <a:ext cx="1143000" cy="381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smtClean="0"/>
              <a:t>:Client</a:t>
            </a:r>
            <a:endParaRPr lang="en-US" u="sng" dirty="0"/>
          </a:p>
        </p:txBody>
      </p:sp>
      <p:sp>
        <p:nvSpPr>
          <p:cNvPr id="6" name="Rectangle 5"/>
          <p:cNvSpPr/>
          <p:nvPr/>
        </p:nvSpPr>
        <p:spPr>
          <a:xfrm>
            <a:off x="7620000" y="1371600"/>
            <a:ext cx="1143000" cy="381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 smtClean="0"/>
              <a:t>:Server</a:t>
            </a:r>
            <a:endParaRPr lang="en-US" u="sng" dirty="0"/>
          </a:p>
        </p:txBody>
      </p:sp>
      <p:cxnSp>
        <p:nvCxnSpPr>
          <p:cNvPr id="8" name="Straight Connector 7"/>
          <p:cNvCxnSpPr>
            <a:stCxn id="4" idx="2"/>
          </p:cNvCxnSpPr>
          <p:nvPr/>
        </p:nvCxnSpPr>
        <p:spPr>
          <a:xfrm>
            <a:off x="5372100" y="1752600"/>
            <a:ext cx="0" cy="419100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8191500" y="1752600"/>
            <a:ext cx="0" cy="4042342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57800" y="2209800"/>
            <a:ext cx="228600" cy="3505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77200" y="2255286"/>
            <a:ext cx="228600" cy="4191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77200" y="3087073"/>
            <a:ext cx="228600" cy="4191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077200" y="4048320"/>
            <a:ext cx="228600" cy="4191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82643" y="4952999"/>
            <a:ext cx="228600" cy="48558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486400" y="2255286"/>
            <a:ext cx="25908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5486400" y="2590800"/>
            <a:ext cx="25908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486400" y="3087073"/>
            <a:ext cx="25908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486400" y="4048708"/>
            <a:ext cx="25908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486400" y="4953000"/>
            <a:ext cx="25908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486400" y="3429000"/>
            <a:ext cx="25908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486400" y="4419600"/>
            <a:ext cx="25908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486400" y="5362769"/>
            <a:ext cx="2590800" cy="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114800" y="2209800"/>
            <a:ext cx="1143000" cy="0"/>
          </a:xfrm>
          <a:prstGeom prst="straightConnector1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9792" y="1884499"/>
            <a:ext cx="1116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checkEmail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5988484" y="1947445"/>
            <a:ext cx="1633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sendUnsentEmail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6280944" y="2755358"/>
            <a:ext cx="996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newEmail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6344680" y="3129519"/>
            <a:ext cx="943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response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5824163" y="3700352"/>
            <a:ext cx="1888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[</a:t>
            </a:r>
            <a:r>
              <a:rPr lang="en-US" sz="1600" dirty="0" err="1" smtClean="0"/>
              <a:t>newEmail</a:t>
            </a:r>
            <a:r>
              <a:rPr lang="en-US" sz="1600" dirty="0" smtClean="0"/>
              <a:t>] </a:t>
            </a:r>
            <a:r>
              <a:rPr lang="en-US" sz="1600" dirty="0" err="1" smtClean="0"/>
              <a:t>getEmail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122877" y="4621215"/>
            <a:ext cx="1457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deleteOldEmail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027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3" grpId="0" animBg="1"/>
      <p:bldP spid="14" grpId="0" animBg="1"/>
      <p:bldP spid="29" grpId="0"/>
      <p:bldP spid="31" grpId="0"/>
      <p:bldP spid="3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Syntax: Representing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443064"/>
            <a:ext cx="4400550" cy="3652935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object</a:t>
            </a:r>
            <a:r>
              <a:rPr lang="en-US" dirty="0"/>
              <a:t>: a </a:t>
            </a:r>
            <a:r>
              <a:rPr lang="en-US" b="1" dirty="0"/>
              <a:t>box </a:t>
            </a:r>
            <a:r>
              <a:rPr lang="en-US" dirty="0"/>
              <a:t>with an </a:t>
            </a:r>
            <a:r>
              <a:rPr lang="en-US" dirty="0" smtClean="0"/>
              <a:t>underlined label </a:t>
            </a:r>
            <a:r>
              <a:rPr lang="en-US" dirty="0"/>
              <a:t>that specifies the object type</a:t>
            </a:r>
            <a:r>
              <a:rPr lang="en-US" dirty="0" smtClean="0"/>
              <a:t>, and </a:t>
            </a:r>
            <a:r>
              <a:rPr lang="en-US" dirty="0"/>
              <a:t>optionally the object name.</a:t>
            </a:r>
          </a:p>
          <a:p>
            <a:pPr lvl="1"/>
            <a:r>
              <a:rPr lang="en-US" dirty="0" smtClean="0"/>
              <a:t>Write </a:t>
            </a:r>
            <a:r>
              <a:rPr lang="en-US" dirty="0"/>
              <a:t>the object's name if it </a:t>
            </a:r>
            <a:r>
              <a:rPr lang="en-US" dirty="0" smtClean="0"/>
              <a:t>clarifies the </a:t>
            </a:r>
            <a:r>
              <a:rPr lang="en-US" dirty="0"/>
              <a:t>diagram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sz="2000" dirty="0">
                <a:solidFill>
                  <a:srgbClr val="212121"/>
                </a:solidFill>
              </a:rPr>
              <a:t>An object's "life line" is </a:t>
            </a:r>
            <a:r>
              <a:rPr lang="en-US" sz="2000" dirty="0" smtClean="0">
                <a:solidFill>
                  <a:srgbClr val="212121"/>
                </a:solidFill>
              </a:rPr>
              <a:t>represented by </a:t>
            </a:r>
            <a:r>
              <a:rPr lang="en-US" sz="2000" dirty="0">
                <a:solidFill>
                  <a:srgbClr val="212121"/>
                </a:solidFill>
              </a:rPr>
              <a:t>a dashed vertical line.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Represents </a:t>
            </a:r>
            <a:r>
              <a:rPr lang="en-US" dirty="0">
                <a:solidFill>
                  <a:srgbClr val="000000"/>
                </a:solidFill>
              </a:rPr>
              <a:t>the life span of the </a:t>
            </a:r>
            <a:r>
              <a:rPr lang="en-US" dirty="0" smtClean="0">
                <a:solidFill>
                  <a:srgbClr val="000000"/>
                </a:solidFill>
              </a:rPr>
              <a:t>object during </a:t>
            </a:r>
            <a:r>
              <a:rPr lang="en-US" dirty="0">
                <a:solidFill>
                  <a:srgbClr val="000000"/>
                </a:solidFill>
              </a:rPr>
              <a:t>the scenario being modeled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504919"/>
            <a:ext cx="342900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sz="2000" b="1" u="sng" spc="30" dirty="0" err="1" smtClean="0">
                <a:latin typeface="Arial Rounded MT Bold" panose="020F0704030504030204" pitchFamily="34" charset="0"/>
                <a:cs typeface="Courier New" panose="02070309020205020404" pitchFamily="49" charset="0"/>
              </a:rPr>
              <a:t>Objectname:classname</a:t>
            </a:r>
            <a:endParaRPr lang="en-US" sz="2000" u="sng" spc="3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69609"/>
            <a:ext cx="3968785" cy="3648075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0" y="4572000"/>
            <a:ext cx="1295400" cy="15240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5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Representing messages between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4857750" cy="496048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message </a:t>
            </a:r>
            <a:r>
              <a:rPr lang="en-US" dirty="0"/>
              <a:t>(method call): </a:t>
            </a:r>
            <a:r>
              <a:rPr lang="en-US" b="1" dirty="0" smtClean="0"/>
              <a:t>horizontal arrow </a:t>
            </a:r>
            <a:r>
              <a:rPr lang="en-US" dirty="0"/>
              <a:t>to the receiving object.</a:t>
            </a:r>
          </a:p>
          <a:p>
            <a:pPr lvl="1"/>
            <a:r>
              <a:rPr lang="en-US" dirty="0" smtClean="0"/>
              <a:t>Write </a:t>
            </a:r>
            <a:r>
              <a:rPr lang="en-US" dirty="0"/>
              <a:t>message name and </a:t>
            </a:r>
            <a:r>
              <a:rPr lang="en-US" dirty="0" smtClean="0"/>
              <a:t>arguments above </a:t>
            </a:r>
            <a:r>
              <a:rPr lang="en-US" dirty="0"/>
              <a:t>the arrow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Type of arrow indicates types of messages:</a:t>
            </a:r>
          </a:p>
          <a:p>
            <a:pPr lvl="1"/>
            <a:r>
              <a:rPr lang="en-US" dirty="0" smtClean="0"/>
              <a:t>Synchronous </a:t>
            </a:r>
            <a:r>
              <a:rPr lang="en-US" dirty="0"/>
              <a:t>message: solid arrow with a solid head.</a:t>
            </a:r>
          </a:p>
          <a:p>
            <a:pPr lvl="1"/>
            <a:r>
              <a:rPr lang="en-US" dirty="0" smtClean="0"/>
              <a:t>Asynchronous </a:t>
            </a:r>
            <a:r>
              <a:rPr lang="en-US" dirty="0"/>
              <a:t>message: solid arrow with a stick head.</a:t>
            </a:r>
          </a:p>
          <a:p>
            <a:pPr lvl="1"/>
            <a:r>
              <a:rPr lang="en-US" dirty="0" smtClean="0"/>
              <a:t>Return </a:t>
            </a:r>
            <a:r>
              <a:rPr lang="en-US" dirty="0"/>
              <a:t>message: dashed arrow with stick head.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946667"/>
            <a:ext cx="2930271" cy="23631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326895"/>
            <a:ext cx="2761540" cy="255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Indicating method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5391150" cy="496048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Activation</a:t>
            </a:r>
            <a:r>
              <a:rPr lang="en-US" dirty="0"/>
              <a:t>: thick box over object's life line, </a:t>
            </a:r>
            <a:r>
              <a:rPr lang="en-US" dirty="0" smtClean="0"/>
              <a:t>drawn when </a:t>
            </a:r>
            <a:r>
              <a:rPr lang="en-US" dirty="0"/>
              <a:t>an object's method is on the stack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Either </a:t>
            </a:r>
            <a:r>
              <a:rPr lang="en-US" dirty="0"/>
              <a:t>that object is running its code</a:t>
            </a:r>
            <a:r>
              <a:rPr lang="en-US" dirty="0" smtClean="0"/>
              <a:t>, or </a:t>
            </a:r>
            <a:r>
              <a:rPr lang="en-US" dirty="0"/>
              <a:t>it is on the stack waiting for another </a:t>
            </a:r>
            <a:r>
              <a:rPr lang="en-US" dirty="0" smtClean="0"/>
              <a:t>object's method </a:t>
            </a:r>
            <a:r>
              <a:rPr lang="en-US" dirty="0"/>
              <a:t>to </a:t>
            </a:r>
            <a:r>
              <a:rPr lang="en-US" dirty="0" smtClean="0"/>
              <a:t>finish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Nest </a:t>
            </a:r>
            <a:r>
              <a:rPr lang="en-US" dirty="0"/>
              <a:t>activations to indicate an object calling itself.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71549"/>
            <a:ext cx="2329046" cy="2362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35227"/>
            <a:ext cx="2341563" cy="221456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5584371" y="1676400"/>
            <a:ext cx="1883229" cy="68444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53100" y="4191000"/>
            <a:ext cx="1866900" cy="91440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05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Lifetime of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4248150" cy="496048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Object </a:t>
            </a:r>
            <a:r>
              <a:rPr lang="en-US" b="1" dirty="0"/>
              <a:t>creation</a:t>
            </a:r>
            <a:r>
              <a:rPr lang="en-US" dirty="0"/>
              <a:t>: an arrow with </a:t>
            </a:r>
            <a:r>
              <a:rPr lang="en-US" b="1" dirty="0" smtClean="0"/>
              <a:t>new </a:t>
            </a:r>
            <a:r>
              <a:rPr lang="en-US" dirty="0" smtClean="0"/>
              <a:t>written </a:t>
            </a:r>
            <a:r>
              <a:rPr lang="en-US" dirty="0"/>
              <a:t>above it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An </a:t>
            </a:r>
            <a:r>
              <a:rPr lang="en-US" dirty="0"/>
              <a:t>object created after the start of </a:t>
            </a:r>
            <a:r>
              <a:rPr lang="en-US" dirty="0" smtClean="0"/>
              <a:t>the scenario </a:t>
            </a:r>
            <a:r>
              <a:rPr lang="en-US" dirty="0"/>
              <a:t>appears lower than the others.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Object </a:t>
            </a:r>
            <a:r>
              <a:rPr lang="en-US" dirty="0"/>
              <a:t>d</a:t>
            </a:r>
            <a:r>
              <a:rPr lang="en-US" b="1" dirty="0"/>
              <a:t>eletion</a:t>
            </a:r>
            <a:r>
              <a:rPr lang="en-US" dirty="0"/>
              <a:t>: </a:t>
            </a:r>
            <a:r>
              <a:rPr lang="en-US" b="1" dirty="0"/>
              <a:t>X </a:t>
            </a:r>
            <a:r>
              <a:rPr lang="en-US" dirty="0"/>
              <a:t>at the bottom </a:t>
            </a:r>
            <a:r>
              <a:rPr lang="en-US" dirty="0" smtClean="0"/>
              <a:t>of object's </a:t>
            </a:r>
            <a:r>
              <a:rPr lang="en-US" dirty="0"/>
              <a:t>lifeline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Java </a:t>
            </a:r>
            <a:r>
              <a:rPr lang="en-US" dirty="0"/>
              <a:t>doesn't explicitly delete objects; </a:t>
            </a:r>
            <a:r>
              <a:rPr lang="en-US" dirty="0" smtClean="0"/>
              <a:t>they fall </a:t>
            </a:r>
            <a:r>
              <a:rPr lang="en-US" dirty="0"/>
              <a:t>out of scope and are garbage collected.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00200"/>
            <a:ext cx="3547821" cy="31242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836367" y="1477735"/>
            <a:ext cx="2326433" cy="1113065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648200" y="3276600"/>
            <a:ext cx="3352800" cy="68580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57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Alternatives, options, and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6479"/>
            <a:ext cx="7886700" cy="175532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Frame</a:t>
            </a:r>
            <a:r>
              <a:rPr lang="en-US" sz="2400" dirty="0"/>
              <a:t>: a box around part of a sequence diagram</a:t>
            </a:r>
          </a:p>
          <a:p>
            <a:pPr marL="17145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smtClean="0"/>
              <a:t>if </a:t>
            </a:r>
            <a:r>
              <a:rPr lang="en-US" sz="2000" dirty="0"/>
              <a:t>→ (opt) [condition]</a:t>
            </a:r>
          </a:p>
          <a:p>
            <a:pPr marL="17145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smtClean="0"/>
              <a:t>if/else</a:t>
            </a:r>
            <a:r>
              <a:rPr lang="en-US" sz="2000" dirty="0"/>
              <a:t>→ (alt) [condition], separated by horizontal dashed line</a:t>
            </a:r>
          </a:p>
          <a:p>
            <a:pPr marL="171450" lvl="1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 smtClean="0"/>
              <a:t>loop </a:t>
            </a:r>
            <a:r>
              <a:rPr lang="en-US" sz="2000" dirty="0"/>
              <a:t>→ (loop) [condition or items to loop over]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96514"/>
            <a:ext cx="6472237" cy="32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9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Sequence diagram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66800"/>
            <a:ext cx="6705600" cy="544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3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editors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Rational Rose (commercial):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www-03.ibm.com/software/products/en/ratirosefami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err="1" smtClean="0"/>
              <a:t>ArgoUML</a:t>
            </a:r>
            <a:r>
              <a:rPr lang="en-US" dirty="0"/>
              <a:t>:</a:t>
            </a:r>
            <a:r>
              <a:rPr lang="en-US" dirty="0" smtClean="0"/>
              <a:t> </a:t>
            </a:r>
            <a:r>
              <a:rPr lang="en-US" dirty="0">
                <a:hlinkClick r:id="rId3"/>
              </a:rPr>
              <a:t>http://argouml.tigris.org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Violet: </a:t>
            </a:r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alexdp.free.fr/violetumleditor/page.php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Visual </a:t>
            </a:r>
            <a:r>
              <a:rPr lang="en-US" dirty="0" err="1" smtClean="0"/>
              <a:t>Pardigm</a:t>
            </a:r>
            <a:r>
              <a:rPr lang="en-US" dirty="0" smtClean="0"/>
              <a:t> </a:t>
            </a:r>
            <a:r>
              <a:rPr lang="en-US" dirty="0"/>
              <a:t>(commercial)</a:t>
            </a:r>
            <a:r>
              <a:rPr lang="en-US" dirty="0" smtClean="0"/>
              <a:t>: </a:t>
            </a:r>
            <a:r>
              <a:rPr lang="en-US" dirty="0">
                <a:hlinkClick r:id="rId5"/>
              </a:rPr>
              <a:t>http://www.visual-paradigm.com/solution/freeumltool</a:t>
            </a:r>
            <a:r>
              <a:rPr lang="en-US" dirty="0" smtClean="0">
                <a:hlinkClick r:id="rId5"/>
              </a:rPr>
              <a:t>/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err="1" smtClean="0"/>
              <a:t>StarUML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http://staruml.io</a:t>
            </a:r>
            <a:r>
              <a:rPr lang="en-US" dirty="0" smtClean="0">
                <a:hlinkClick r:id="rId6"/>
              </a:rPr>
              <a:t>/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err="1" smtClean="0"/>
              <a:t>UMLet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http://www.umlet.com</a:t>
            </a:r>
            <a:r>
              <a:rPr lang="en-US" dirty="0" smtClean="0">
                <a:hlinkClick r:id="rId7"/>
              </a:rPr>
              <a:t>/</a:t>
            </a: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67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2-Lifecyc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Lecture2-Lifecycle</Template>
  <TotalTime>7624</TotalTime>
  <Words>492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Lecture2-Lifecycle</vt:lpstr>
      <vt:lpstr>HDOfficeLightV0</vt:lpstr>
      <vt:lpstr>Sequence diagrams</vt:lpstr>
      <vt:lpstr>Key parts of a sequence diagram</vt:lpstr>
      <vt:lpstr>Sequence diagram from a use case</vt:lpstr>
      <vt:lpstr>Syntax: Representing objects</vt:lpstr>
      <vt:lpstr>Representing messages between objects</vt:lpstr>
      <vt:lpstr>Indicating method execution</vt:lpstr>
      <vt:lpstr>Lifetime of objects</vt:lpstr>
      <vt:lpstr>Alternatives, options, and loops</vt:lpstr>
      <vt:lpstr>Example: Sequence diagram</vt:lpstr>
      <vt:lpstr>UML editors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CS435</dc:title>
  <dc:creator>Amiangshu Bosu; Marty Stepp</dc:creator>
  <cp:keywords/>
  <dc:description>Amiangshu Bosu, SIU Carbondale</dc:description>
  <cp:lastModifiedBy>Windows User</cp:lastModifiedBy>
  <cp:revision>963</cp:revision>
  <dcterms:created xsi:type="dcterms:W3CDTF">2008-06-28T20:57:21Z</dcterms:created>
  <dcterms:modified xsi:type="dcterms:W3CDTF">2020-05-15T17:31:19Z</dcterms:modified>
</cp:coreProperties>
</file>