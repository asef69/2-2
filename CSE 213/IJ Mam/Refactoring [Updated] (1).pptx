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y="6858000" cx="12192000"/>
  <p:notesSz cx="6858000" cy="9144000"/>
  <p:embeddedFontLst>
    <p:embeddedFont>
      <p:font typeface="Amatic SC"/>
      <p:regular r:id="rId65"/>
      <p:bold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7" roundtripDataSignature="AMtx7mh3rx//TexOSi/DVaubmRL454Ah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font" Target="fonts/AmaticSC-bold.fntdata"/><Relationship Id="rId21" Type="http://schemas.openxmlformats.org/officeDocument/2006/relationships/slide" Target="slides/slide17.xml"/><Relationship Id="rId65" Type="http://schemas.openxmlformats.org/officeDocument/2006/relationships/font" Target="fonts/AmaticSC-regular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7" Type="http://customschemas.google.com/relationships/presentationmetadata" Target="meta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a55503e9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a55503e9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da55503e9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a55503e9f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da55503e9f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a55503e9f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da55503e9f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a55503e9f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da55503e9f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a55503e9f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da55503e9f_0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a55503e9f_0_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da55503e9f_0_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a55503e9f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da55503e9f_0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a55503e9f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da55503e9f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a55503e9f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3da55503e9f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a55503e9f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da55503e9f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a55503e9f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g3da55503e9f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409e06323c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2" name="Google Shape;362;g409e06323c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a55503e9f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da55503e9f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a55503e9f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g3da55503e9f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da55503e9f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g3da55503e9f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a55503e9f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da55503e9f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a55503e9f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da55503e9f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9" name="Google Shape;499;g3da55503e9f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a55503e9f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g3da55503e9f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refactoring.com/catalog/" TargetMode="External"/><Relationship Id="rId4" Type="http://schemas.openxmlformats.org/officeDocument/2006/relationships/hyperlink" Target="http://sourcemaking.com/refacto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sourcemaking.com/refactoring/bad-smells-in-cod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www.refactoring.com/catalog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Refactoring 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[Updated]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What is Refactoring?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 is the process of changing a software system such that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external behavior of the system does not change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e.g., functional requirements are maintained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but the internal structure of the system is improved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is sometimes called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“Improving the design after it has been written”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 formalizes good programming practices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214: Software Engineering</a:t>
            </a:r>
            <a:endParaRPr/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Simple Examples</a:t>
            </a:r>
            <a:endParaRPr b="1"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6291944" y="2506662"/>
            <a:ext cx="5072743" cy="3986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 sz="1800">
                <a:latin typeface="Consolas"/>
                <a:ea typeface="Consolas"/>
                <a:cs typeface="Consolas"/>
                <a:sym typeface="Consolas"/>
              </a:rPr>
              <a:t>After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if (isSpecialDeal())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    total = price * 0.95;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     total = price * 0.98;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send();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990600" y="1978025"/>
            <a:ext cx="10515600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Consolidate duplicate conditional fragments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545771" y="2506662"/>
            <a:ext cx="5072743" cy="3986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Before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1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(isSpecialDeal())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total = price * 0.95;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send();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total = price * 0.98;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send();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Simple Examples</a:t>
            </a:r>
            <a:endParaRPr b="1"/>
          </a:p>
        </p:txBody>
      </p:sp>
      <p:sp>
        <p:nvSpPr>
          <p:cNvPr id="112" name="Google Shape;112;p4"/>
          <p:cNvSpPr txBox="1"/>
          <p:nvPr/>
        </p:nvSpPr>
        <p:spPr>
          <a:xfrm>
            <a:off x="990600" y="1978025"/>
            <a:ext cx="10515600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magic number with symbolic constant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838201" y="2506663"/>
            <a:ext cx="10515600" cy="1317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Before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double potentialEnergy(double mass, double height){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mass * 9.81 * height;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838199" y="4200525"/>
            <a:ext cx="10515600" cy="1317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After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static final double GRAVITATIONAL_CONSTANT = 9.81;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double potentialEnergy(double mass, double height)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mass * GRAVITATIONAL_CONSTANT * height;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But, Refactoring is Dangerous!</a:t>
            </a:r>
            <a:endParaRPr b="1"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Although refactoring helps to reduce bugs, it can also introduce new bugs into the code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Manager’s point of view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my programmers spend time “cleaning up the code” then that’s less time implementing required functionality (and my schedule is slipping as it is!)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address these concerns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refactoring needs to be systematic, incremental, and safe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Refactoring is Useful Too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idea behind refactoring is to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acknowledge that it will be challenging to get a design right the first time and, as a program’s requirements change, the design may need to change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refactoring provides techniques for evolving the design in small incremental steps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Benefits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often, code size is reduced after refactoring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confusing structures are transformed into simpler structures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which are easier to maintain and understand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 “Cookbook” can be Useful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Refactoring: Improving the Design of Existing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by Martin Fowler (and Kent Beck, John Brant, William Opdyke, and Don Roberts)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Similar to the Gang of Four’s Design Patterns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provides “refactoring patterns”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http://www.refactoring.com/catalog</a:t>
            </a:r>
            <a:r>
              <a:rPr lang="en-US"/>
              <a:t> 	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http://sourcemaking.com/refactoring</a:t>
            </a:r>
            <a:r>
              <a:rPr lang="en-US"/>
              <a:t>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Principles in Refactoring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Fowler’s definition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 (noun)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change made to the internal structure of software to make it easier to understand and cheaper to modify without changing its observable behavior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 (verb)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restructure software by applying a series of refactoring without changing its observable behavior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Principles, continued</a:t>
            </a:r>
            <a:endParaRPr/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purpose of refactoring is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make software easier to understand and modify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 functionality is added, but the code is cleaned up, made easier to understand and modify, and sometimes is reduced in size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Contrast this with performance optimization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functionality is not changed; only internal structure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however, performance optimizations often involve making code harder to understand (but faster!)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Principles, continued</a:t>
            </a:r>
            <a:endParaRPr/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do you make refactoring safe?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First, use refactoring “patterns”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Fowler assigns “names” to refactoring in the same way that the GoF’s book assigned names to patterns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Second, test constantly!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this ties into the agile design paradigm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you write tests before you write the code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after you refactor, you run the tests and check that they all pass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if a test fails, the refactoring broke something, but you know about it right away and can fix the problem before you move 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Why Should you Refactor?</a:t>
            </a:r>
            <a:endParaRPr b="1"/>
          </a:p>
        </p:txBody>
      </p:sp>
      <p:sp>
        <p:nvSpPr>
          <p:cNvPr id="163" name="Google Shape;16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 improves the design of software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without refactoring, a design will “decay” as people make changes to a software system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 makes software easier to understand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structure is improved, duplicated code is eliminated, etc.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 helps you find bugs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Refactoring promotes a deep understanding of the code at hand, and this understanding aids the programmer in finding bugs and anticipating potential bugs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 helps you program faster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a good design enables progress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4" name="Google Shape;1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When Should you Refactor?</a:t>
            </a:r>
            <a:endParaRPr b="1"/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Rule of Three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Three “strikes” and you refactor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 when you add functionality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 it before you add the new function to make it easier to add the function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 do it after to clean up the code after the function is added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 when you need to fix a bug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 as you do a code review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Problems with Refactoring</a:t>
            </a:r>
            <a:endParaRPr/>
          </a:p>
        </p:txBody>
      </p: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Databases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Business applications are often tightly coupled to underlying databases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code is easy to change; databases are not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Changing interfaces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Some refactoring requires that interfaces be changed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you own all the calling code, no problem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not, the interface is “published” and can’t change</a:t>
            </a:r>
            <a:endParaRPr/>
          </a:p>
        </p:txBody>
      </p:sp>
      <p:sp>
        <p:nvSpPr>
          <p:cNvPr id="178" name="Google Shape;17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Refactoring: Where to Start?</a:t>
            </a:r>
            <a:endParaRPr b="1"/>
          </a:p>
        </p:txBody>
      </p:sp>
      <p:sp>
        <p:nvSpPr>
          <p:cNvPr id="184" name="Google Shape;18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do you identify code that needs to be refactored?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Look for “Bad Smells” in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chapter in Fowler’s book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Several online sources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http://sourcemaking.com/refactoring/bad-smells-in-code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 present examples of “bad smells” and then suggest refactoring techniques to apply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Tools such as Codegrip,  Checkstyle, PMD, FindBugs, and SonarQube can automatically identify code smells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a55503e9f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2" name="Google Shape;192;g3da55503e9f_0_0" title="Screenshot from 2026-03-25 19-41-4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0575" y="568050"/>
            <a:ext cx="8285000" cy="599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da55503e9f_0_0"/>
          <p:cNvSpPr txBox="1"/>
          <p:nvPr/>
        </p:nvSpPr>
        <p:spPr>
          <a:xfrm>
            <a:off x="0" y="665025"/>
            <a:ext cx="28956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Smells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Bad Smells in Code</a:t>
            </a:r>
            <a:endParaRPr/>
          </a:p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Duplicated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Bad because if you modify one instance of duplicated code but not the others, you (may) have introduced a bug!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Long 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Long methods are more difficult to understand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performance concerns with respect to short methods are largely obsolete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Large Class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Large classes try to do too much, which reduces cohesion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Long Parameter List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Hard to understand, can become inconsistent if the same parameter chain is being passed from method to method</a:t>
            </a:r>
            <a:endParaRPr/>
          </a:p>
        </p:txBody>
      </p:sp>
      <p:sp>
        <p:nvSpPr>
          <p:cNvPr id="200" name="Google Shape;20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Duplicated Code</a:t>
            </a:r>
            <a:endParaRPr/>
          </a:p>
        </p:txBody>
      </p:sp>
      <p:pic>
        <p:nvPicPr>
          <p:cNvPr id="206" name="Google Shape;2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776" y="1550199"/>
            <a:ext cx="9290875" cy="496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a55503e9f_0_20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Long Method</a:t>
            </a:r>
            <a:endParaRPr/>
          </a:p>
        </p:txBody>
      </p:sp>
      <p:sp>
        <p:nvSpPr>
          <p:cNvPr id="213" name="Google Shape;213;g3da55503e9f_0_20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g3da55503e9f_0_208"/>
          <p:cNvSpPr/>
          <p:nvPr/>
        </p:nvSpPr>
        <p:spPr>
          <a:xfrm>
            <a:off x="2036625" y="2313700"/>
            <a:ext cx="4502700" cy="24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da55503e9f_0_208"/>
          <p:cNvSpPr/>
          <p:nvPr/>
        </p:nvSpPr>
        <p:spPr>
          <a:xfrm>
            <a:off x="2036625" y="2951000"/>
            <a:ext cx="4502700" cy="24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da55503e9f_0_208"/>
          <p:cNvSpPr/>
          <p:nvPr/>
        </p:nvSpPr>
        <p:spPr>
          <a:xfrm>
            <a:off x="2036625" y="3699150"/>
            <a:ext cx="4502700" cy="24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da55503e9f_0_208"/>
          <p:cNvSpPr/>
          <p:nvPr/>
        </p:nvSpPr>
        <p:spPr>
          <a:xfrm>
            <a:off x="2036625" y="4335025"/>
            <a:ext cx="4502700" cy="24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da55503e9f_0_208"/>
          <p:cNvSpPr/>
          <p:nvPr/>
        </p:nvSpPr>
        <p:spPr>
          <a:xfrm>
            <a:off x="2036625" y="5027750"/>
            <a:ext cx="4502700" cy="24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da55503e9f_0_208"/>
          <p:cNvSpPr txBox="1"/>
          <p:nvPr/>
        </p:nvSpPr>
        <p:spPr>
          <a:xfrm>
            <a:off x="1052950" y="1427025"/>
            <a:ext cx="8880900" cy="52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OrderService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processOrder(Order order)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validate order 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Calculate total price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apply discount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   // format receipt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print receipt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a55503e9f_0_2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Long Parameter List</a:t>
            </a:r>
            <a:endParaRPr/>
          </a:p>
        </p:txBody>
      </p:sp>
      <p:sp>
        <p:nvSpPr>
          <p:cNvPr id="225" name="Google Shape;225;g3da55503e9f_0_2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g3da55503e9f_0_228"/>
          <p:cNvSpPr txBox="1"/>
          <p:nvPr/>
        </p:nvSpPr>
        <p:spPr>
          <a:xfrm>
            <a:off x="1108375" y="2064300"/>
            <a:ext cx="7571400" cy="19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PaymentService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processPayment(String name, String email,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String cardNumber, String expiry,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double amount)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processing logic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" name="Google Shape;227;g3da55503e9f_0_228"/>
          <p:cNvSpPr txBox="1"/>
          <p:nvPr/>
        </p:nvSpPr>
        <p:spPr>
          <a:xfrm>
            <a:off x="1149925" y="4156375"/>
            <a:ext cx="8243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to remember parameter order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pass wrong values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 across methods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Bad Smells in Code</a:t>
            </a:r>
            <a:endParaRPr/>
          </a:p>
        </p:txBody>
      </p:sp>
      <p:sp>
        <p:nvSpPr>
          <p:cNvPr id="233" name="Google Shape;23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Divergent Change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Symptom: one type of change requires changing one subset of methods; another type of change requires changing another subset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e.g., “I have to change these three methods every time I get a new database.”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Related to cohesion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Shotgun Surgery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change requires lots of little changes in a lot of different classes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a55503e9f_0_16"/>
          <p:cNvSpPr txBox="1"/>
          <p:nvPr>
            <p:ph type="title"/>
          </p:nvPr>
        </p:nvSpPr>
        <p:spPr>
          <a:xfrm>
            <a:off x="74122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Divergent Change</a:t>
            </a:r>
            <a:endParaRPr/>
          </a:p>
        </p:txBody>
      </p:sp>
      <p:sp>
        <p:nvSpPr>
          <p:cNvPr id="240" name="Google Shape;240;g3da55503e9f_0_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g3da55503e9f_0_16"/>
          <p:cNvSpPr txBox="1"/>
          <p:nvPr/>
        </p:nvSpPr>
        <p:spPr>
          <a:xfrm>
            <a:off x="9005450" y="4045525"/>
            <a:ext cx="2881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many reason to update this class!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da55503e9f_0_16"/>
          <p:cNvSpPr txBox="1"/>
          <p:nvPr/>
        </p:nvSpPr>
        <p:spPr>
          <a:xfrm>
            <a:off x="858975" y="1045950"/>
            <a:ext cx="108759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Employee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…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updatePersonalInfo(String newName, String newEmail)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this.name = newName;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this.email = newEmail;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changed when UI or report formats evolve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String formatForReport()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String.format("Employee Report: %s (%s) - Salary: $%.2f", name, department, salary);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void sendEmailNotification(String message)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In real code: integrate with email service using 'email' field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System.out.println("Sending to " + email + ": " + message);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changed when tax laws or pay rules update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double calculatePay()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double basePay = salary + (hoursWorked * 50.0); // overtime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basePay * (1 - taxRate);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Shotgun Surgery</a:t>
            </a:r>
            <a:endParaRPr/>
          </a:p>
        </p:txBody>
      </p:sp>
      <p:pic>
        <p:nvPicPr>
          <p:cNvPr id="248" name="Google Shape;2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8725" y="1593275"/>
            <a:ext cx="7488626" cy="48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9628900" y="1456750"/>
            <a:ext cx="2632500" cy="48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in business logic i.e., minimum amount or change in message wording fires change in multiple places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a55503e9f_0_19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Bad Smells in Code</a:t>
            </a:r>
            <a:endParaRPr/>
          </a:p>
        </p:txBody>
      </p:sp>
      <p:sp>
        <p:nvSpPr>
          <p:cNvPr id="256" name="Google Shape;256;g3da55503e9f_0_19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Feature Envy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 method requires lots of information from some other class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Move it closer!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Data Clumps</a:t>
            </a:r>
            <a:endParaRPr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attributes that clump together (are used together) but are not part of the same class</a:t>
            </a:r>
            <a:endParaRPr b="1"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7" name="Google Shape;257;g3da55503e9f_0_19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a55503e9f_0_186"/>
          <p:cNvSpPr txBox="1"/>
          <p:nvPr>
            <p:ph type="title"/>
          </p:nvPr>
        </p:nvSpPr>
        <p:spPr>
          <a:xfrm>
            <a:off x="54725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Feature</a:t>
            </a:r>
            <a:r>
              <a:rPr b="1" lang="en-US"/>
              <a:t> Envy</a:t>
            </a:r>
            <a:endParaRPr/>
          </a:p>
        </p:txBody>
      </p:sp>
      <p:sp>
        <p:nvSpPr>
          <p:cNvPr id="263" name="Google Shape;263;g3da55503e9f_0_18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g3da55503e9f_0_186"/>
          <p:cNvSpPr txBox="1"/>
          <p:nvPr/>
        </p:nvSpPr>
        <p:spPr>
          <a:xfrm>
            <a:off x="2050450" y="1204210"/>
            <a:ext cx="10515600" cy="5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This class "envies" the data inside Customer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Invoice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double calculateDiscount(Customer customer)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Lots of access to Customer's data, very little to its own</a:t>
            </a:r>
            <a:endParaRPr b="1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(customer.getTotalSpent() &gt; 1000 &amp;&amp; customer.getYearsAsMember() &gt; 2)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return customer.getTotalSpent() * 0.15;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 else if (customer.getTotalSpent() &gt; 500)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return customer.getTotalSpent() * 0.10;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0.0;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Customer {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private double totalSpent;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private int yearsAsMember;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getters only (no behavior)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double getTotalSpent() { return totalSpent;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int getYearsAsMember() { return yearsAsMember; 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Bad Smells in Code</a:t>
            </a:r>
            <a:endParaRPr/>
          </a:p>
        </p:txBody>
      </p:sp>
      <p:sp>
        <p:nvSpPr>
          <p:cNvPr id="270" name="Google Shape;270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Primitive Obsession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characterized by a reluctance to use classes instead of primitive data types</a:t>
            </a:r>
            <a:endParaRPr/>
          </a:p>
          <a:p>
            <a:pPr indent="0" lvl="0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400"/>
              <a:t>Ex - using arrays for std_ID, std_name and std_marks instead of student class.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Switch Statements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Switch statements are often </a:t>
            </a:r>
            <a:r>
              <a:rPr b="1" lang="en-US"/>
              <a:t>duplicated</a:t>
            </a:r>
            <a:r>
              <a:rPr lang="en-US"/>
              <a:t> in code; they can typically be replaced by the use of polymorphism (let OO do your selection for you!)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Bad Smells in Code</a:t>
            </a:r>
            <a:endParaRPr/>
          </a:p>
        </p:txBody>
      </p:sp>
      <p:sp>
        <p:nvSpPr>
          <p:cNvPr id="277" name="Google Shape;277;p20"/>
          <p:cNvSpPr txBox="1"/>
          <p:nvPr>
            <p:ph idx="1" type="body"/>
          </p:nvPr>
        </p:nvSpPr>
        <p:spPr>
          <a:xfrm>
            <a:off x="838200" y="1784075"/>
            <a:ext cx="10515600" cy="15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Lazy Class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class that no longer “pays its way”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e.g., maybe a class that was downsized by a previous refactoring, or represented planned functionality that did not pan out</a:t>
            </a:r>
            <a:endParaRPr/>
          </a:p>
        </p:txBody>
      </p:sp>
      <p:sp>
        <p:nvSpPr>
          <p:cNvPr id="278" name="Google Shape;27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1427025" y="3435925"/>
            <a:ext cx="7911000" cy="2244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Logger {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Originally meant to do complex logging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But now just prints a simple message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void log(String message) {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System.out.println(message);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1427025" y="5768475"/>
            <a:ext cx="101208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Logger is barely doing anything; could be replaced by 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 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adds extra complexity without benefit.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Bad Smells in Code</a:t>
            </a:r>
            <a:endParaRPr/>
          </a:p>
        </p:txBody>
      </p:sp>
      <p:sp>
        <p:nvSpPr>
          <p:cNvPr id="286" name="Google Shape;286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Message Chains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client asks an object for another object and then asks that object for another object etc.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client depends on the structure of the navigation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any change to the intermediate relationships requires a change to the client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Middle Man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 class is delegating more than half its responsibilities to another class, do you really need it? Involves trade-offs; some design patterns encourage this (e.g., Decorator)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Inappropriate Intimacy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Pairs of classes that know too much about each other’s implementation details (loss of encapsulation)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Message Chains</a:t>
            </a:r>
            <a:endParaRPr/>
          </a:p>
        </p:txBody>
      </p:sp>
      <p:sp>
        <p:nvSpPr>
          <p:cNvPr id="293" name="Google Shape;29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5735775" y="1226100"/>
            <a:ext cx="8021700" cy="4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Engine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int getHorsePower() { return 200;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Car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private Engine engine = new Engine();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Engine getEngine() { return engine;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Driver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private Car car = new Car();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void showHorsePower()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// Train-wreck: driver reaches through Car to Engine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System.out.println("HP: " + car.getEngine().getHorsePower());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290950" y="1551700"/>
            <a:ext cx="4004100" cy="4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client asks an object for another object and then asks that object for another object etc.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client depends on the structure of the navigation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change to the intermediate relationships requires a change to the client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5417125" y="900550"/>
            <a:ext cx="6373200" cy="545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a55503e9f_0_1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Middle Man</a:t>
            </a:r>
            <a:endParaRPr/>
          </a:p>
        </p:txBody>
      </p:sp>
      <p:sp>
        <p:nvSpPr>
          <p:cNvPr id="302" name="Google Shape;302;g3da55503e9f_0_1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g3da55503e9f_0_156"/>
          <p:cNvSpPr txBox="1"/>
          <p:nvPr/>
        </p:nvSpPr>
        <p:spPr>
          <a:xfrm>
            <a:off x="512625" y="1931538"/>
            <a:ext cx="4004100" cy="4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class is delegating more than half its responsibilities to another class, do you really need it?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Involves trade-offs; some design patterns encourage this (e.g., Decorator)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3da55503e9f_0_156" title="Screenshot from 2026-03-25 21-08-06.png"/>
          <p:cNvPicPr preferRelativeResize="0"/>
          <p:nvPr/>
        </p:nvPicPr>
        <p:blipFill rotWithShape="1">
          <a:blip r:embed="rId3">
            <a:alphaModFix/>
          </a:blip>
          <a:srcRect b="40867" l="0" r="0" t="0"/>
          <a:stretch/>
        </p:blipFill>
        <p:spPr>
          <a:xfrm>
            <a:off x="5133225" y="1690825"/>
            <a:ext cx="6345250" cy="3130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a55503e9f_0_166"/>
          <p:cNvSpPr txBox="1"/>
          <p:nvPr>
            <p:ph type="title"/>
          </p:nvPr>
        </p:nvSpPr>
        <p:spPr>
          <a:xfrm>
            <a:off x="159350" y="2127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Inappropriate Intimacy</a:t>
            </a:r>
            <a:endParaRPr/>
          </a:p>
        </p:txBody>
      </p:sp>
      <p:sp>
        <p:nvSpPr>
          <p:cNvPr id="310" name="Google Shape;310;g3da55503e9f_0_1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g3da55503e9f_0_166"/>
          <p:cNvSpPr txBox="1"/>
          <p:nvPr/>
        </p:nvSpPr>
        <p:spPr>
          <a:xfrm>
            <a:off x="249375" y="2628292"/>
            <a:ext cx="4004100" cy="16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Pairs of classes that know too much about each other’s implementation details (loss of encapsulation)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da55503e9f_0_166"/>
          <p:cNvSpPr txBox="1"/>
          <p:nvPr/>
        </p:nvSpPr>
        <p:spPr>
          <a:xfrm>
            <a:off x="5874325" y="570025"/>
            <a:ext cx="72597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BAD — Order exposes all its internals as public fields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Order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List&lt;Item&gt; items        = new ArrayList&lt;&gt;();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double     discountRate = 0.0;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boolean    isPaid       = false;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String     customerEmail;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OrderService reaches in and manipulates Order directly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OrderService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void addItem(Order order, Item item)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order.items.add(item);     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directly accessing 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void applyDiscount(Order order)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order.discountRate = 0.10;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setting internal state freely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void completePayment(Order order) {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order.isPaid = true;      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// changing internal flag directly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System.out.println("Confirmation sent to: " +order.customerEmail);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 txBox="1"/>
          <p:nvPr>
            <p:ph type="title"/>
          </p:nvPr>
        </p:nvSpPr>
        <p:spPr>
          <a:xfrm>
            <a:off x="561100" y="282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Bad Smells in Code</a:t>
            </a:r>
            <a:endParaRPr/>
          </a:p>
        </p:txBody>
      </p:sp>
      <p:sp>
        <p:nvSpPr>
          <p:cNvPr id="318" name="Google Shape;318;p22"/>
          <p:cNvSpPr txBox="1"/>
          <p:nvPr>
            <p:ph idx="1" type="body"/>
          </p:nvPr>
        </p:nvSpPr>
        <p:spPr>
          <a:xfrm>
            <a:off x="270150" y="1867200"/>
            <a:ext cx="4114800" cy="4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Data Class (information holder)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These are classes that have fields, getting and setting methods for the fields, and nothing else; they are data holders, but objects should be about data and  behavior</a:t>
            </a:r>
            <a:endParaRPr/>
          </a:p>
        </p:txBody>
      </p:sp>
      <p:sp>
        <p:nvSpPr>
          <p:cNvPr id="319" name="Google Shape;31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0" name="Google Shape;320;p22" title="Screenshot from 2026-03-25 20-46-4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6600" y="1407025"/>
            <a:ext cx="7510675" cy="492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a55503e9f_0_1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Bad Smells in Code</a:t>
            </a:r>
            <a:endParaRPr/>
          </a:p>
        </p:txBody>
      </p:sp>
      <p:sp>
        <p:nvSpPr>
          <p:cNvPr id="326" name="Google Shape;326;g3da55503e9f_0_135"/>
          <p:cNvSpPr txBox="1"/>
          <p:nvPr>
            <p:ph idx="1" type="body"/>
          </p:nvPr>
        </p:nvSpPr>
        <p:spPr>
          <a:xfrm>
            <a:off x="1087575" y="1797925"/>
            <a:ext cx="4114800" cy="40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Data Class (information holder)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These are classes that have fields, getting and setting methods for the fields, and nothing else; they are data holders, but objects should be about data and  behavior</a:t>
            </a:r>
            <a:endParaRPr/>
          </a:p>
        </p:txBody>
      </p:sp>
      <p:sp>
        <p:nvSpPr>
          <p:cNvPr id="327" name="Google Shape;327;g3da55503e9f_0_1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g3da55503e9f_0_135"/>
          <p:cNvSpPr txBox="1"/>
          <p:nvPr/>
        </p:nvSpPr>
        <p:spPr>
          <a:xfrm>
            <a:off x="6955000" y="2050475"/>
            <a:ext cx="3000000" cy="3199200"/>
          </a:xfrm>
          <a:prstGeom prst="rect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all data classes are bad.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They’re only a problem when they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have behavior but don’t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their behaviour is scattered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a55503e9f_0_1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Bad Smells in Code</a:t>
            </a:r>
            <a:endParaRPr/>
          </a:p>
        </p:txBody>
      </p:sp>
      <p:sp>
        <p:nvSpPr>
          <p:cNvPr id="334" name="Google Shape;334;g3da55503e9f_0_125"/>
          <p:cNvSpPr txBox="1"/>
          <p:nvPr>
            <p:ph idx="1" type="body"/>
          </p:nvPr>
        </p:nvSpPr>
        <p:spPr>
          <a:xfrm>
            <a:off x="893625" y="15346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Comments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Comments are sometimes used to hide bad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“…comments are often used as a deodorant”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35" name="Google Shape;335;g3da55503e9f_0_1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a55503e9f_0_1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1" lang="en-US"/>
              <a:t>Refused Bequest</a:t>
            </a:r>
            <a:endParaRPr/>
          </a:p>
        </p:txBody>
      </p:sp>
      <p:sp>
        <p:nvSpPr>
          <p:cNvPr id="341" name="Google Shape;341;g3da55503e9f_0_1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g3da55503e9f_0_146"/>
          <p:cNvSpPr txBox="1"/>
          <p:nvPr/>
        </p:nvSpPr>
        <p:spPr>
          <a:xfrm>
            <a:off x="5735775" y="1226100"/>
            <a:ext cx="8021700" cy="40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Worker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void work();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HumanEmployee implements Worker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void work()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System.out.println("Human working...");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void applyForLeave()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System.out.println("Applying for leave...");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Robot implements Worker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void work()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System.out.println("Robot working automatically...");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a55503e9f_0_146"/>
          <p:cNvSpPr txBox="1"/>
          <p:nvPr/>
        </p:nvSpPr>
        <p:spPr>
          <a:xfrm>
            <a:off x="290950" y="1551700"/>
            <a:ext cx="4004100" cy="4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Refused Bequest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subclass ignores most of the functionality provided by its superclass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Subclass may not pass the “IS-A” test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class Y is a type of class X, then Y IS-A X.</a:t>
            </a:r>
            <a:br>
              <a:rPr b="0" i="1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Dog IS-A Animal</a:t>
            </a:r>
            <a:endParaRPr b="0" i="1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Car IS-A Vehicle</a:t>
            </a:r>
            <a:endParaRPr b="0" i="1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SavingsAccount IS-A Account</a:t>
            </a:r>
            <a:b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da55503e9f_0_146"/>
          <p:cNvSpPr/>
          <p:nvPr/>
        </p:nvSpPr>
        <p:spPr>
          <a:xfrm>
            <a:off x="5417125" y="900550"/>
            <a:ext cx="5791200" cy="5455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Catalog of Refactoring Patterns</a:t>
            </a:r>
            <a:endParaRPr/>
          </a:p>
        </p:txBody>
      </p:sp>
      <p:sp>
        <p:nvSpPr>
          <p:cNvPr id="350" name="Google Shape;350;p24"/>
          <p:cNvSpPr txBox="1"/>
          <p:nvPr>
            <p:ph idx="1" type="body"/>
          </p:nvPr>
        </p:nvSpPr>
        <p:spPr>
          <a:xfrm>
            <a:off x="478971" y="1825625"/>
            <a:ext cx="1126671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Large list of refactoring patterns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http://www.refactoring.com/catalog</a:t>
            </a:r>
            <a:r>
              <a:rPr lang="en-US"/>
              <a:t>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Extract 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Extract Variable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Extract Class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Replace Temp with Query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Move 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Replace Conditional with Polymorphism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Introduce Null Object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Separate Query for Modifier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Introduce Parameter Object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Encapsulate Collection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Replace Nested Conditional with Guard Clauses</a:t>
            </a:r>
            <a:endParaRPr/>
          </a:p>
        </p:txBody>
      </p:sp>
      <p:sp>
        <p:nvSpPr>
          <p:cNvPr id="351" name="Google Shape;35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Extract Method</a:t>
            </a:r>
            <a:endParaRPr/>
          </a:p>
        </p:txBody>
      </p:sp>
      <p:sp>
        <p:nvSpPr>
          <p:cNvPr id="357" name="Google Shape;357;p25"/>
          <p:cNvSpPr txBox="1"/>
          <p:nvPr>
            <p:ph idx="1" type="body"/>
          </p:nvPr>
        </p:nvSpPr>
        <p:spPr>
          <a:xfrm>
            <a:off x="838200" y="1825625"/>
            <a:ext cx="4052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have a code fragment that can be grouped together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Turn the fragment into a method whose name explains the purpose of the fragment</a:t>
            </a:r>
            <a:endParaRPr/>
          </a:p>
        </p:txBody>
      </p:sp>
      <p:sp>
        <p:nvSpPr>
          <p:cNvPr id="358" name="Google Shape;35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9" name="Google Shape;359;p25" title="Screenshot from 2026-09-15 00-06-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9325" y="1690693"/>
            <a:ext cx="6898825" cy="39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409e06323c6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Extract Method</a:t>
            </a:r>
            <a:endParaRPr/>
          </a:p>
        </p:txBody>
      </p:sp>
      <p:sp>
        <p:nvSpPr>
          <p:cNvPr id="365" name="Google Shape;365;g409e06323c6_0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6" name="Google Shape;366;g409e06323c6_0_1" title="Screenshot from 2026-09-15 00-06-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038" y="1884800"/>
            <a:ext cx="8427925" cy="337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Extract Class</a:t>
            </a:r>
            <a:endParaRPr/>
          </a:p>
        </p:txBody>
      </p:sp>
      <p:sp>
        <p:nvSpPr>
          <p:cNvPr id="372" name="Google Shape;372;p27"/>
          <p:cNvSpPr txBox="1"/>
          <p:nvPr>
            <p:ph idx="1" type="body"/>
          </p:nvPr>
        </p:nvSpPr>
        <p:spPr>
          <a:xfrm>
            <a:off x="838200" y="1825625"/>
            <a:ext cx="5943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one class does the work of two, awkwardness results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Instead, create a new class and place the fields and methods responsible for the relevant functionality in it</a:t>
            </a:r>
            <a:endParaRPr/>
          </a:p>
        </p:txBody>
      </p:sp>
      <p:pic>
        <p:nvPicPr>
          <p:cNvPr id="373" name="Google Shape;3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6951" y="2006559"/>
            <a:ext cx="2171812" cy="1625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4601" y="4090406"/>
            <a:ext cx="5041868" cy="162568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Extract Variable</a:t>
            </a:r>
            <a:endParaRPr/>
          </a:p>
        </p:txBody>
      </p:sp>
      <p:sp>
        <p:nvSpPr>
          <p:cNvPr id="381" name="Google Shape;381;p26"/>
          <p:cNvSpPr txBox="1"/>
          <p:nvPr>
            <p:ph idx="1" type="body"/>
          </p:nvPr>
        </p:nvSpPr>
        <p:spPr>
          <a:xfrm>
            <a:off x="838200" y="1690700"/>
            <a:ext cx="5791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have an expression that’s hard to understand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Place the result of the expression or its parts in separate variables that are self-explanatory</a:t>
            </a:r>
            <a:endParaRPr/>
          </a:p>
        </p:txBody>
      </p:sp>
      <p:sp>
        <p:nvSpPr>
          <p:cNvPr id="382" name="Google Shape;38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969875" y="4306775"/>
            <a:ext cx="10861800" cy="187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PriceCalculator {</a:t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double calculatePrice(double quantity, double itemPrice) {</a:t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quantity * itemPrice * (quantity &gt; 100 ? 0.9 : 0.95);</a:t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22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a55503e9f_0_1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Extract Variable</a:t>
            </a:r>
            <a:endParaRPr/>
          </a:p>
        </p:txBody>
      </p:sp>
      <p:sp>
        <p:nvSpPr>
          <p:cNvPr id="389" name="Google Shape;389;g3da55503e9f_0_1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g3da55503e9f_0_111"/>
          <p:cNvSpPr txBox="1"/>
          <p:nvPr/>
        </p:nvSpPr>
        <p:spPr>
          <a:xfrm>
            <a:off x="900600" y="1535850"/>
            <a:ext cx="10861800" cy="2190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PriceCalculator {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double calculatePrice(double quantity, double itemPrice) {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double basePrice = quantity * itemPrice;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double discountRate = (quantity &gt; 100) ? 0.9 : 0.95;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basePrice * discountRate;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g3da55503e9f_0_111"/>
          <p:cNvSpPr txBox="1"/>
          <p:nvPr/>
        </p:nvSpPr>
        <p:spPr>
          <a:xfrm>
            <a:off x="900600" y="4071225"/>
            <a:ext cx="10861800" cy="2454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PriceCalculator {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public double calculatePrice(double quantity, double itemPrice) {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double basePrice = quantity * itemPrice;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boolean isBulkOrder = quantity &gt; 100;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double discountRate = isBulkOrder ? 0.9 : 0.95;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return basePrice * discountRate;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2" name="Google Shape;392;g3da55503e9f_0_111"/>
          <p:cNvSpPr/>
          <p:nvPr/>
        </p:nvSpPr>
        <p:spPr>
          <a:xfrm>
            <a:off x="166250" y="4710527"/>
            <a:ext cx="1593270" cy="1399302"/>
          </a:xfrm>
          <a:prstGeom prst="irregularSeal2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Better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Replace Temp with Query</a:t>
            </a:r>
            <a:endParaRPr/>
          </a:p>
        </p:txBody>
      </p:sp>
      <p:sp>
        <p:nvSpPr>
          <p:cNvPr id="398" name="Google Shape;398;p28"/>
          <p:cNvSpPr txBox="1"/>
          <p:nvPr>
            <p:ph idx="1" type="body"/>
          </p:nvPr>
        </p:nvSpPr>
        <p:spPr>
          <a:xfrm>
            <a:off x="838200" y="1825625"/>
            <a:ext cx="5965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are using a temporary variable to hold the result of an expression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Extract the expression into a method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Replace all references to the temp with an expression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new method can then be used in other methods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99" name="Google Shape;39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a55503e9f_0_8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Replace Temp with Query</a:t>
            </a:r>
            <a:endParaRPr/>
          </a:p>
        </p:txBody>
      </p:sp>
      <p:sp>
        <p:nvSpPr>
          <p:cNvPr id="405" name="Google Shape;405;g3da55503e9f_0_81"/>
          <p:cNvSpPr txBox="1"/>
          <p:nvPr>
            <p:ph idx="1" type="body"/>
          </p:nvPr>
        </p:nvSpPr>
        <p:spPr>
          <a:xfrm>
            <a:off x="838200" y="1825625"/>
            <a:ext cx="5410200" cy="435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Order {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private int quantity;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private double itemPrice;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public double calculateTotal() {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double basePrice = quantity * itemPrice; // temp variable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(basePrice &gt; 1000) {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basePrice * 0.95;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 else {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basePrice * 0.98;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</p:txBody>
      </p:sp>
      <p:sp>
        <p:nvSpPr>
          <p:cNvPr id="406" name="Google Shape;406;g3da55503e9f_0_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7" name="Google Shape;407;g3da55503e9f_0_81"/>
          <p:cNvSpPr txBox="1"/>
          <p:nvPr>
            <p:ph idx="1" type="body"/>
          </p:nvPr>
        </p:nvSpPr>
        <p:spPr>
          <a:xfrm>
            <a:off x="6546275" y="2563650"/>
            <a:ext cx="5548800" cy="171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t/>
            </a:r>
            <a:endParaRPr b="1" i="1"/>
          </a:p>
          <a:p>
            <a:pPr indent="-32575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b="1" i="1" lang="en-US"/>
              <a:t>basePrice</a:t>
            </a:r>
            <a:r>
              <a:rPr lang="en-US"/>
              <a:t> is a temporary variable</a:t>
            </a:r>
            <a:endParaRPr/>
          </a:p>
          <a:p>
            <a:pPr indent="-32575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en-US"/>
              <a:t>Logic is tied to this method only</a:t>
            </a:r>
            <a:endParaRPr/>
          </a:p>
          <a:p>
            <a:pPr indent="-32575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64285"/>
              <a:buChar char="•"/>
            </a:pPr>
            <a:r>
              <a:rPr lang="en-US"/>
              <a:t>Can’t reuse </a:t>
            </a:r>
            <a:r>
              <a:rPr b="1" i="1" lang="en-US"/>
              <a:t>basePrice</a:t>
            </a:r>
            <a:r>
              <a:rPr lang="en-US"/>
              <a:t> elsewhere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a55503e9f_0_9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Replace Temp with Query</a:t>
            </a:r>
            <a:endParaRPr/>
          </a:p>
        </p:txBody>
      </p:sp>
      <p:sp>
        <p:nvSpPr>
          <p:cNvPr id="413" name="Google Shape;413;g3da55503e9f_0_99"/>
          <p:cNvSpPr txBox="1"/>
          <p:nvPr>
            <p:ph idx="1" type="body"/>
          </p:nvPr>
        </p:nvSpPr>
        <p:spPr>
          <a:xfrm>
            <a:off x="630400" y="1737400"/>
            <a:ext cx="5410200" cy="435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class Order {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private int quantity;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private double itemPrice;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public double calculateTotal() {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double basePrice = quantity * itemPrice; // temp variable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if (basePrice &gt; 1000) {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basePrice * 0.95;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 else {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   return basePrice * 0.98;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}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}</a:t>
            </a:r>
            <a:endParaRPr/>
          </a:p>
        </p:txBody>
      </p:sp>
      <p:sp>
        <p:nvSpPr>
          <p:cNvPr id="414" name="Google Shape;414;g3da55503e9f_0_9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5" name="Google Shape;415;g3da55503e9f_0_99"/>
          <p:cNvSpPr txBox="1"/>
          <p:nvPr>
            <p:ph idx="1" type="body"/>
          </p:nvPr>
        </p:nvSpPr>
        <p:spPr>
          <a:xfrm>
            <a:off x="7543800" y="1316175"/>
            <a:ext cx="4114800" cy="504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t/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class Order {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private int quantity;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private double itemPrice;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t/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public double calculateTotal() {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    if (getBasePrice() &gt; 1000) {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        return getBasePrice() * 0.95;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    } else {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        return getBasePrice() * 0.98;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    }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}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t/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private double getBasePrice() {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    return quantity * itemPrice;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    }</a:t>
            </a:r>
            <a:endParaRPr sz="1629"/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629"/>
              <a:t>}</a:t>
            </a:r>
            <a:endParaRPr sz="1629"/>
          </a:p>
        </p:txBody>
      </p:sp>
      <p:cxnSp>
        <p:nvCxnSpPr>
          <p:cNvPr id="416" name="Google Shape;416;g3da55503e9f_0_99"/>
          <p:cNvCxnSpPr>
            <a:stCxn id="413" idx="3"/>
            <a:endCxn id="415" idx="1"/>
          </p:cNvCxnSpPr>
          <p:nvPr/>
        </p:nvCxnSpPr>
        <p:spPr>
          <a:xfrm flipH="1" rot="10800000">
            <a:off x="6040600" y="3836200"/>
            <a:ext cx="1503300" cy="76800"/>
          </a:xfrm>
          <a:prstGeom prst="curvedConnector3">
            <a:avLst>
              <a:gd fmla="val 49997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7" name="Google Shape;417;g3da55503e9f_0_99"/>
          <p:cNvSpPr/>
          <p:nvPr/>
        </p:nvSpPr>
        <p:spPr>
          <a:xfrm>
            <a:off x="7869375" y="5084600"/>
            <a:ext cx="3255900" cy="10668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Move Method</a:t>
            </a:r>
            <a:endParaRPr/>
          </a:p>
        </p:txBody>
      </p:sp>
      <p:sp>
        <p:nvSpPr>
          <p:cNvPr id="423" name="Google Shape;423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method is using more features (attributes and operations) of another class than the class on which it is defined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Create a new method with a similar body in the class it uses most. Either turn the old method into a simple delegation or remove it altogether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24" name="Google Shape;42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Move Method</a:t>
            </a:r>
            <a:endParaRPr/>
          </a:p>
        </p:txBody>
      </p:sp>
      <p:sp>
        <p:nvSpPr>
          <p:cNvPr id="430" name="Google Shape;43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30"/>
          <p:cNvSpPr txBox="1"/>
          <p:nvPr/>
        </p:nvSpPr>
        <p:spPr>
          <a:xfrm>
            <a:off x="623450" y="1524075"/>
            <a:ext cx="5043000" cy="473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Engine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private double distance;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private double fuelUsed;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double getDistance() { return distance;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double getFuelUsed() { return fuelUsed;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Car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Engine engine;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double calculateFuelEfficiency()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// Mostly using Engine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return engine.getDistance() /engine.getFuelUsed();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0"/>
          <p:cNvSpPr txBox="1"/>
          <p:nvPr/>
        </p:nvSpPr>
        <p:spPr>
          <a:xfrm>
            <a:off x="6858050" y="1330125"/>
            <a:ext cx="5043000" cy="512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Engine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private double distance;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private double fuelUsed;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double getDistance() { return distance;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double getFuelUsed() { return fuelUsed;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double calculateFuelEfficiency()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return distance / fuelUsed;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b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Car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 engine;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Optional delegation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double calculateFuelEfficiency()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engine.calculateFuelEfficiency();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30"/>
          <p:cNvCxnSpPr>
            <a:stCxn id="431" idx="3"/>
            <a:endCxn id="432" idx="1"/>
          </p:cNvCxnSpPr>
          <p:nvPr/>
        </p:nvCxnSpPr>
        <p:spPr>
          <a:xfrm>
            <a:off x="5666450" y="3891825"/>
            <a:ext cx="1191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30"/>
          <p:cNvSpPr/>
          <p:nvPr/>
        </p:nvSpPr>
        <p:spPr>
          <a:xfrm>
            <a:off x="831275" y="4419600"/>
            <a:ext cx="4752000" cy="10668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30"/>
          <p:cNvCxnSpPr>
            <a:stCxn id="434" idx="0"/>
          </p:cNvCxnSpPr>
          <p:nvPr/>
        </p:nvCxnSpPr>
        <p:spPr>
          <a:xfrm rot="-5400000">
            <a:off x="4665575" y="2033100"/>
            <a:ext cx="928200" cy="38448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30"/>
          <p:cNvSpPr/>
          <p:nvPr/>
        </p:nvSpPr>
        <p:spPr>
          <a:xfrm>
            <a:off x="7052075" y="3145050"/>
            <a:ext cx="4752000" cy="8727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Replace Conditional with Polymorphism	</a:t>
            </a:r>
            <a:endParaRPr/>
          </a:p>
        </p:txBody>
      </p:sp>
      <p:sp>
        <p:nvSpPr>
          <p:cNvPr id="442" name="Google Shape;442;p32"/>
          <p:cNvSpPr txBox="1"/>
          <p:nvPr>
            <p:ph idx="1" type="body"/>
          </p:nvPr>
        </p:nvSpPr>
        <p:spPr>
          <a:xfrm>
            <a:off x="838200" y="1825625"/>
            <a:ext cx="511628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have a conditional that chooses different behavior depending on the type of an object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Move each “leg” of the conditional to an overriding method in a subclass. Make the original method abstract.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43" name="Google Shape;4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4486" y="1829931"/>
            <a:ext cx="5834743" cy="3198137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Replace Conditional with Polymorphism	</a:t>
            </a:r>
            <a:endParaRPr/>
          </a:p>
        </p:txBody>
      </p:sp>
      <p:pic>
        <p:nvPicPr>
          <p:cNvPr id="450" name="Google Shape;4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5828" y="1690688"/>
            <a:ext cx="5854700" cy="2560638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3"/>
          <p:cNvSpPr txBox="1"/>
          <p:nvPr/>
        </p:nvSpPr>
        <p:spPr>
          <a:xfrm>
            <a:off x="838200" y="4901521"/>
            <a:ext cx="10515600" cy="1317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printSpeed(Bird[] birds)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for (int i=0; i&lt;birds.length;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System.out.println(“” + birds[i].getSpeed());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Introduce Null Object</a:t>
            </a:r>
            <a:endParaRPr b="1"/>
          </a:p>
        </p:txBody>
      </p:sp>
      <p:sp>
        <p:nvSpPr>
          <p:cNvPr id="458" name="Google Shape;458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Repeated checks for a null value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Rather than returning a null value from findCustomer() return an instance of a “null customer” object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59" name="Google Shape;4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3571" y="3276600"/>
            <a:ext cx="7353300" cy="33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307: Software Engineering</a:t>
            </a:r>
            <a:endParaRPr/>
          </a:p>
        </p:txBody>
      </p:sp>
      <p:sp>
        <p:nvSpPr>
          <p:cNvPr id="461" name="Google Shape;461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Introduce Null Object</a:t>
            </a:r>
            <a:endParaRPr b="1"/>
          </a:p>
        </p:txBody>
      </p:sp>
      <p:pic>
        <p:nvPicPr>
          <p:cNvPr id="467" name="Google Shape;46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9172" y="2743994"/>
            <a:ext cx="71882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conditional goes away entirely!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69" name="Google Shape;46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307: Software Engineering</a:t>
            </a:r>
            <a:endParaRPr/>
          </a:p>
        </p:txBody>
      </p:sp>
      <p:sp>
        <p:nvSpPr>
          <p:cNvPr id="470" name="Google Shape;47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Separate Query for Modifier</a:t>
            </a:r>
            <a:endParaRPr/>
          </a:p>
        </p:txBody>
      </p:sp>
      <p:sp>
        <p:nvSpPr>
          <p:cNvPr id="476" name="Google Shape;476;p36"/>
          <p:cNvSpPr txBox="1"/>
          <p:nvPr>
            <p:ph idx="1" type="body"/>
          </p:nvPr>
        </p:nvSpPr>
        <p:spPr>
          <a:xfrm>
            <a:off x="6525500" y="1847850"/>
            <a:ext cx="4828200" cy="435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-US" sz="2100"/>
              <a:t>getTotalOutstandingAndSetReadyForSummaries</a:t>
            </a:r>
            <a:r>
              <a:rPr lang="en-US" sz="2100"/>
              <a:t>()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/>
              <a:t>It is a query method, but it is also changing the state of the object being called</a:t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/>
              <a:t>This change is known as a “side effect” because it’s not the primary purpose of the method</a:t>
            </a:r>
            <a:endParaRPr sz="2100"/>
          </a:p>
        </p:txBody>
      </p:sp>
      <p:sp>
        <p:nvSpPr>
          <p:cNvPr id="477" name="Google Shape;47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" name="Google Shape;478;p36"/>
          <p:cNvSpPr txBox="1"/>
          <p:nvPr/>
        </p:nvSpPr>
        <p:spPr>
          <a:xfrm>
            <a:off x="665025" y="1814950"/>
            <a:ext cx="5666400" cy="4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Invoice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boolean readyForSummaries = false;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double totalOutstanding;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double getTotalOutstandingAndSetReadyForSummaries()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calculate total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totalOutstanding = 500.0;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side effect (modifying state)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readyForSummaries = true;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totalOutstanding;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a55503e9f_0_5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Separate Query for Modifier</a:t>
            </a:r>
            <a:endParaRPr/>
          </a:p>
        </p:txBody>
      </p:sp>
      <p:sp>
        <p:nvSpPr>
          <p:cNvPr id="484" name="Google Shape;484;g3da55503e9f_0_57"/>
          <p:cNvSpPr txBox="1"/>
          <p:nvPr>
            <p:ph idx="1" type="body"/>
          </p:nvPr>
        </p:nvSpPr>
        <p:spPr>
          <a:xfrm>
            <a:off x="6331425" y="2305050"/>
            <a:ext cx="4828200" cy="2655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/>
              <a:t>It is generally accepted practice that queries should not have side effects so this refactoring says to split methods into query and modification.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1900"/>
              <a:t>Try as best as possible to avoid any side effects in query methods</a:t>
            </a:r>
            <a:endParaRPr sz="1900"/>
          </a:p>
        </p:txBody>
      </p:sp>
      <p:sp>
        <p:nvSpPr>
          <p:cNvPr id="485" name="Google Shape;485;g3da55503e9f_0_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6" name="Google Shape;486;g3da55503e9f_0_57"/>
          <p:cNvSpPr txBox="1"/>
          <p:nvPr/>
        </p:nvSpPr>
        <p:spPr>
          <a:xfrm>
            <a:off x="1011400" y="1876200"/>
            <a:ext cx="4475100" cy="4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Invoice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private boolean readyForSummaries = false;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private double totalOutstanding;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Pure query (no side effects)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double getTotalOutstanding()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totalOutstanding = 500.0;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return totalOutstanding;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 Explicit modifier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public void setReadyForSummaries() {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readyForSummaries = true;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 txBox="1"/>
          <p:nvPr>
            <p:ph type="title"/>
          </p:nvPr>
        </p:nvSpPr>
        <p:spPr>
          <a:xfrm>
            <a:off x="755075" y="742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Introduce Parameter Object</a:t>
            </a:r>
            <a:endParaRPr/>
          </a:p>
        </p:txBody>
      </p:sp>
      <p:sp>
        <p:nvSpPr>
          <p:cNvPr id="492" name="Google Shape;492;p37"/>
          <p:cNvSpPr txBox="1"/>
          <p:nvPr>
            <p:ph idx="1" type="body"/>
          </p:nvPr>
        </p:nvSpPr>
        <p:spPr>
          <a:xfrm>
            <a:off x="574950" y="11051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have a group of parameters that go naturally together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Stick them in an object and pass the object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new class starts out as a data holder but will likely attract methods to it</a:t>
            </a:r>
            <a:endParaRPr/>
          </a:p>
        </p:txBody>
      </p:sp>
      <p:sp>
        <p:nvSpPr>
          <p:cNvPr id="493" name="Google Shape;49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4" name="Google Shape;494;p37"/>
          <p:cNvSpPr txBox="1"/>
          <p:nvPr>
            <p:ph idx="1" type="body"/>
          </p:nvPr>
        </p:nvSpPr>
        <p:spPr>
          <a:xfrm>
            <a:off x="3200400" y="2797125"/>
            <a:ext cx="6580800" cy="3628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class InvoiceService {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public double amountInvoicedIn(Date start, Date end) {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// logic using start and end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return 1000.0;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public double amountOverdueIn(Date start, Date end) {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// logic using start and end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return 200.0;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153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3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5" name="Google Shape;495;p37"/>
          <p:cNvSpPr txBox="1"/>
          <p:nvPr/>
        </p:nvSpPr>
        <p:spPr>
          <a:xfrm>
            <a:off x="10307775" y="3872625"/>
            <a:ext cx="1607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rPr>
              <a:t>Primitive obsession too!</a:t>
            </a:r>
            <a:endParaRPr b="0" i="0" sz="2800" u="none" cap="none" strike="noStrike">
              <a:solidFill>
                <a:schemeClr val="dk1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da55503e9f_0_23"/>
          <p:cNvSpPr txBox="1"/>
          <p:nvPr>
            <p:ph idx="1" type="body"/>
          </p:nvPr>
        </p:nvSpPr>
        <p:spPr>
          <a:xfrm>
            <a:off x="228550" y="514050"/>
            <a:ext cx="5562600" cy="582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class 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DateRange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private Date start;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private Date end;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public DateRange(Date start, Date end)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this.start = start;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this.end = end;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public Date getStart() { return start;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public Date getEnd() { return end;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// behavior can grow here later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public boolean includes(Date date)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return !date.before(start) &amp;&amp; !date.after(end);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2" name="Google Shape;502;g3da55503e9f_0_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" name="Google Shape;503;g3da55503e9f_0_23"/>
          <p:cNvSpPr txBox="1"/>
          <p:nvPr>
            <p:ph idx="1" type="body"/>
          </p:nvPr>
        </p:nvSpPr>
        <p:spPr>
          <a:xfrm>
            <a:off x="5791150" y="514050"/>
            <a:ext cx="5562600" cy="582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1837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7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class InvoiceService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1837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public double amountInvoicedIn(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DateRange range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1837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// logic using range.getStart(), range.getEnd()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7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7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return 1000.0;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7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7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7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public double amountOverdueIn(</a:t>
            </a: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DateRange range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1837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// logic using range.getStart(), range.getEnd()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7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7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return 200.0;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1837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1837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Encapsulate Collection</a:t>
            </a:r>
            <a:endParaRPr b="1"/>
          </a:p>
        </p:txBody>
      </p:sp>
      <p:sp>
        <p:nvSpPr>
          <p:cNvPr id="509" name="Google Shape;509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method returns a collection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Make it return a read-only version of the collection and provide add/remove methods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Student class with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Map getCourses();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void setCourses(Map courses);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Change 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ReadOnlyList getCourses();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addCourse(Course c);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removeCourse(Course c);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10" name="Google Shape;51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830" y="3062908"/>
            <a:ext cx="6133035" cy="298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9"/>
          <p:cNvSpPr txBox="1"/>
          <p:nvPr>
            <p:ph type="title"/>
          </p:nvPr>
        </p:nvSpPr>
        <p:spPr>
          <a:xfrm>
            <a:off x="838199" y="365125"/>
            <a:ext cx="1099457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Replace Nested Conditional with Guard Clauses</a:t>
            </a:r>
            <a:endParaRPr b="1"/>
          </a:p>
        </p:txBody>
      </p:sp>
      <p:sp>
        <p:nvSpPr>
          <p:cNvPr id="517" name="Google Shape;517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refactoring relates to the purpose of conditional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One type of conditional checks for a variation in “normal” behavior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system will do either A or B; both are considered “normal” behavior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other type of conditional checks for unusual circumstances that require special behavior; if all of these checks fail then the system proceeds with “normal behavior”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want to apply this refactoring when we encounter the latter type of conditional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refactoring is described in Fowler’s book as: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“A method has conditional behavior that does not make clear the normal path of execution; Use guard clauses for all special cases”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18" name="Google Shape;51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0"/>
          <p:cNvSpPr txBox="1"/>
          <p:nvPr>
            <p:ph type="title"/>
          </p:nvPr>
        </p:nvSpPr>
        <p:spPr>
          <a:xfrm>
            <a:off x="838199" y="365125"/>
            <a:ext cx="1071154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Replace Nested Conditional with Guard Clauses</a:t>
            </a:r>
            <a:endParaRPr/>
          </a:p>
        </p:txBody>
      </p:sp>
      <p:pic>
        <p:nvPicPr>
          <p:cNvPr id="524" name="Google Shape;52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285" y="2037443"/>
            <a:ext cx="3614057" cy="40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40"/>
          <p:cNvSpPr txBox="1"/>
          <p:nvPr>
            <p:ph idx="1" type="body"/>
          </p:nvPr>
        </p:nvSpPr>
        <p:spPr>
          <a:xfrm>
            <a:off x="4849588" y="1778780"/>
            <a:ext cx="636814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type of code may be the result of a novice programmer or due to a programming constraint imposed by some companies that a method can only have a single return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Often, this constraint causes more confusion than it is worth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26" name="Google Shape;52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a55503e9f_0_38"/>
          <p:cNvSpPr txBox="1"/>
          <p:nvPr>
            <p:ph type="title"/>
          </p:nvPr>
        </p:nvSpPr>
        <p:spPr>
          <a:xfrm>
            <a:off x="838199" y="365125"/>
            <a:ext cx="10711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Replace Nested Conditional with Guard Clauses</a:t>
            </a:r>
            <a:endParaRPr/>
          </a:p>
        </p:txBody>
      </p:sp>
      <p:pic>
        <p:nvPicPr>
          <p:cNvPr id="532" name="Google Shape;532;g3da55503e9f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285" y="2037443"/>
            <a:ext cx="3614057" cy="40926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da55503e9f_0_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4" name="Google Shape;534;g3da55503e9f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9313" y="2760460"/>
            <a:ext cx="5134495" cy="17006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5" name="Google Shape;535;g3da55503e9f_0_38"/>
          <p:cNvCxnSpPr>
            <a:endCxn id="534" idx="1"/>
          </p:cNvCxnSpPr>
          <p:nvPr/>
        </p:nvCxnSpPr>
        <p:spPr>
          <a:xfrm flipH="1" rot="10800000">
            <a:off x="4211713" y="3610793"/>
            <a:ext cx="20076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1"/>
          <p:cNvSpPr txBox="1"/>
          <p:nvPr>
            <p:ph type="title"/>
          </p:nvPr>
        </p:nvSpPr>
        <p:spPr>
          <a:xfrm>
            <a:off x="838199" y="365125"/>
            <a:ext cx="1071154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Replace Nested Conditional with Guard Clauses</a:t>
            </a:r>
            <a:endParaRPr/>
          </a:p>
        </p:txBody>
      </p:sp>
      <p:pic>
        <p:nvPicPr>
          <p:cNvPr id="541" name="Google Shape;54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113" y="3023735"/>
            <a:ext cx="5134495" cy="1700666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1"/>
          <p:cNvSpPr txBox="1"/>
          <p:nvPr>
            <p:ph idx="1" type="body"/>
          </p:nvPr>
        </p:nvSpPr>
        <p:spPr>
          <a:xfrm>
            <a:off x="5504608" y="2000477"/>
            <a:ext cx="636814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With this refactoring, all of the code trying to identify special conditions are turned into one-line statements that determine whether the condition applies and if so handles 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That’s why these statements are called “guard clauses”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Even though this method has four returns, it is easier to understand than the method before the refactoring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43" name="Google Shape;54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Wrapping Up</a:t>
            </a:r>
            <a:endParaRPr/>
          </a:p>
        </p:txBody>
      </p:sp>
      <p:sp>
        <p:nvSpPr>
          <p:cNvPr id="549" name="Google Shape;549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Refactoring is a useful technique for making non-functional changes to a software system that result in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better code structures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less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Many refactorings are triggered via the discovery of duplicated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refactorings then show you how to eliminate duplication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Bad Smells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Useful analogy for discovering places in a system “ripe” for refactoring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50" name="Google Shape;550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Acknowledgments</a:t>
            </a:r>
            <a:endParaRPr/>
          </a:p>
        </p:txBody>
      </p:sp>
      <p:sp>
        <p:nvSpPr>
          <p:cNvPr id="556" name="Google Shape;556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Dr. Emily Navarro, University of California, Irvine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Professor Kenneth M. Anderson, University of Colorado at Boulder</a:t>
            </a:r>
            <a:endParaRPr/>
          </a:p>
        </p:txBody>
      </p:sp>
      <p:sp>
        <p:nvSpPr>
          <p:cNvPr id="557" name="Google Shape;557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2024-02-05T14:42:14Z</dcterms:created>
  <dc:creator>Rifat</dc:creator>
</cp:coreProperties>
</file>