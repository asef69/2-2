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5b2ffde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5b2ffde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5b2ffde0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5b2ffde0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5b2ffde0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5b2ffde0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5b2ffde0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5b2ffde0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5b2ffde0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5b2ffde0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5b2ffde0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5b2ffde0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5b2ffde0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5b2ffde0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400"/>
              <a:t>Decorator Pattern in Java File Reading</a:t>
            </a:r>
            <a:endParaRPr b="1" sz="14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7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Java's </a:t>
            </a: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java.io</a:t>
            </a:r>
            <a:r>
              <a:rPr lang="en" sz="1200">
                <a:solidFill>
                  <a:schemeClr val="dk1"/>
                </a:solidFill>
              </a:rPr>
              <a:t> package is the </a:t>
            </a:r>
            <a:r>
              <a:rPr b="1" lang="en" sz="1200">
                <a:solidFill>
                  <a:schemeClr val="dk1"/>
                </a:solidFill>
              </a:rPr>
              <a:t>textbook real-world example</a:t>
            </a:r>
            <a:r>
              <a:rPr lang="en" sz="1200">
                <a:solidFill>
                  <a:schemeClr val="dk1"/>
                </a:solidFill>
              </a:rPr>
              <a:t> of the Decorator pattern. Instead of one class trying to do everything (read raw bytes + buffer + handle characters + parse lines), Java wraps simple objects with layers that each add one capability.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BufferedReader</a:t>
            </a:r>
            <a:r>
              <a:rPr lang="en" sz="1200">
                <a:solidFill>
                  <a:schemeClr val="dk1"/>
                </a:solidFill>
              </a:rPr>
              <a:t> reader = new </a:t>
            </a:r>
            <a:r>
              <a:rPr b="1" lang="en" sz="1200">
                <a:solidFill>
                  <a:schemeClr val="dk1"/>
                </a:solidFill>
              </a:rPr>
              <a:t>BufferedReader</a:t>
            </a:r>
            <a:r>
              <a:rPr lang="en" sz="1200">
                <a:solidFill>
                  <a:schemeClr val="dk1"/>
                </a:solidFill>
              </a:rPr>
              <a:t>(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new </a:t>
            </a:r>
            <a:r>
              <a:rPr b="1" lang="en" sz="1200">
                <a:solidFill>
                  <a:schemeClr val="dk1"/>
                </a:solidFill>
              </a:rPr>
              <a:t>InputStreamReader</a:t>
            </a:r>
            <a:r>
              <a:rPr lang="en" sz="1200">
                <a:solidFill>
                  <a:schemeClr val="dk1"/>
                </a:solidFill>
              </a:rPr>
              <a:t>(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                               new </a:t>
            </a:r>
            <a:r>
              <a:rPr b="1" lang="en" sz="1200">
                <a:solidFill>
                  <a:schemeClr val="dk1"/>
                </a:solidFill>
              </a:rPr>
              <a:t>FileInputStream</a:t>
            </a:r>
            <a:r>
              <a:rPr lang="en" sz="1200">
                <a:solidFill>
                  <a:schemeClr val="dk1"/>
                </a:solidFill>
              </a:rPr>
              <a:t>("data.txt")));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FileInputStream</a:t>
            </a:r>
            <a:r>
              <a:rPr lang="en" sz="1200">
                <a:solidFill>
                  <a:schemeClr val="dk1"/>
                </a:solidFill>
              </a:rPr>
              <a:t> — the core component; just reads raw bytes.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InputStreamReader</a:t>
            </a:r>
            <a:r>
              <a:rPr lang="en" sz="1200">
                <a:solidFill>
                  <a:schemeClr val="dk1"/>
                </a:solidFill>
              </a:rPr>
              <a:t> — decorator that adds byte→character conversion.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BufferedReader</a:t>
            </a:r>
            <a:r>
              <a:rPr lang="en" sz="1200">
                <a:solidFill>
                  <a:schemeClr val="dk1"/>
                </a:solidFill>
              </a:rPr>
              <a:t> — decorator that adds buffering + </a:t>
            </a: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readLine()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Each wrapper implements the same interface as what it wraps, and </a:t>
            </a:r>
            <a:r>
              <a:rPr b="1" lang="en" sz="1200">
                <a:solidFill>
                  <a:schemeClr val="dk1"/>
                </a:solidFill>
              </a:rPr>
              <a:t>adds behavior without touching the original class</a:t>
            </a:r>
            <a:r>
              <a:rPr lang="en" sz="1200">
                <a:solidFill>
                  <a:schemeClr val="dk1"/>
                </a:solidFill>
              </a:rPr>
              <a:t>. That's the whole point of the pattern — open for extension, closed for modification.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64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Template Method</a:t>
            </a:r>
            <a:endParaRPr/>
          </a:p>
        </p:txBody>
      </p:sp>
      <p:pic>
        <p:nvPicPr>
          <p:cNvPr id="67" name="Google Shape;67;p15" title="Screenshot from 2026-07-25 08-23-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9226" y="754475"/>
            <a:ext cx="3626524" cy="430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>
            <a:off x="2597725" y="2680850"/>
            <a:ext cx="696300" cy="259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2656600" y="3477500"/>
            <a:ext cx="696300" cy="259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Screenshot from 2026-07-25 08-29-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3225" y="2033588"/>
            <a:ext cx="4133850" cy="10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264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Template Method</a:t>
            </a:r>
            <a:endParaRPr/>
          </a:p>
        </p:txBody>
      </p:sp>
      <p:pic>
        <p:nvPicPr>
          <p:cNvPr id="76" name="Google Shape;76;p16" title="Screenshot from 2026-07-25 08-29-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4350" y="1690701"/>
            <a:ext cx="5682975" cy="14796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>
            <p:ph type="title"/>
          </p:nvPr>
        </p:nvSpPr>
        <p:spPr>
          <a:xfrm>
            <a:off x="3844575" y="1276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400"/>
              <a:t>Standard way</a:t>
            </a:r>
            <a:endParaRPr b="1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Bridge Pattern</a:t>
            </a:r>
            <a:endParaRPr/>
          </a:p>
        </p:txBody>
      </p:sp>
      <p:pic>
        <p:nvPicPr>
          <p:cNvPr id="83" name="Google Shape;83;p17" title="Screenshot from 2026-07-25 10-09-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4325" y="1076600"/>
            <a:ext cx="537540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Bridge Pattern</a:t>
            </a:r>
            <a:endParaRPr/>
          </a:p>
        </p:txBody>
      </p:sp>
      <p:pic>
        <p:nvPicPr>
          <p:cNvPr id="89" name="Google Shape;89;p18" title="Screenshot from 2026-07-25 10-09-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" y="1180525"/>
            <a:ext cx="6705600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Bridge Pattern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-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separates an abstraction from its implementation so that both can vary independently.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-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useful when you have two independent dimensions of variation. Instead of creating subclasses for every combination, you connect the two hierarchies using composition.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-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Suppose your application can send notifications through different channels.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Abstraction</a:t>
            </a:r>
            <a:endParaRPr b="1" sz="17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Alert Notification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Promotion Notification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OTP Notification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Implementation</a:t>
            </a:r>
            <a:endParaRPr b="1" sz="17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Email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SMS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Push Notification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19" title="Screenshot from 2026-07-25 10-01-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1275" y="2488613"/>
            <a:ext cx="1200150" cy="22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 title="Screenshot from 2026-07-25 10-02-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675" y="1181100"/>
            <a:ext cx="2047875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363675" y="467600"/>
            <a:ext cx="598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With Bridge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3" name="Google Shape;103;p20"/>
          <p:cNvSpPr/>
          <p:nvPr/>
        </p:nvSpPr>
        <p:spPr>
          <a:xfrm>
            <a:off x="2618525" y="935200"/>
            <a:ext cx="2722200" cy="328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interface MessageSender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void send(String msg);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class EmailSender implements MessageSender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public void send(String msg){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System.out.println("Email: " + msg);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…..</a:t>
            </a:r>
            <a:endParaRPr sz="1200"/>
          </a:p>
        </p:txBody>
      </p:sp>
      <p:sp>
        <p:nvSpPr>
          <p:cNvPr id="104" name="Google Shape;104;p20"/>
          <p:cNvSpPr/>
          <p:nvPr/>
        </p:nvSpPr>
        <p:spPr>
          <a:xfrm>
            <a:off x="5701150" y="62350"/>
            <a:ext cx="3131100" cy="502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abstract class Notification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protected MessageSender sender;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Notification(MessageSender sender){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this.sender = sender;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abstract void notifyUser();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class AlertNotification extends Notification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AlertNotification(MessageSender sender){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super(sender);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void notifyUser(){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sender.send("Server is down!");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…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