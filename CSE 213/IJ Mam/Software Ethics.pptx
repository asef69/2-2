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Plus Jakarta Sans"/>
      <p:regular r:id="rId19"/>
      <p:bold r:id="rId20"/>
      <p:italic r:id="rId21"/>
      <p:boldItalic r:id="rId22"/>
    </p:embeddedFont>
    <p:embeddedFont>
      <p:font typeface="Inter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781D790-4438-42AA-BF33-39AE776D5170}">
  <a:tblStyle styleId="{B781D790-4438-42AA-BF33-39AE776D517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usJakartaSans-bold.fntdata"/><Relationship Id="rId22" Type="http://schemas.openxmlformats.org/officeDocument/2006/relationships/font" Target="fonts/PlusJakartaSans-boldItalic.fntdata"/><Relationship Id="rId21" Type="http://schemas.openxmlformats.org/officeDocument/2006/relationships/font" Target="fonts/PlusJakartaSans-italic.fntdata"/><Relationship Id="rId24" Type="http://schemas.openxmlformats.org/officeDocument/2006/relationships/font" Target="fonts/Inter-bold.fntdata"/><Relationship Id="rId23" Type="http://schemas.openxmlformats.org/officeDocument/2006/relationships/font" Target="fonts/Inter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nter-boldItalic.fntdata"/><Relationship Id="rId25" Type="http://schemas.openxmlformats.org/officeDocument/2006/relationships/font" Target="fonts/Inter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PlusJakartaSans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h26e1a37f70b22371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h26e1a37f70b22371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12.png"/><Relationship Id="rId7" Type="http://schemas.openxmlformats.org/officeDocument/2006/relationships/image" Target="../media/image4.png"/><Relationship Id="rId8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10" Type="http://schemas.openxmlformats.org/officeDocument/2006/relationships/image" Target="../media/image16.png"/><Relationship Id="rId9" Type="http://schemas.openxmlformats.org/officeDocument/2006/relationships/image" Target="../media/image11.png"/><Relationship Id="rId5" Type="http://schemas.openxmlformats.org/officeDocument/2006/relationships/image" Target="../media/image10.png"/><Relationship Id="rId6" Type="http://schemas.openxmlformats.org/officeDocument/2006/relationships/image" Target="../media/image15.png"/><Relationship Id="rId7" Type="http://schemas.openxmlformats.org/officeDocument/2006/relationships/image" Target="../media/image7.png"/><Relationship Id="rId8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1645500" y="3150859"/>
            <a:ext cx="8901000" cy="9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Software Ethics 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1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4"/>
          <p:cNvSpPr/>
          <p:nvPr/>
        </p:nvSpPr>
        <p:spPr>
          <a:xfrm>
            <a:off x="762000" y="3646140"/>
            <a:ext cx="28575" cy="228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4"/>
          <p:cNvSpPr/>
          <p:nvPr/>
        </p:nvSpPr>
        <p:spPr>
          <a:xfrm>
            <a:off x="762000" y="4960590"/>
            <a:ext cx="609600" cy="3810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4"/>
          <p:cNvSpPr txBox="1"/>
          <p:nvPr/>
        </p:nvSpPr>
        <p:spPr>
          <a:xfrm>
            <a:off x="914400" y="3526890"/>
            <a:ext cx="11277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3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"With great power comes great responsibility." — Uncle Ben </a:t>
            </a:r>
            <a:endParaRPr sz="2200">
              <a:solidFill>
                <a:schemeClr val="dk1"/>
              </a:solidFill>
            </a:endParaRPr>
          </a:p>
        </p:txBody>
      </p:sp>
      <p:sp>
        <p:nvSpPr>
          <p:cNvPr id="92" name="Google Shape;92;p14"/>
          <p:cNvSpPr txBox="1"/>
          <p:nvPr/>
        </p:nvSpPr>
        <p:spPr>
          <a:xfrm>
            <a:off x="762000" y="4103350"/>
            <a:ext cx="117804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Why building software is never a value-neutral act: guiding engineering decisions to protect human wellbeing, </a:t>
            </a:r>
            <a:endParaRPr b="0" i="0" sz="16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digital rights, and public trust.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/>
          <p:nvPr/>
        </p:nvSpPr>
        <p:spPr>
          <a:xfrm>
            <a:off x="609600" y="1419225"/>
            <a:ext cx="10972800" cy="1162050"/>
          </a:xfrm>
          <a:prstGeom prst="roundRect">
            <a:avLst>
              <a:gd fmla="val 13114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5"/>
          <p:cNvSpPr/>
          <p:nvPr/>
        </p:nvSpPr>
        <p:spPr>
          <a:xfrm>
            <a:off x="609600" y="2847975"/>
            <a:ext cx="3505200" cy="3476625"/>
          </a:xfrm>
          <a:prstGeom prst="roundRect">
            <a:avLst>
              <a:gd fmla="val 328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5"/>
          <p:cNvSpPr/>
          <p:nvPr/>
        </p:nvSpPr>
        <p:spPr>
          <a:xfrm>
            <a:off x="4343400" y="2847975"/>
            <a:ext cx="3505200" cy="3476625"/>
          </a:xfrm>
          <a:prstGeom prst="roundRect">
            <a:avLst>
              <a:gd fmla="val 328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5"/>
          <p:cNvSpPr/>
          <p:nvPr/>
        </p:nvSpPr>
        <p:spPr>
          <a:xfrm>
            <a:off x="8077200" y="2847975"/>
            <a:ext cx="3505200" cy="3476625"/>
          </a:xfrm>
          <a:prstGeom prst="roundRect">
            <a:avLst>
              <a:gd fmla="val 328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1" name="Google Shape;10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7725" y="308610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81525" y="308610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15325" y="308610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28687" y="3190875"/>
            <a:ext cx="21907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62487" y="3190875"/>
            <a:ext cx="21907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20100" y="3190875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FOUNDATIONAL PHILOSOPHY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609600" y="771525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Fundamental Ethical Question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968575" y="1603725"/>
            <a:ext cx="11201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"Does this system do what it should, for whom it should, without harm?"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968575" y="1965675"/>
            <a:ext cx="1120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Code is never neutral — every architectural and algorithmic choice encodes human values, assumptions, </a:t>
            </a:r>
            <a:endParaRPr b="0" i="0" u="none" cap="none" strike="noStrike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and societal consequences.</a:t>
            </a:r>
            <a:endParaRPr sz="1600"/>
          </a:p>
        </p:txBody>
      </p:sp>
      <p:sp>
        <p:nvSpPr>
          <p:cNvPr id="111" name="Google Shape;111;p15"/>
          <p:cNvSpPr txBox="1"/>
          <p:nvPr/>
        </p:nvSpPr>
        <p:spPr>
          <a:xfrm>
            <a:off x="847725" y="3581400"/>
            <a:ext cx="39756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Moral Judgment Over </a:t>
            </a:r>
            <a:endParaRPr b="1" i="0" sz="1750" u="none" cap="none" strike="noStrike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Algorithms</a:t>
            </a:r>
            <a:endParaRPr sz="1800"/>
          </a:p>
        </p:txBody>
      </p:sp>
      <p:sp>
        <p:nvSpPr>
          <p:cNvPr id="112" name="Google Shape;112;p15"/>
          <p:cNvSpPr txBox="1"/>
          <p:nvPr/>
        </p:nvSpPr>
        <p:spPr>
          <a:xfrm>
            <a:off x="847725" y="4156425"/>
            <a:ext cx="3124200" cy="15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Ethical codes are not simple automated rules; they require active assessment of tradeoffs and consequences.</a:t>
            </a:r>
            <a:endParaRPr sz="2100"/>
          </a:p>
        </p:txBody>
      </p:sp>
      <p:sp>
        <p:nvSpPr>
          <p:cNvPr id="113" name="Google Shape;113;p15"/>
          <p:cNvSpPr txBox="1"/>
          <p:nvPr/>
        </p:nvSpPr>
        <p:spPr>
          <a:xfrm>
            <a:off x="4581525" y="3581400"/>
            <a:ext cx="39756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Public Welfare Priority</a:t>
            </a:r>
            <a:endParaRPr sz="1800"/>
          </a:p>
        </p:txBody>
      </p:sp>
      <p:sp>
        <p:nvSpPr>
          <p:cNvPr id="114" name="Google Shape;114;p15"/>
          <p:cNvSpPr txBox="1"/>
          <p:nvPr/>
        </p:nvSpPr>
        <p:spPr>
          <a:xfrm>
            <a:off x="4581525" y="3876675"/>
            <a:ext cx="3124200" cy="15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Engineers carry an absolute duty to prioritize societal safety and rights over corporate deadline pressure.</a:t>
            </a:r>
            <a:endParaRPr sz="2100"/>
          </a:p>
        </p:txBody>
      </p:sp>
      <p:sp>
        <p:nvSpPr>
          <p:cNvPr id="115" name="Google Shape;115;p15"/>
          <p:cNvSpPr txBox="1"/>
          <p:nvPr/>
        </p:nvSpPr>
        <p:spPr>
          <a:xfrm>
            <a:off x="8315325" y="3581400"/>
            <a:ext cx="38766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Preventing Negligence</a:t>
            </a:r>
            <a:endParaRPr sz="1800"/>
          </a:p>
        </p:txBody>
      </p:sp>
      <p:sp>
        <p:nvSpPr>
          <p:cNvPr id="116" name="Google Shape;116;p15"/>
          <p:cNvSpPr txBox="1"/>
          <p:nvPr/>
        </p:nvSpPr>
        <p:spPr>
          <a:xfrm>
            <a:off x="8315325" y="3876675"/>
            <a:ext cx="3124200" cy="15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Ignoring known safety risks or rushing defective code directly endangers human life and livelihoods.</a:t>
            </a:r>
            <a:endParaRPr sz="2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/>
          <p:nvPr/>
        </p:nvSpPr>
        <p:spPr>
          <a:xfrm>
            <a:off x="609600" y="1945475"/>
            <a:ext cx="2736300" cy="1377900"/>
          </a:xfrm>
          <a:prstGeom prst="roundRect">
            <a:avLst>
              <a:gd fmla="val 8633" name="adj"/>
            </a:avLst>
          </a:prstGeom>
          <a:solidFill>
            <a:srgbClr val="FFFFFF"/>
          </a:solidFill>
          <a:ln cap="flat" cmpd="sng" w="99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575" lIns="95175" spcFirstLastPara="1" rIns="95175" wrap="square" tIns="47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6"/>
          <p:cNvSpPr/>
          <p:nvPr/>
        </p:nvSpPr>
        <p:spPr>
          <a:xfrm>
            <a:off x="3504621" y="1945475"/>
            <a:ext cx="2736300" cy="1377900"/>
          </a:xfrm>
          <a:prstGeom prst="roundRect">
            <a:avLst>
              <a:gd fmla="val 8633" name="adj"/>
            </a:avLst>
          </a:prstGeom>
          <a:solidFill>
            <a:srgbClr val="FFFFFF"/>
          </a:solidFill>
          <a:ln cap="flat" cmpd="sng" w="99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575" lIns="95175" spcFirstLastPara="1" rIns="95175" wrap="square" tIns="47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6399642" y="1945475"/>
            <a:ext cx="2736300" cy="1377900"/>
          </a:xfrm>
          <a:prstGeom prst="roundRect">
            <a:avLst>
              <a:gd fmla="val 8633" name="adj"/>
            </a:avLst>
          </a:prstGeom>
          <a:solidFill>
            <a:srgbClr val="FFFFFF"/>
          </a:solidFill>
          <a:ln cap="flat" cmpd="sng" w="99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575" lIns="95175" spcFirstLastPara="1" rIns="95175" wrap="square" tIns="47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6"/>
          <p:cNvSpPr/>
          <p:nvPr/>
        </p:nvSpPr>
        <p:spPr>
          <a:xfrm>
            <a:off x="9294663" y="1945475"/>
            <a:ext cx="2736300" cy="1377900"/>
          </a:xfrm>
          <a:prstGeom prst="roundRect">
            <a:avLst>
              <a:gd fmla="val 8633" name="adj"/>
            </a:avLst>
          </a:prstGeom>
          <a:solidFill>
            <a:srgbClr val="FFFFFF"/>
          </a:solidFill>
          <a:ln cap="flat" cmpd="sng" w="99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575" lIns="95175" spcFirstLastPara="1" rIns="95175" wrap="square" tIns="47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6"/>
          <p:cNvSpPr/>
          <p:nvPr/>
        </p:nvSpPr>
        <p:spPr>
          <a:xfrm>
            <a:off x="609600" y="4116316"/>
            <a:ext cx="2736300" cy="1377900"/>
          </a:xfrm>
          <a:prstGeom prst="roundRect">
            <a:avLst>
              <a:gd fmla="val 8633" name="adj"/>
            </a:avLst>
          </a:prstGeom>
          <a:solidFill>
            <a:srgbClr val="FFFFFF"/>
          </a:solidFill>
          <a:ln cap="flat" cmpd="sng" w="99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575" lIns="95175" spcFirstLastPara="1" rIns="95175" wrap="square" tIns="47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6"/>
          <p:cNvSpPr/>
          <p:nvPr/>
        </p:nvSpPr>
        <p:spPr>
          <a:xfrm>
            <a:off x="3504621" y="4116316"/>
            <a:ext cx="2736300" cy="1377900"/>
          </a:xfrm>
          <a:prstGeom prst="roundRect">
            <a:avLst>
              <a:gd fmla="val 8633" name="adj"/>
            </a:avLst>
          </a:prstGeom>
          <a:solidFill>
            <a:srgbClr val="FFFFFF"/>
          </a:solidFill>
          <a:ln cap="flat" cmpd="sng" w="99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575" lIns="95175" spcFirstLastPara="1" rIns="95175" wrap="square" tIns="47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6"/>
          <p:cNvSpPr/>
          <p:nvPr/>
        </p:nvSpPr>
        <p:spPr>
          <a:xfrm>
            <a:off x="6399642" y="4116316"/>
            <a:ext cx="2736300" cy="1377900"/>
          </a:xfrm>
          <a:prstGeom prst="roundRect">
            <a:avLst>
              <a:gd fmla="val 8633" name="adj"/>
            </a:avLst>
          </a:prstGeom>
          <a:solidFill>
            <a:srgbClr val="FFFFFF"/>
          </a:solidFill>
          <a:ln cap="flat" cmpd="sng" w="99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575" lIns="95175" spcFirstLastPara="1" rIns="95175" wrap="square" tIns="47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6"/>
          <p:cNvSpPr/>
          <p:nvPr/>
        </p:nvSpPr>
        <p:spPr>
          <a:xfrm>
            <a:off x="9294663" y="4116316"/>
            <a:ext cx="2736300" cy="1377900"/>
          </a:xfrm>
          <a:prstGeom prst="roundRect">
            <a:avLst>
              <a:gd fmla="val 8633" name="adj"/>
            </a:avLst>
          </a:prstGeom>
          <a:solidFill>
            <a:srgbClr val="FFFFFF"/>
          </a:solidFill>
          <a:ln cap="flat" cmpd="sng" w="99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575" lIns="95175" spcFirstLastPara="1" rIns="95175" wrap="square" tIns="47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9" name="Google Shape;12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9625" y="2145506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12824" y="2153679"/>
            <a:ext cx="247861" cy="1982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07845" y="2153679"/>
            <a:ext cx="198289" cy="1982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02866" y="2153679"/>
            <a:ext cx="228032" cy="1982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9625" y="4212943"/>
            <a:ext cx="2190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712824" y="4324520"/>
            <a:ext cx="198289" cy="1982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607845" y="4324520"/>
            <a:ext cx="198289" cy="1982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502866" y="4324520"/>
            <a:ext cx="198289" cy="198289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/>
          <p:cNvSpPr txBox="1"/>
          <p:nvPr/>
        </p:nvSpPr>
        <p:spPr>
          <a:xfrm>
            <a:off x="609600" y="771525"/>
            <a:ext cx="1158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Key Dimensions of Software Ethics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817804" y="2451113"/>
            <a:ext cx="30450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49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1. Data Privacy</a:t>
            </a:r>
            <a:endParaRPr sz="1457"/>
          </a:p>
        </p:txBody>
      </p:sp>
      <p:sp>
        <p:nvSpPr>
          <p:cNvPr id="139" name="Google Shape;139;p16"/>
          <p:cNvSpPr txBox="1"/>
          <p:nvPr/>
        </p:nvSpPr>
        <p:spPr>
          <a:xfrm>
            <a:off x="817804" y="2698975"/>
            <a:ext cx="2419200" cy="4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Informed consent &amp; minimal data collection.</a:t>
            </a:r>
            <a:endParaRPr sz="1457"/>
          </a:p>
        </p:txBody>
      </p:sp>
      <p:sp>
        <p:nvSpPr>
          <p:cNvPr id="140" name="Google Shape;140;p16"/>
          <p:cNvSpPr txBox="1"/>
          <p:nvPr/>
        </p:nvSpPr>
        <p:spPr>
          <a:xfrm>
            <a:off x="3712824" y="2451113"/>
            <a:ext cx="30450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49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2. Bias &amp; Fairness</a:t>
            </a:r>
            <a:endParaRPr sz="1457"/>
          </a:p>
        </p:txBody>
      </p:sp>
      <p:sp>
        <p:nvSpPr>
          <p:cNvPr id="141" name="Google Shape;141;p16"/>
          <p:cNvSpPr txBox="1"/>
          <p:nvPr/>
        </p:nvSpPr>
        <p:spPr>
          <a:xfrm>
            <a:off x="3712824" y="2698975"/>
            <a:ext cx="2419200" cy="4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Auditing systems against systemic discrimination.</a:t>
            </a:r>
            <a:endParaRPr sz="1457"/>
          </a:p>
        </p:txBody>
      </p:sp>
      <p:sp>
        <p:nvSpPr>
          <p:cNvPr id="142" name="Google Shape;142;p16"/>
          <p:cNvSpPr txBox="1"/>
          <p:nvPr/>
        </p:nvSpPr>
        <p:spPr>
          <a:xfrm>
            <a:off x="6607845" y="2451113"/>
            <a:ext cx="30450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49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3. Accountability</a:t>
            </a:r>
            <a:endParaRPr sz="1457"/>
          </a:p>
        </p:txBody>
      </p:sp>
      <p:sp>
        <p:nvSpPr>
          <p:cNvPr id="143" name="Google Shape;143;p16"/>
          <p:cNvSpPr txBox="1"/>
          <p:nvPr/>
        </p:nvSpPr>
        <p:spPr>
          <a:xfrm>
            <a:off x="6607845" y="2698975"/>
            <a:ext cx="2419200" cy="4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Human ownership of system outcomes.</a:t>
            </a:r>
            <a:endParaRPr sz="1457"/>
          </a:p>
        </p:txBody>
      </p:sp>
      <p:sp>
        <p:nvSpPr>
          <p:cNvPr id="144" name="Google Shape;144;p16"/>
          <p:cNvSpPr txBox="1"/>
          <p:nvPr/>
        </p:nvSpPr>
        <p:spPr>
          <a:xfrm>
            <a:off x="9502866" y="2451113"/>
            <a:ext cx="30450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49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4. Transparency</a:t>
            </a:r>
            <a:endParaRPr sz="1457"/>
          </a:p>
        </p:txBody>
      </p:sp>
      <p:sp>
        <p:nvSpPr>
          <p:cNvPr id="145" name="Google Shape;145;p16"/>
          <p:cNvSpPr txBox="1"/>
          <p:nvPr/>
        </p:nvSpPr>
        <p:spPr>
          <a:xfrm>
            <a:off x="9502866" y="2698975"/>
            <a:ext cx="2419200" cy="4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Auditable decision paths for users.</a:t>
            </a:r>
            <a:endParaRPr sz="1457"/>
          </a:p>
        </p:txBody>
      </p:sp>
      <p:sp>
        <p:nvSpPr>
          <p:cNvPr id="146" name="Google Shape;146;p16"/>
          <p:cNvSpPr txBox="1"/>
          <p:nvPr/>
        </p:nvSpPr>
        <p:spPr>
          <a:xfrm>
            <a:off x="817804" y="4621954"/>
            <a:ext cx="30450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49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5. Autonomy</a:t>
            </a:r>
            <a:endParaRPr sz="1457"/>
          </a:p>
        </p:txBody>
      </p:sp>
      <p:sp>
        <p:nvSpPr>
          <p:cNvPr id="147" name="Google Shape;147;p16"/>
          <p:cNvSpPr txBox="1"/>
          <p:nvPr/>
        </p:nvSpPr>
        <p:spPr>
          <a:xfrm>
            <a:off x="817804" y="4869816"/>
            <a:ext cx="2419200" cy="4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Eliminating deceptive dark patterns.</a:t>
            </a:r>
            <a:endParaRPr sz="1457"/>
          </a:p>
        </p:txBody>
      </p:sp>
      <p:sp>
        <p:nvSpPr>
          <p:cNvPr id="148" name="Google Shape;148;p16"/>
          <p:cNvSpPr txBox="1"/>
          <p:nvPr/>
        </p:nvSpPr>
        <p:spPr>
          <a:xfrm>
            <a:off x="3712824" y="4621954"/>
            <a:ext cx="30450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49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6. Security Duty</a:t>
            </a:r>
            <a:endParaRPr sz="1457"/>
          </a:p>
        </p:txBody>
      </p:sp>
      <p:sp>
        <p:nvSpPr>
          <p:cNvPr id="149" name="Google Shape;149;p16"/>
          <p:cNvSpPr txBox="1"/>
          <p:nvPr/>
        </p:nvSpPr>
        <p:spPr>
          <a:xfrm>
            <a:off x="3712824" y="4869816"/>
            <a:ext cx="2419200" cy="4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Addressing negligent flaws as ethical failures.</a:t>
            </a:r>
            <a:endParaRPr sz="1457"/>
          </a:p>
        </p:txBody>
      </p:sp>
      <p:sp>
        <p:nvSpPr>
          <p:cNvPr id="150" name="Google Shape;150;p16"/>
          <p:cNvSpPr txBox="1"/>
          <p:nvPr/>
        </p:nvSpPr>
        <p:spPr>
          <a:xfrm>
            <a:off x="6607845" y="4621954"/>
            <a:ext cx="30450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49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7. Sustainability</a:t>
            </a:r>
            <a:endParaRPr sz="1457"/>
          </a:p>
        </p:txBody>
      </p:sp>
      <p:sp>
        <p:nvSpPr>
          <p:cNvPr id="151" name="Google Shape;151;p16"/>
          <p:cNvSpPr txBox="1"/>
          <p:nvPr/>
        </p:nvSpPr>
        <p:spPr>
          <a:xfrm>
            <a:off x="6607845" y="4869816"/>
            <a:ext cx="2419200" cy="4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Minimizing carbon &amp; compute footprints.</a:t>
            </a:r>
            <a:endParaRPr sz="1457"/>
          </a:p>
        </p:txBody>
      </p:sp>
      <p:sp>
        <p:nvSpPr>
          <p:cNvPr id="152" name="Google Shape;152;p16"/>
          <p:cNvSpPr txBox="1"/>
          <p:nvPr/>
        </p:nvSpPr>
        <p:spPr>
          <a:xfrm>
            <a:off x="9502866" y="4621954"/>
            <a:ext cx="30450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49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8. IP &amp; Authorship</a:t>
            </a:r>
            <a:endParaRPr sz="1457"/>
          </a:p>
        </p:txBody>
      </p:sp>
      <p:sp>
        <p:nvSpPr>
          <p:cNvPr id="153" name="Google Shape;153;p16"/>
          <p:cNvSpPr txBox="1"/>
          <p:nvPr/>
        </p:nvSpPr>
        <p:spPr>
          <a:xfrm>
            <a:off x="9502866" y="4869816"/>
            <a:ext cx="2419200" cy="4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Fair licensing in AI generative models.</a:t>
            </a:r>
            <a:endParaRPr sz="1457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/>
          <p:nvPr/>
        </p:nvSpPr>
        <p:spPr>
          <a:xfrm>
            <a:off x="161900" y="2506375"/>
            <a:ext cx="6338700" cy="3225600"/>
          </a:xfrm>
          <a:prstGeom prst="roundRect">
            <a:avLst>
              <a:gd fmla="val 5574" name="adj"/>
            </a:avLst>
          </a:prstGeom>
          <a:solidFill>
            <a:srgbClr val="FFFFFF"/>
          </a:solidFill>
          <a:ln cap="flat" cmpd="sng" w="112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3925" lIns="107875" spcFirstLastPara="1" rIns="107875" wrap="square" tIns="53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2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7"/>
          <p:cNvSpPr/>
          <p:nvPr/>
        </p:nvSpPr>
        <p:spPr>
          <a:xfrm>
            <a:off x="6770399" y="2506375"/>
            <a:ext cx="5799300" cy="3225600"/>
          </a:xfrm>
          <a:prstGeom prst="roundRect">
            <a:avLst>
              <a:gd fmla="val 5574" name="adj"/>
            </a:avLst>
          </a:prstGeom>
          <a:solidFill>
            <a:srgbClr val="FFFFFF"/>
          </a:solidFill>
          <a:ln cap="flat" cmpd="sng" w="112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3925" lIns="107875" spcFirstLastPara="1" rIns="107875" wrap="square" tIns="53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2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7"/>
          <p:cNvSpPr/>
          <p:nvPr/>
        </p:nvSpPr>
        <p:spPr>
          <a:xfrm>
            <a:off x="487829" y="4124782"/>
            <a:ext cx="5686800" cy="12813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53925" lIns="107875" spcFirstLastPara="1" rIns="107875" wrap="square" tIns="53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2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7"/>
          <p:cNvSpPr/>
          <p:nvPr/>
        </p:nvSpPr>
        <p:spPr>
          <a:xfrm>
            <a:off x="7096324" y="4124775"/>
            <a:ext cx="5095800" cy="12813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53925" lIns="107875" spcFirstLastPara="1" rIns="107875" wrap="square" tIns="53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2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7"/>
          <p:cNvSpPr/>
          <p:nvPr/>
        </p:nvSpPr>
        <p:spPr>
          <a:xfrm>
            <a:off x="487829" y="2832304"/>
            <a:ext cx="1168800" cy="258600"/>
          </a:xfrm>
          <a:prstGeom prst="roundRect">
            <a:avLst>
              <a:gd fmla="val 26086" name="adj"/>
            </a:avLst>
          </a:prstGeom>
          <a:solidFill>
            <a:srgbClr val="EFF6FF"/>
          </a:solidFill>
          <a:ln>
            <a:noFill/>
          </a:ln>
        </p:spPr>
        <p:txBody>
          <a:bodyPr anchorCtr="0" anchor="ctr" bIns="53925" lIns="107875" spcFirstLastPara="1" rIns="107875" wrap="square" tIns="53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2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7"/>
          <p:cNvSpPr/>
          <p:nvPr/>
        </p:nvSpPr>
        <p:spPr>
          <a:xfrm>
            <a:off x="438125" y="3877975"/>
            <a:ext cx="38100" cy="1086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7"/>
          <p:cNvSpPr/>
          <p:nvPr/>
        </p:nvSpPr>
        <p:spPr>
          <a:xfrm>
            <a:off x="7096320" y="2832304"/>
            <a:ext cx="1191600" cy="258300"/>
          </a:xfrm>
          <a:prstGeom prst="roundRect">
            <a:avLst>
              <a:gd fmla="val 26086" name="adj"/>
            </a:avLst>
          </a:prstGeom>
          <a:solidFill>
            <a:srgbClr val="F0FDF4"/>
          </a:solidFill>
          <a:ln>
            <a:noFill/>
          </a:ln>
        </p:spPr>
        <p:txBody>
          <a:bodyPr anchorCtr="0" anchor="ctr" bIns="53925" lIns="107875" spcFirstLastPara="1" rIns="107875" wrap="square" tIns="53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2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7"/>
          <p:cNvSpPr/>
          <p:nvPr/>
        </p:nvSpPr>
        <p:spPr>
          <a:xfrm>
            <a:off x="7096320" y="4124782"/>
            <a:ext cx="45000" cy="12813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53925" lIns="107875" spcFirstLastPara="1" rIns="107875" wrap="square" tIns="53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2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7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DIMENSIONS 1 &amp; 2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609600" y="771525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Privacy &amp; Data Ethics vs. Bias &amp; Fairness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600218" y="2877260"/>
            <a:ext cx="1056600" cy="1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2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DIMENSION 01</a:t>
            </a:r>
            <a:endParaRPr sz="1652"/>
          </a:p>
        </p:txBody>
      </p:sp>
      <p:sp>
        <p:nvSpPr>
          <p:cNvPr id="169" name="Google Shape;169;p17"/>
          <p:cNvSpPr txBox="1"/>
          <p:nvPr/>
        </p:nvSpPr>
        <p:spPr>
          <a:xfrm>
            <a:off x="487829" y="3146994"/>
            <a:ext cx="7464000" cy="2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7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Privacy &amp; Data Ethics</a:t>
            </a:r>
            <a:endParaRPr sz="1652"/>
          </a:p>
        </p:txBody>
      </p:sp>
      <p:sp>
        <p:nvSpPr>
          <p:cNvPr id="170" name="Google Shape;170;p17"/>
          <p:cNvSpPr txBox="1"/>
          <p:nvPr/>
        </p:nvSpPr>
        <p:spPr>
          <a:xfrm>
            <a:off x="487829" y="3472924"/>
            <a:ext cx="57993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93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Consent must be informed, explicit, and unburied. Gather only necessary data.</a:t>
            </a:r>
            <a:endParaRPr sz="1652"/>
          </a:p>
        </p:txBody>
      </p:sp>
      <p:sp>
        <p:nvSpPr>
          <p:cNvPr id="171" name="Google Shape;171;p17"/>
          <p:cNvSpPr txBox="1"/>
          <p:nvPr/>
        </p:nvSpPr>
        <p:spPr>
          <a:xfrm>
            <a:off x="712608" y="4304605"/>
            <a:ext cx="6602700" cy="1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2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CASE STUDY: CAMBRIDGE ANALYTICA (2018)</a:t>
            </a:r>
            <a:endParaRPr sz="1652"/>
          </a:p>
        </p:txBody>
      </p:sp>
      <p:sp>
        <p:nvSpPr>
          <p:cNvPr id="172" name="Google Shape;172;p17"/>
          <p:cNvSpPr txBox="1"/>
          <p:nvPr/>
        </p:nvSpPr>
        <p:spPr>
          <a:xfrm>
            <a:off x="712608" y="4518145"/>
            <a:ext cx="5394600" cy="7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93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Facebook data of 87M users harvested via quiz apps for political psychographics without explicit consent. Resulted in a $5B FTC fine.</a:t>
            </a:r>
            <a:endParaRPr sz="1652"/>
          </a:p>
        </p:txBody>
      </p:sp>
      <p:sp>
        <p:nvSpPr>
          <p:cNvPr id="173" name="Google Shape;173;p17"/>
          <p:cNvSpPr txBox="1"/>
          <p:nvPr/>
        </p:nvSpPr>
        <p:spPr>
          <a:xfrm>
            <a:off x="7208709" y="2877260"/>
            <a:ext cx="1078800" cy="1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2" u="none" cap="none" strike="noStrike">
                <a:solidFill>
                  <a:srgbClr val="16A34A"/>
                </a:solidFill>
                <a:latin typeface="Inter"/>
                <a:ea typeface="Inter"/>
                <a:cs typeface="Inter"/>
                <a:sym typeface="Inter"/>
              </a:rPr>
              <a:t>DIMENSION 02</a:t>
            </a:r>
            <a:endParaRPr sz="1652"/>
          </a:p>
        </p:txBody>
      </p:sp>
      <p:sp>
        <p:nvSpPr>
          <p:cNvPr id="174" name="Google Shape;174;p17"/>
          <p:cNvSpPr txBox="1"/>
          <p:nvPr/>
        </p:nvSpPr>
        <p:spPr>
          <a:xfrm>
            <a:off x="7096320" y="3146994"/>
            <a:ext cx="6732000" cy="2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7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Algorithmic Bias &amp; Fairness</a:t>
            </a:r>
            <a:endParaRPr sz="1652"/>
          </a:p>
        </p:txBody>
      </p:sp>
      <p:sp>
        <p:nvSpPr>
          <p:cNvPr id="175" name="Google Shape;175;p17"/>
          <p:cNvSpPr txBox="1"/>
          <p:nvPr/>
        </p:nvSpPr>
        <p:spPr>
          <a:xfrm>
            <a:off x="7096320" y="3472924"/>
            <a:ext cx="57993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93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Algorithms encode historical human biases unless proactively tested and mitigated.</a:t>
            </a:r>
            <a:endParaRPr sz="1652"/>
          </a:p>
        </p:txBody>
      </p:sp>
      <p:sp>
        <p:nvSpPr>
          <p:cNvPr id="176" name="Google Shape;176;p17"/>
          <p:cNvSpPr txBox="1"/>
          <p:nvPr/>
        </p:nvSpPr>
        <p:spPr>
          <a:xfrm>
            <a:off x="7321098" y="4304605"/>
            <a:ext cx="6507300" cy="1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2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CASE STUDY: AMAZON AI RECRUITING (2018)</a:t>
            </a:r>
            <a:endParaRPr sz="1652"/>
          </a:p>
        </p:txBody>
      </p:sp>
      <p:sp>
        <p:nvSpPr>
          <p:cNvPr id="177" name="Google Shape;177;p17"/>
          <p:cNvSpPr txBox="1"/>
          <p:nvPr/>
        </p:nvSpPr>
        <p:spPr>
          <a:xfrm>
            <a:off x="7321100" y="4518150"/>
            <a:ext cx="4366800" cy="9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93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Internal hiring tool trained on 10-year </a:t>
            </a:r>
            <a:endParaRPr b="0" i="0" sz="1593" u="none" cap="none" strike="noStrike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93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male-dominated resumes penalized </a:t>
            </a:r>
            <a:endParaRPr b="0" i="0" sz="1593" u="none" cap="none" strike="noStrike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93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candidates with the word "women's".</a:t>
            </a:r>
            <a:endParaRPr b="0" i="0" sz="1593" u="none" cap="none" strike="noStrike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93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Scrapped before deployment.</a:t>
            </a:r>
            <a:endParaRPr sz="1652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8"/>
          <p:cNvSpPr/>
          <p:nvPr/>
        </p:nvSpPr>
        <p:spPr>
          <a:xfrm>
            <a:off x="609600" y="2486025"/>
            <a:ext cx="5372100" cy="3673200"/>
          </a:xfrm>
          <a:prstGeom prst="roundRect">
            <a:avLst>
              <a:gd fmla="val 557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8"/>
          <p:cNvSpPr/>
          <p:nvPr/>
        </p:nvSpPr>
        <p:spPr>
          <a:xfrm>
            <a:off x="6210300" y="2486025"/>
            <a:ext cx="5372100" cy="3673200"/>
          </a:xfrm>
          <a:prstGeom prst="roundRect">
            <a:avLst>
              <a:gd fmla="val 557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8"/>
          <p:cNvSpPr/>
          <p:nvPr/>
        </p:nvSpPr>
        <p:spPr>
          <a:xfrm>
            <a:off x="885825" y="4329113"/>
            <a:ext cx="4819800" cy="14592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8"/>
          <p:cNvSpPr/>
          <p:nvPr/>
        </p:nvSpPr>
        <p:spPr>
          <a:xfrm>
            <a:off x="6486525" y="4329113"/>
            <a:ext cx="4819800" cy="14592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8"/>
          <p:cNvSpPr/>
          <p:nvPr/>
        </p:nvSpPr>
        <p:spPr>
          <a:xfrm>
            <a:off x="885825" y="2762250"/>
            <a:ext cx="1019175" cy="219075"/>
          </a:xfrm>
          <a:prstGeom prst="roundRect">
            <a:avLst>
              <a:gd fmla="val 26086" name="adj"/>
            </a:avLst>
          </a:prstGeom>
          <a:solidFill>
            <a:srgbClr val="FEF3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8"/>
          <p:cNvSpPr/>
          <p:nvPr/>
        </p:nvSpPr>
        <p:spPr>
          <a:xfrm>
            <a:off x="885825" y="3857625"/>
            <a:ext cx="38100" cy="108585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8"/>
          <p:cNvSpPr/>
          <p:nvPr/>
        </p:nvSpPr>
        <p:spPr>
          <a:xfrm>
            <a:off x="6486525" y="2762250"/>
            <a:ext cx="1019100" cy="219000"/>
          </a:xfrm>
          <a:prstGeom prst="roundRect">
            <a:avLst>
              <a:gd fmla="val 26086" name="adj"/>
            </a:avLst>
          </a:prstGeom>
          <a:solidFill>
            <a:srgbClr val="FE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8"/>
          <p:cNvSpPr/>
          <p:nvPr/>
        </p:nvSpPr>
        <p:spPr>
          <a:xfrm>
            <a:off x="6486525" y="4329113"/>
            <a:ext cx="38100" cy="1459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8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DIMENSIONS 3 &amp; 4</a:t>
            </a:r>
            <a:endParaRPr/>
          </a:p>
        </p:txBody>
      </p:sp>
      <p:sp>
        <p:nvSpPr>
          <p:cNvPr id="191" name="Google Shape;191;p18"/>
          <p:cNvSpPr txBox="1"/>
          <p:nvPr/>
        </p:nvSpPr>
        <p:spPr>
          <a:xfrm>
            <a:off x="609600" y="771525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Accountability vs. Transparency &amp; Explainability</a:t>
            </a:r>
            <a:endParaRPr/>
          </a:p>
        </p:txBody>
      </p:sp>
      <p:sp>
        <p:nvSpPr>
          <p:cNvPr id="192" name="Google Shape;192;p18"/>
          <p:cNvSpPr txBox="1"/>
          <p:nvPr/>
        </p:nvSpPr>
        <p:spPr>
          <a:xfrm>
            <a:off x="981075" y="2800350"/>
            <a:ext cx="92392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DIMENSION 03</a:t>
            </a:r>
            <a:endParaRPr/>
          </a:p>
        </p:txBody>
      </p:sp>
      <p:sp>
        <p:nvSpPr>
          <p:cNvPr id="193" name="Google Shape;193;p18"/>
          <p:cNvSpPr txBox="1"/>
          <p:nvPr/>
        </p:nvSpPr>
        <p:spPr>
          <a:xfrm>
            <a:off x="885825" y="3028950"/>
            <a:ext cx="63258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System Accountability</a:t>
            </a:r>
            <a:endParaRPr/>
          </a:p>
        </p:txBody>
      </p:sp>
      <p:sp>
        <p:nvSpPr>
          <p:cNvPr id="194" name="Google Shape;194;p18"/>
          <p:cNvSpPr txBox="1"/>
          <p:nvPr/>
        </p:nvSpPr>
        <p:spPr>
          <a:xfrm>
            <a:off x="885825" y="3586758"/>
            <a:ext cx="4914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"The algorithm did it" is not an ethical or legal defense. Humans must own code outcomes.</a:t>
            </a:r>
            <a:endParaRPr/>
          </a:p>
        </p:txBody>
      </p:sp>
      <p:sp>
        <p:nvSpPr>
          <p:cNvPr id="195" name="Google Shape;195;p18"/>
          <p:cNvSpPr txBox="1"/>
          <p:nvPr/>
        </p:nvSpPr>
        <p:spPr>
          <a:xfrm>
            <a:off x="1076325" y="4533900"/>
            <a:ext cx="5595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CASE STUDY: VW DIESELGATE &amp; BOEING MCAS</a:t>
            </a:r>
            <a:endParaRPr/>
          </a:p>
        </p:txBody>
      </p:sp>
      <p:sp>
        <p:nvSpPr>
          <p:cNvPr id="196" name="Google Shape;196;p18"/>
          <p:cNvSpPr txBox="1"/>
          <p:nvPr/>
        </p:nvSpPr>
        <p:spPr>
          <a:xfrm>
            <a:off x="1076325" y="4777070"/>
            <a:ext cx="4572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VW deliberately coded defeat software (11M cars affected). Boeing 737 MAX MCAS software concealed risks, causing 346 fatal crashes.</a:t>
            </a:r>
            <a:endParaRPr sz="1700"/>
          </a:p>
        </p:txBody>
      </p:sp>
      <p:sp>
        <p:nvSpPr>
          <p:cNvPr id="197" name="Google Shape;197;p18"/>
          <p:cNvSpPr txBox="1"/>
          <p:nvPr/>
        </p:nvSpPr>
        <p:spPr>
          <a:xfrm>
            <a:off x="6581775" y="2800350"/>
            <a:ext cx="9240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DIMENSION 04</a:t>
            </a:r>
            <a:endParaRPr/>
          </a:p>
        </p:txBody>
      </p:sp>
      <p:sp>
        <p:nvSpPr>
          <p:cNvPr id="198" name="Google Shape;198;p18"/>
          <p:cNvSpPr txBox="1"/>
          <p:nvPr/>
        </p:nvSpPr>
        <p:spPr>
          <a:xfrm>
            <a:off x="6486525" y="3028950"/>
            <a:ext cx="57054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Transparency &amp; Explainability</a:t>
            </a:r>
            <a:endParaRPr/>
          </a:p>
        </p:txBody>
      </p:sp>
      <p:sp>
        <p:nvSpPr>
          <p:cNvPr id="199" name="Google Shape;199;p18"/>
          <p:cNvSpPr txBox="1"/>
          <p:nvPr/>
        </p:nvSpPr>
        <p:spPr>
          <a:xfrm>
            <a:off x="6486525" y="3586758"/>
            <a:ext cx="4914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Opaque "black-box" systems prevent users from contesting automated life decisions.</a:t>
            </a:r>
            <a:endParaRPr/>
          </a:p>
        </p:txBody>
      </p:sp>
      <p:sp>
        <p:nvSpPr>
          <p:cNvPr id="200" name="Google Shape;200;p18"/>
          <p:cNvSpPr txBox="1"/>
          <p:nvPr/>
        </p:nvSpPr>
        <p:spPr>
          <a:xfrm>
            <a:off x="6677025" y="4533900"/>
            <a:ext cx="5514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CASE STUDY: DUTCH CHILDCARE BENEFITS SCANDAL (2021)</a:t>
            </a:r>
            <a:endParaRPr/>
          </a:p>
        </p:txBody>
      </p:sp>
      <p:sp>
        <p:nvSpPr>
          <p:cNvPr id="201" name="Google Shape;201;p18"/>
          <p:cNvSpPr txBox="1"/>
          <p:nvPr/>
        </p:nvSpPr>
        <p:spPr>
          <a:xfrm>
            <a:off x="6677025" y="4777070"/>
            <a:ext cx="4572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An unexplainable risk algorithm falsely flagged thousands of dual-national families as fraud suspects, bankrupting victims and dissolving the government.</a:t>
            </a:r>
            <a:endParaRPr sz="17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9"/>
          <p:cNvSpPr/>
          <p:nvPr/>
        </p:nvSpPr>
        <p:spPr>
          <a:xfrm>
            <a:off x="609600" y="2486025"/>
            <a:ext cx="5372100" cy="3856500"/>
          </a:xfrm>
          <a:prstGeom prst="roundRect">
            <a:avLst>
              <a:gd fmla="val 557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9"/>
          <p:cNvSpPr/>
          <p:nvPr/>
        </p:nvSpPr>
        <p:spPr>
          <a:xfrm>
            <a:off x="6210300" y="2486025"/>
            <a:ext cx="5372100" cy="3856500"/>
          </a:xfrm>
          <a:prstGeom prst="roundRect">
            <a:avLst>
              <a:gd fmla="val 557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9"/>
          <p:cNvSpPr/>
          <p:nvPr/>
        </p:nvSpPr>
        <p:spPr>
          <a:xfrm>
            <a:off x="885825" y="4421022"/>
            <a:ext cx="4819800" cy="15321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9"/>
          <p:cNvSpPr/>
          <p:nvPr/>
        </p:nvSpPr>
        <p:spPr>
          <a:xfrm>
            <a:off x="6486525" y="4421022"/>
            <a:ext cx="4819800" cy="15321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9"/>
          <p:cNvSpPr/>
          <p:nvPr/>
        </p:nvSpPr>
        <p:spPr>
          <a:xfrm>
            <a:off x="885825" y="2762250"/>
            <a:ext cx="1009800" cy="219000"/>
          </a:xfrm>
          <a:prstGeom prst="roundRect">
            <a:avLst>
              <a:gd fmla="val 26086" name="adj"/>
            </a:avLst>
          </a:prstGeom>
          <a:solidFill>
            <a:srgbClr val="F3E8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9"/>
          <p:cNvSpPr/>
          <p:nvPr/>
        </p:nvSpPr>
        <p:spPr>
          <a:xfrm>
            <a:off x="885825" y="4421022"/>
            <a:ext cx="38100" cy="15321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9"/>
          <p:cNvSpPr/>
          <p:nvPr/>
        </p:nvSpPr>
        <p:spPr>
          <a:xfrm>
            <a:off x="6486525" y="2762250"/>
            <a:ext cx="1019100" cy="219000"/>
          </a:xfrm>
          <a:prstGeom prst="roundRect">
            <a:avLst>
              <a:gd fmla="val 26086" name="adj"/>
            </a:avLst>
          </a:prstGeom>
          <a:solidFill>
            <a:srgbClr val="FE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9"/>
          <p:cNvSpPr/>
          <p:nvPr/>
        </p:nvSpPr>
        <p:spPr>
          <a:xfrm>
            <a:off x="6486525" y="4421022"/>
            <a:ext cx="38100" cy="15321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9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DIMENSIONS 5 &amp; 6</a:t>
            </a:r>
            <a:endParaRPr/>
          </a:p>
        </p:txBody>
      </p:sp>
      <p:sp>
        <p:nvSpPr>
          <p:cNvPr id="215" name="Google Shape;215;p19"/>
          <p:cNvSpPr txBox="1"/>
          <p:nvPr/>
        </p:nvSpPr>
        <p:spPr>
          <a:xfrm>
            <a:off x="609600" y="771525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User Autonomy vs. Security as an Ethical Duty</a:t>
            </a:r>
            <a:endParaRPr/>
          </a:p>
        </p:txBody>
      </p:sp>
      <p:sp>
        <p:nvSpPr>
          <p:cNvPr id="216" name="Google Shape;216;p19"/>
          <p:cNvSpPr txBox="1"/>
          <p:nvPr/>
        </p:nvSpPr>
        <p:spPr>
          <a:xfrm>
            <a:off x="981075" y="2800350"/>
            <a:ext cx="9144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7C3AED"/>
                </a:solidFill>
                <a:latin typeface="Inter"/>
                <a:ea typeface="Inter"/>
                <a:cs typeface="Inter"/>
                <a:sym typeface="Inter"/>
              </a:rPr>
              <a:t>DIMENSION 05</a:t>
            </a:r>
            <a:endParaRPr/>
          </a:p>
        </p:txBody>
      </p:sp>
      <p:sp>
        <p:nvSpPr>
          <p:cNvPr id="217" name="Google Shape;217;p19"/>
          <p:cNvSpPr txBox="1"/>
          <p:nvPr/>
        </p:nvSpPr>
        <p:spPr>
          <a:xfrm>
            <a:off x="885825" y="3028950"/>
            <a:ext cx="6325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Autonomy vs. Dark Patterns</a:t>
            </a:r>
            <a:endParaRPr sz="1700"/>
          </a:p>
        </p:txBody>
      </p:sp>
      <p:sp>
        <p:nvSpPr>
          <p:cNvPr id="218" name="Google Shape;218;p19"/>
          <p:cNvSpPr txBox="1"/>
          <p:nvPr/>
        </p:nvSpPr>
        <p:spPr>
          <a:xfrm>
            <a:off x="885825" y="3305175"/>
            <a:ext cx="4914900" cy="8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Software UX should support user intention, not manipulate cognitive vulnerabilities for revenue.</a:t>
            </a:r>
            <a:endParaRPr sz="1800"/>
          </a:p>
        </p:txBody>
      </p:sp>
      <p:sp>
        <p:nvSpPr>
          <p:cNvPr id="219" name="Google Shape;219;p19"/>
          <p:cNvSpPr txBox="1"/>
          <p:nvPr/>
        </p:nvSpPr>
        <p:spPr>
          <a:xfrm>
            <a:off x="1076325" y="4010025"/>
            <a:ext cx="55959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CASE STUDY: FTC V. AMAZON "ILIAD FLOW" (2023)</a:t>
            </a:r>
            <a:endParaRPr sz="1800"/>
          </a:p>
        </p:txBody>
      </p:sp>
      <p:sp>
        <p:nvSpPr>
          <p:cNvPr id="220" name="Google Shape;220;p19"/>
          <p:cNvSpPr txBox="1"/>
          <p:nvPr/>
        </p:nvSpPr>
        <p:spPr>
          <a:xfrm>
            <a:off x="1009650" y="4590983"/>
            <a:ext cx="4572000" cy="10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Amazon sued for designing a labyrinthine multi-step cancellation flow ("Iliad") to prevent users from unsubscribing from Prime while signup took one click.</a:t>
            </a:r>
            <a:endParaRPr sz="1800"/>
          </a:p>
        </p:txBody>
      </p:sp>
      <p:sp>
        <p:nvSpPr>
          <p:cNvPr id="221" name="Google Shape;221;p19"/>
          <p:cNvSpPr txBox="1"/>
          <p:nvPr/>
        </p:nvSpPr>
        <p:spPr>
          <a:xfrm>
            <a:off x="6581775" y="2800350"/>
            <a:ext cx="92392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DIMENSION 06</a:t>
            </a:r>
            <a:endParaRPr/>
          </a:p>
        </p:txBody>
      </p:sp>
      <p:sp>
        <p:nvSpPr>
          <p:cNvPr id="222" name="Google Shape;222;p19"/>
          <p:cNvSpPr txBox="1"/>
          <p:nvPr/>
        </p:nvSpPr>
        <p:spPr>
          <a:xfrm>
            <a:off x="6486525" y="3028950"/>
            <a:ext cx="570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Security as an Ethical Duty</a:t>
            </a:r>
            <a:endParaRPr sz="1700"/>
          </a:p>
        </p:txBody>
      </p:sp>
      <p:sp>
        <p:nvSpPr>
          <p:cNvPr id="223" name="Google Shape;223;p19"/>
          <p:cNvSpPr txBox="1"/>
          <p:nvPr/>
        </p:nvSpPr>
        <p:spPr>
          <a:xfrm>
            <a:off x="6486525" y="3305175"/>
            <a:ext cx="4914900" cy="8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Negligent security patching and software race conditions inflict direct physical and financial harm.</a:t>
            </a:r>
            <a:endParaRPr sz="1800"/>
          </a:p>
        </p:txBody>
      </p:sp>
      <p:sp>
        <p:nvSpPr>
          <p:cNvPr id="224" name="Google Shape;224;p19"/>
          <p:cNvSpPr txBox="1"/>
          <p:nvPr/>
        </p:nvSpPr>
        <p:spPr>
          <a:xfrm>
            <a:off x="6677025" y="4010025"/>
            <a:ext cx="55149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CASE STUDY: THERAC-25 &amp; EQUIFAX BREACH</a:t>
            </a:r>
            <a:endParaRPr sz="1800"/>
          </a:p>
        </p:txBody>
      </p:sp>
      <p:sp>
        <p:nvSpPr>
          <p:cNvPr id="225" name="Google Shape;225;p19"/>
          <p:cNvSpPr txBox="1"/>
          <p:nvPr/>
        </p:nvSpPr>
        <p:spPr>
          <a:xfrm>
            <a:off x="6610350" y="4590983"/>
            <a:ext cx="4572000" cy="10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Therac-25 software race conditions fatal-dosed radiation patients. Equifax exposed 147M records by ignoring a known Apache Struts patch for months.</a:t>
            </a:r>
            <a:endParaRPr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0"/>
          <p:cNvSpPr/>
          <p:nvPr/>
        </p:nvSpPr>
        <p:spPr>
          <a:xfrm>
            <a:off x="609600" y="2486025"/>
            <a:ext cx="5372100" cy="3571500"/>
          </a:xfrm>
          <a:prstGeom prst="roundRect">
            <a:avLst>
              <a:gd fmla="val 557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0"/>
          <p:cNvSpPr/>
          <p:nvPr/>
        </p:nvSpPr>
        <p:spPr>
          <a:xfrm>
            <a:off x="6210300" y="2486025"/>
            <a:ext cx="5372100" cy="3571500"/>
          </a:xfrm>
          <a:prstGeom prst="roundRect">
            <a:avLst>
              <a:gd fmla="val 557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0"/>
          <p:cNvSpPr/>
          <p:nvPr/>
        </p:nvSpPr>
        <p:spPr>
          <a:xfrm>
            <a:off x="885825" y="4278010"/>
            <a:ext cx="4819800" cy="14187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0"/>
          <p:cNvSpPr/>
          <p:nvPr/>
        </p:nvSpPr>
        <p:spPr>
          <a:xfrm>
            <a:off x="6486525" y="4278010"/>
            <a:ext cx="4819800" cy="14187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0"/>
          <p:cNvSpPr/>
          <p:nvPr/>
        </p:nvSpPr>
        <p:spPr>
          <a:xfrm>
            <a:off x="885825" y="2762250"/>
            <a:ext cx="1009650" cy="219075"/>
          </a:xfrm>
          <a:prstGeom prst="roundRect">
            <a:avLst>
              <a:gd fmla="val 26086" name="adj"/>
            </a:avLst>
          </a:prstGeom>
          <a:solidFill>
            <a:srgbClr val="ECFD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0"/>
          <p:cNvSpPr/>
          <p:nvPr/>
        </p:nvSpPr>
        <p:spPr>
          <a:xfrm>
            <a:off x="885825" y="3857625"/>
            <a:ext cx="38100" cy="108585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0"/>
          <p:cNvSpPr/>
          <p:nvPr/>
        </p:nvSpPr>
        <p:spPr>
          <a:xfrm>
            <a:off x="6486525" y="2762250"/>
            <a:ext cx="1019175" cy="219075"/>
          </a:xfrm>
          <a:prstGeom prst="roundRect">
            <a:avLst>
              <a:gd fmla="val 26086" name="adj"/>
            </a:avLst>
          </a:prstGeom>
          <a:solidFill>
            <a:srgbClr val="EEF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0"/>
          <p:cNvSpPr/>
          <p:nvPr/>
        </p:nvSpPr>
        <p:spPr>
          <a:xfrm>
            <a:off x="6486525" y="4278010"/>
            <a:ext cx="38100" cy="14187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0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DIMENSIONS 7 &amp; 8</a:t>
            </a:r>
            <a:endParaRPr/>
          </a:p>
        </p:txBody>
      </p:sp>
      <p:sp>
        <p:nvSpPr>
          <p:cNvPr id="239" name="Google Shape;239;p20"/>
          <p:cNvSpPr txBox="1"/>
          <p:nvPr/>
        </p:nvSpPr>
        <p:spPr>
          <a:xfrm>
            <a:off x="609600" y="771525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Environmental Sustainability &amp; IP / Generative AI</a:t>
            </a:r>
            <a:endParaRPr/>
          </a:p>
        </p:txBody>
      </p:sp>
      <p:sp>
        <p:nvSpPr>
          <p:cNvPr id="240" name="Google Shape;240;p20"/>
          <p:cNvSpPr txBox="1"/>
          <p:nvPr/>
        </p:nvSpPr>
        <p:spPr>
          <a:xfrm>
            <a:off x="981075" y="2800350"/>
            <a:ext cx="9144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DIMENSION 07</a:t>
            </a:r>
            <a:endParaRPr/>
          </a:p>
        </p:txBody>
      </p:sp>
      <p:sp>
        <p:nvSpPr>
          <p:cNvPr id="241" name="Google Shape;241;p20"/>
          <p:cNvSpPr txBox="1"/>
          <p:nvPr/>
        </p:nvSpPr>
        <p:spPr>
          <a:xfrm>
            <a:off x="885825" y="3028950"/>
            <a:ext cx="632579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Environmental Sustainability</a:t>
            </a:r>
            <a:endParaRPr/>
          </a:p>
        </p:txBody>
      </p:sp>
      <p:sp>
        <p:nvSpPr>
          <p:cNvPr id="242" name="Google Shape;242;p20"/>
          <p:cNvSpPr txBox="1"/>
          <p:nvPr/>
        </p:nvSpPr>
        <p:spPr>
          <a:xfrm>
            <a:off x="885825" y="3305175"/>
            <a:ext cx="49149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Computation carries immense environmental costs in energy, water cooling, and carbon output.</a:t>
            </a:r>
            <a:endParaRPr/>
          </a:p>
        </p:txBody>
      </p:sp>
      <p:sp>
        <p:nvSpPr>
          <p:cNvPr id="243" name="Google Shape;243;p20"/>
          <p:cNvSpPr txBox="1"/>
          <p:nvPr/>
        </p:nvSpPr>
        <p:spPr>
          <a:xfrm>
            <a:off x="1076325" y="4477119"/>
            <a:ext cx="5595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CASE STUDY: LLM TRAINING CARBON FOOTPRINTS</a:t>
            </a:r>
            <a:endParaRPr sz="1900"/>
          </a:p>
        </p:txBody>
      </p:sp>
      <p:sp>
        <p:nvSpPr>
          <p:cNvPr id="244" name="Google Shape;244;p20"/>
          <p:cNvSpPr txBox="1"/>
          <p:nvPr/>
        </p:nvSpPr>
        <p:spPr>
          <a:xfrm>
            <a:off x="1076325" y="4713561"/>
            <a:ext cx="45720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Strubell et al. (2019) demonstrated training a single large model emits CO2 equal to 5 cars over their lifetime, spurring the Green AI movement.</a:t>
            </a:r>
            <a:endParaRPr sz="1900"/>
          </a:p>
        </p:txBody>
      </p:sp>
      <p:sp>
        <p:nvSpPr>
          <p:cNvPr id="245" name="Google Shape;245;p20"/>
          <p:cNvSpPr txBox="1"/>
          <p:nvPr/>
        </p:nvSpPr>
        <p:spPr>
          <a:xfrm>
            <a:off x="6581775" y="2800350"/>
            <a:ext cx="92392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DIMENSION 08</a:t>
            </a:r>
            <a:endParaRPr/>
          </a:p>
        </p:txBody>
      </p:sp>
      <p:sp>
        <p:nvSpPr>
          <p:cNvPr id="246" name="Google Shape;246;p20"/>
          <p:cNvSpPr txBox="1"/>
          <p:nvPr/>
        </p:nvSpPr>
        <p:spPr>
          <a:xfrm>
            <a:off x="6486525" y="3028950"/>
            <a:ext cx="570547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IP &amp; Generative AI Authorship</a:t>
            </a:r>
            <a:endParaRPr/>
          </a:p>
        </p:txBody>
      </p:sp>
      <p:sp>
        <p:nvSpPr>
          <p:cNvPr id="247" name="Google Shape;247;p20"/>
          <p:cNvSpPr txBox="1"/>
          <p:nvPr/>
        </p:nvSpPr>
        <p:spPr>
          <a:xfrm>
            <a:off x="6486525" y="3305175"/>
            <a:ext cx="49149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Generative AI blurs lines between data training reuse, licensing compliance, and original authorship.</a:t>
            </a:r>
            <a:endParaRPr/>
          </a:p>
        </p:txBody>
      </p:sp>
      <p:sp>
        <p:nvSpPr>
          <p:cNvPr id="248" name="Google Shape;248;p20"/>
          <p:cNvSpPr txBox="1"/>
          <p:nvPr/>
        </p:nvSpPr>
        <p:spPr>
          <a:xfrm>
            <a:off x="6677025" y="4477119"/>
            <a:ext cx="5514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CASE STUDY: NYT V. OPENAI &amp; GITHUB COPILOT</a:t>
            </a:r>
            <a:endParaRPr sz="1900"/>
          </a:p>
        </p:txBody>
      </p:sp>
      <p:sp>
        <p:nvSpPr>
          <p:cNvPr id="249" name="Google Shape;249;p20"/>
          <p:cNvSpPr txBox="1"/>
          <p:nvPr/>
        </p:nvSpPr>
        <p:spPr>
          <a:xfrm>
            <a:off x="6677025" y="4713561"/>
            <a:ext cx="45720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Landmark lawsuits challenging unpermitted scraping of copyrighted news articles and open-source code for training commercial LLMs.</a:t>
            </a:r>
            <a:endParaRPr sz="1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1"/>
          <p:cNvSpPr/>
          <p:nvPr/>
        </p:nvSpPr>
        <p:spPr>
          <a:xfrm>
            <a:off x="609600" y="1916906"/>
            <a:ext cx="2628900" cy="1323975"/>
          </a:xfrm>
          <a:prstGeom prst="roundRect">
            <a:avLst>
              <a:gd fmla="val 5755" name="adj"/>
            </a:avLst>
          </a:prstGeom>
          <a:solidFill>
            <a:srgbClr val="FFFFFF"/>
          </a:solidFill>
          <a:ln cap="flat" cmpd="sng" w="381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1"/>
          <p:cNvSpPr/>
          <p:nvPr/>
        </p:nvSpPr>
        <p:spPr>
          <a:xfrm>
            <a:off x="609600" y="1916906"/>
            <a:ext cx="26289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1"/>
          <p:cNvSpPr/>
          <p:nvPr/>
        </p:nvSpPr>
        <p:spPr>
          <a:xfrm>
            <a:off x="3390900" y="1816893"/>
            <a:ext cx="2628900" cy="15240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38100">
            <a:solidFill>
              <a:srgbClr val="0284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1"/>
          <p:cNvSpPr/>
          <p:nvPr/>
        </p:nvSpPr>
        <p:spPr>
          <a:xfrm>
            <a:off x="3390900" y="1816893"/>
            <a:ext cx="2628900" cy="381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1"/>
          <p:cNvSpPr/>
          <p:nvPr/>
        </p:nvSpPr>
        <p:spPr>
          <a:xfrm>
            <a:off x="6172200" y="1816893"/>
            <a:ext cx="2628900" cy="15240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381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1"/>
          <p:cNvSpPr/>
          <p:nvPr/>
        </p:nvSpPr>
        <p:spPr>
          <a:xfrm>
            <a:off x="6172200" y="1816893"/>
            <a:ext cx="2628900" cy="381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1"/>
          <p:cNvSpPr/>
          <p:nvPr/>
        </p:nvSpPr>
        <p:spPr>
          <a:xfrm>
            <a:off x="8953500" y="1816893"/>
            <a:ext cx="2628900" cy="15240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381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1"/>
          <p:cNvSpPr/>
          <p:nvPr/>
        </p:nvSpPr>
        <p:spPr>
          <a:xfrm>
            <a:off x="8953500" y="1816893"/>
            <a:ext cx="2628900" cy="381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1"/>
          <p:cNvSpPr/>
          <p:nvPr/>
        </p:nvSpPr>
        <p:spPr>
          <a:xfrm>
            <a:off x="609600" y="4464843"/>
            <a:ext cx="2628900" cy="1323975"/>
          </a:xfrm>
          <a:prstGeom prst="roundRect">
            <a:avLst>
              <a:gd fmla="val 5755" name="adj"/>
            </a:avLst>
          </a:prstGeom>
          <a:solidFill>
            <a:srgbClr val="FFFFFF"/>
          </a:solidFill>
          <a:ln cap="flat" cmpd="sng" w="381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1"/>
          <p:cNvSpPr/>
          <p:nvPr/>
        </p:nvSpPr>
        <p:spPr>
          <a:xfrm>
            <a:off x="609600" y="4464843"/>
            <a:ext cx="262890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1"/>
          <p:cNvSpPr/>
          <p:nvPr/>
        </p:nvSpPr>
        <p:spPr>
          <a:xfrm>
            <a:off x="3390900" y="4364831"/>
            <a:ext cx="2628900" cy="15240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381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1"/>
          <p:cNvSpPr/>
          <p:nvPr/>
        </p:nvSpPr>
        <p:spPr>
          <a:xfrm>
            <a:off x="3390900" y="4364831"/>
            <a:ext cx="2628900" cy="381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1"/>
          <p:cNvSpPr/>
          <p:nvPr/>
        </p:nvSpPr>
        <p:spPr>
          <a:xfrm>
            <a:off x="6172200" y="4464843"/>
            <a:ext cx="2628900" cy="1323975"/>
          </a:xfrm>
          <a:prstGeom prst="roundRect">
            <a:avLst>
              <a:gd fmla="val 5755" name="adj"/>
            </a:avLst>
          </a:prstGeom>
          <a:solidFill>
            <a:srgbClr val="FFFFFF"/>
          </a:solidFill>
          <a:ln cap="flat" cmpd="sng" w="381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1"/>
          <p:cNvSpPr/>
          <p:nvPr/>
        </p:nvSpPr>
        <p:spPr>
          <a:xfrm>
            <a:off x="6172200" y="4464843"/>
            <a:ext cx="2628900" cy="381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1"/>
          <p:cNvSpPr/>
          <p:nvPr/>
        </p:nvSpPr>
        <p:spPr>
          <a:xfrm>
            <a:off x="8953500" y="4364831"/>
            <a:ext cx="2628900" cy="15240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38100">
            <a:solidFill>
              <a:srgbClr val="4F46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1"/>
          <p:cNvSpPr/>
          <p:nvPr/>
        </p:nvSpPr>
        <p:spPr>
          <a:xfrm>
            <a:off x="8953500" y="4364831"/>
            <a:ext cx="2628900" cy="381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1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PROFESSIONAL GOVERNANCE</a:t>
            </a:r>
            <a:endParaRPr/>
          </a:p>
        </p:txBody>
      </p:sp>
      <p:sp>
        <p:nvSpPr>
          <p:cNvPr id="271" name="Google Shape;271;p21"/>
          <p:cNvSpPr txBox="1"/>
          <p:nvPr/>
        </p:nvSpPr>
        <p:spPr>
          <a:xfrm>
            <a:off x="609600" y="771525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IEEE-CS / ACM Software Engineering 8 Principles</a:t>
            </a:r>
            <a:endParaRPr/>
          </a:p>
        </p:txBody>
      </p:sp>
      <p:sp>
        <p:nvSpPr>
          <p:cNvPr id="272" name="Google Shape;272;p21"/>
          <p:cNvSpPr txBox="1"/>
          <p:nvPr/>
        </p:nvSpPr>
        <p:spPr>
          <a:xfrm>
            <a:off x="800100" y="2107406"/>
            <a:ext cx="2343150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01. PUBLIC (TOP PRIORITY)</a:t>
            </a:r>
            <a:endParaRPr/>
          </a:p>
        </p:txBody>
      </p:sp>
      <p:sp>
        <p:nvSpPr>
          <p:cNvPr id="273" name="Google Shape;273;p21"/>
          <p:cNvSpPr txBox="1"/>
          <p:nvPr/>
        </p:nvSpPr>
        <p:spPr>
          <a:xfrm>
            <a:off x="3581400" y="2007393"/>
            <a:ext cx="23431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02. CLIENT &amp; EMPLOYER</a:t>
            </a:r>
            <a:endParaRPr/>
          </a:p>
        </p:txBody>
      </p:sp>
      <p:sp>
        <p:nvSpPr>
          <p:cNvPr id="274" name="Google Shape;274;p21"/>
          <p:cNvSpPr txBox="1"/>
          <p:nvPr/>
        </p:nvSpPr>
        <p:spPr>
          <a:xfrm>
            <a:off x="6362700" y="2007393"/>
            <a:ext cx="23431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6A34A"/>
                </a:solidFill>
                <a:latin typeface="Inter"/>
                <a:ea typeface="Inter"/>
                <a:cs typeface="Inter"/>
                <a:sym typeface="Inter"/>
              </a:rPr>
              <a:t>03. PRODUCT</a:t>
            </a:r>
            <a:endParaRPr/>
          </a:p>
        </p:txBody>
      </p:sp>
      <p:sp>
        <p:nvSpPr>
          <p:cNvPr id="275" name="Google Shape;275;p21"/>
          <p:cNvSpPr txBox="1"/>
          <p:nvPr/>
        </p:nvSpPr>
        <p:spPr>
          <a:xfrm>
            <a:off x="9144000" y="2007393"/>
            <a:ext cx="23431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D97706"/>
                </a:solidFill>
                <a:latin typeface="Inter"/>
                <a:ea typeface="Inter"/>
                <a:cs typeface="Inter"/>
                <a:sym typeface="Inter"/>
              </a:rPr>
              <a:t>04. JUDGMENT</a:t>
            </a:r>
            <a:endParaRPr/>
          </a:p>
        </p:txBody>
      </p:sp>
      <p:sp>
        <p:nvSpPr>
          <p:cNvPr id="276" name="Google Shape;276;p21"/>
          <p:cNvSpPr txBox="1"/>
          <p:nvPr/>
        </p:nvSpPr>
        <p:spPr>
          <a:xfrm>
            <a:off x="800100" y="4655343"/>
            <a:ext cx="2343150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7C3AED"/>
                </a:solidFill>
                <a:latin typeface="Inter"/>
                <a:ea typeface="Inter"/>
                <a:cs typeface="Inter"/>
                <a:sym typeface="Inter"/>
              </a:rPr>
              <a:t>05. MANAGEMENT</a:t>
            </a:r>
            <a:endParaRPr/>
          </a:p>
        </p:txBody>
      </p:sp>
      <p:sp>
        <p:nvSpPr>
          <p:cNvPr id="277" name="Google Shape;277;p21"/>
          <p:cNvSpPr txBox="1"/>
          <p:nvPr/>
        </p:nvSpPr>
        <p:spPr>
          <a:xfrm>
            <a:off x="3581400" y="4555331"/>
            <a:ext cx="23431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06. PROFESSION</a:t>
            </a:r>
            <a:endParaRPr/>
          </a:p>
        </p:txBody>
      </p:sp>
      <p:sp>
        <p:nvSpPr>
          <p:cNvPr id="278" name="Google Shape;278;p21"/>
          <p:cNvSpPr txBox="1"/>
          <p:nvPr/>
        </p:nvSpPr>
        <p:spPr>
          <a:xfrm>
            <a:off x="6362700" y="4655343"/>
            <a:ext cx="2343150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07. COLLEAGUES</a:t>
            </a:r>
            <a:endParaRPr/>
          </a:p>
        </p:txBody>
      </p:sp>
      <p:sp>
        <p:nvSpPr>
          <p:cNvPr id="279" name="Google Shape;279;p21"/>
          <p:cNvSpPr txBox="1"/>
          <p:nvPr/>
        </p:nvSpPr>
        <p:spPr>
          <a:xfrm>
            <a:off x="9144000" y="4555331"/>
            <a:ext cx="23431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08. SELF</a:t>
            </a:r>
            <a:endParaRPr/>
          </a:p>
        </p:txBody>
      </p:sp>
      <p:sp>
        <p:nvSpPr>
          <p:cNvPr id="280" name="Google Shape;280;p21"/>
          <p:cNvSpPr txBox="1"/>
          <p:nvPr/>
        </p:nvSpPr>
        <p:spPr>
          <a:xfrm>
            <a:off x="800100" y="2412206"/>
            <a:ext cx="2950368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Public Interest First</a:t>
            </a:r>
            <a:endParaRPr/>
          </a:p>
        </p:txBody>
      </p:sp>
      <p:sp>
        <p:nvSpPr>
          <p:cNvPr id="281" name="Google Shape;281;p21"/>
          <p:cNvSpPr txBox="1"/>
          <p:nvPr/>
        </p:nvSpPr>
        <p:spPr>
          <a:xfrm>
            <a:off x="800100" y="2650331"/>
            <a:ext cx="23431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Act consistently with public health, safety, and welfare.</a:t>
            </a:r>
            <a:endParaRPr/>
          </a:p>
        </p:txBody>
      </p:sp>
      <p:sp>
        <p:nvSpPr>
          <p:cNvPr id="282" name="Google Shape;282;p21"/>
          <p:cNvSpPr txBox="1"/>
          <p:nvPr/>
        </p:nvSpPr>
        <p:spPr>
          <a:xfrm>
            <a:off x="3581400" y="2312193"/>
            <a:ext cx="2950368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Aligned Interests</a:t>
            </a:r>
            <a:endParaRPr/>
          </a:p>
        </p:txBody>
      </p:sp>
      <p:sp>
        <p:nvSpPr>
          <p:cNvPr id="283" name="Google Shape;283;p21"/>
          <p:cNvSpPr txBox="1"/>
          <p:nvPr/>
        </p:nvSpPr>
        <p:spPr>
          <a:xfrm>
            <a:off x="3581400" y="2550318"/>
            <a:ext cx="23431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Serve clients loyally while remaining compliant with public good.</a:t>
            </a:r>
            <a:endParaRPr/>
          </a:p>
        </p:txBody>
      </p:sp>
      <p:sp>
        <p:nvSpPr>
          <p:cNvPr id="284" name="Google Shape;284;p21"/>
          <p:cNvSpPr txBox="1"/>
          <p:nvPr/>
        </p:nvSpPr>
        <p:spPr>
          <a:xfrm>
            <a:off x="6362700" y="2312193"/>
            <a:ext cx="2950368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Quality Standards</a:t>
            </a:r>
            <a:endParaRPr/>
          </a:p>
        </p:txBody>
      </p:sp>
      <p:sp>
        <p:nvSpPr>
          <p:cNvPr id="285" name="Google Shape;285;p21"/>
          <p:cNvSpPr txBox="1"/>
          <p:nvPr/>
        </p:nvSpPr>
        <p:spPr>
          <a:xfrm>
            <a:off x="6362700" y="2550318"/>
            <a:ext cx="23431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Ensure highest professional standards and rigorous QA.</a:t>
            </a:r>
            <a:endParaRPr/>
          </a:p>
        </p:txBody>
      </p:sp>
      <p:sp>
        <p:nvSpPr>
          <p:cNvPr id="286" name="Google Shape;286;p21"/>
          <p:cNvSpPr txBox="1"/>
          <p:nvPr/>
        </p:nvSpPr>
        <p:spPr>
          <a:xfrm>
            <a:off x="9144000" y="2312193"/>
            <a:ext cx="2950368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Independence</a:t>
            </a:r>
            <a:endParaRPr/>
          </a:p>
        </p:txBody>
      </p:sp>
      <p:sp>
        <p:nvSpPr>
          <p:cNvPr id="287" name="Google Shape;287;p21"/>
          <p:cNvSpPr txBox="1"/>
          <p:nvPr/>
        </p:nvSpPr>
        <p:spPr>
          <a:xfrm>
            <a:off x="9144000" y="2550318"/>
            <a:ext cx="23431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Maintain professional integrity and impartial assessment.</a:t>
            </a:r>
            <a:endParaRPr/>
          </a:p>
        </p:txBody>
      </p:sp>
      <p:sp>
        <p:nvSpPr>
          <p:cNvPr id="288" name="Google Shape;288;p21"/>
          <p:cNvSpPr txBox="1"/>
          <p:nvPr/>
        </p:nvSpPr>
        <p:spPr>
          <a:xfrm>
            <a:off x="800100" y="4960143"/>
            <a:ext cx="2950368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Ethical Leadership</a:t>
            </a:r>
            <a:endParaRPr/>
          </a:p>
        </p:txBody>
      </p:sp>
      <p:sp>
        <p:nvSpPr>
          <p:cNvPr id="289" name="Google Shape;289;p21"/>
          <p:cNvSpPr txBox="1"/>
          <p:nvPr/>
        </p:nvSpPr>
        <p:spPr>
          <a:xfrm>
            <a:off x="800100" y="5198268"/>
            <a:ext cx="23431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Promote ethical software development workflows.</a:t>
            </a:r>
            <a:endParaRPr/>
          </a:p>
        </p:txBody>
      </p:sp>
      <p:sp>
        <p:nvSpPr>
          <p:cNvPr id="290" name="Google Shape;290;p21"/>
          <p:cNvSpPr txBox="1"/>
          <p:nvPr/>
        </p:nvSpPr>
        <p:spPr>
          <a:xfrm>
            <a:off x="3581400" y="4860131"/>
            <a:ext cx="2950368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Reputation</a:t>
            </a:r>
            <a:endParaRPr/>
          </a:p>
        </p:txBody>
      </p:sp>
      <p:sp>
        <p:nvSpPr>
          <p:cNvPr id="291" name="Google Shape;291;p21"/>
          <p:cNvSpPr txBox="1"/>
          <p:nvPr/>
        </p:nvSpPr>
        <p:spPr>
          <a:xfrm>
            <a:off x="3581400" y="5098256"/>
            <a:ext cx="23431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Advance the integrity of software engineering discipline.</a:t>
            </a:r>
            <a:endParaRPr/>
          </a:p>
        </p:txBody>
      </p:sp>
      <p:sp>
        <p:nvSpPr>
          <p:cNvPr id="292" name="Google Shape;292;p21"/>
          <p:cNvSpPr txBox="1"/>
          <p:nvPr/>
        </p:nvSpPr>
        <p:spPr>
          <a:xfrm>
            <a:off x="6362700" y="4960143"/>
            <a:ext cx="2950368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Fair Support</a:t>
            </a:r>
            <a:endParaRPr/>
          </a:p>
        </p:txBody>
      </p:sp>
      <p:sp>
        <p:nvSpPr>
          <p:cNvPr id="293" name="Google Shape;293;p21"/>
          <p:cNvSpPr txBox="1"/>
          <p:nvPr/>
        </p:nvSpPr>
        <p:spPr>
          <a:xfrm>
            <a:off x="6362700" y="5198268"/>
            <a:ext cx="23431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Be fair to and supportive of professional colleagues.</a:t>
            </a:r>
            <a:endParaRPr/>
          </a:p>
        </p:txBody>
      </p:sp>
      <p:sp>
        <p:nvSpPr>
          <p:cNvPr id="294" name="Google Shape;294;p21"/>
          <p:cNvSpPr txBox="1"/>
          <p:nvPr/>
        </p:nvSpPr>
        <p:spPr>
          <a:xfrm>
            <a:off x="9144000" y="4860131"/>
            <a:ext cx="2950368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Lifelong Learning</a:t>
            </a:r>
            <a:endParaRPr/>
          </a:p>
        </p:txBody>
      </p:sp>
      <p:sp>
        <p:nvSpPr>
          <p:cNvPr id="295" name="Google Shape;295;p21"/>
          <p:cNvSpPr txBox="1"/>
          <p:nvPr/>
        </p:nvSpPr>
        <p:spPr>
          <a:xfrm>
            <a:off x="9144000" y="5098256"/>
            <a:ext cx="23431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Continuously improve skills in ethical engineering practice.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2"/>
          <p:cNvSpPr/>
          <p:nvPr/>
        </p:nvSpPr>
        <p:spPr>
          <a:xfrm>
            <a:off x="609600" y="2281237"/>
            <a:ext cx="10972800" cy="314325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01" name="Google Shape;301;p22"/>
          <p:cNvGraphicFramePr/>
          <p:nvPr/>
        </p:nvGraphicFramePr>
        <p:xfrm>
          <a:off x="609600" y="22812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{B781D790-4438-42AA-BF33-39AE776D5170}</a:tableStyleId>
              </a:tblPr>
              <a:tblGrid>
                <a:gridCol w="2738425"/>
                <a:gridCol w="4107650"/>
                <a:gridCol w="4107650"/>
              </a:tblGrid>
              <a:tr h="62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Domain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8717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Unethical Practice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ADE8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Ethical Engineering Standard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UX &amp; Choice Architecture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DC262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Deceptive dark patterns &amp; forced retention flows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6A34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Transparent, reversible, user-centric choices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User Data &amp; Telemetry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DC262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Uninformed harvesting &amp; re-identifying records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6A34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Privacy-by-design &amp; minimal data collection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AI &amp; Model Training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DC262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Unverified training data with historical bias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6A34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Rigorous demographic fairness auditing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Security &amp; Release QA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DC262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Deploying known vulnerabilities to meet deadlines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6A34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Pre-deployment safety gates &amp; continuous patching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2" name="Google Shape;302;p22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PRACTICAL CONTRAST</a:t>
            </a:r>
            <a:endParaRPr/>
          </a:p>
        </p:txBody>
      </p:sp>
      <p:sp>
        <p:nvSpPr>
          <p:cNvPr id="303" name="Google Shape;303;p22"/>
          <p:cNvSpPr txBox="1"/>
          <p:nvPr/>
        </p:nvSpPr>
        <p:spPr>
          <a:xfrm>
            <a:off x="609600" y="771525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Unethical Risks vs. Ethical Practice Standards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3"/>
          <p:cNvSpPr/>
          <p:nvPr/>
        </p:nvSpPr>
        <p:spPr>
          <a:xfrm>
            <a:off x="609600" y="1885950"/>
            <a:ext cx="3555900" cy="1786200"/>
          </a:xfrm>
          <a:prstGeom prst="roundRect">
            <a:avLst>
              <a:gd fmla="val 769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3"/>
          <p:cNvSpPr/>
          <p:nvPr/>
        </p:nvSpPr>
        <p:spPr>
          <a:xfrm>
            <a:off x="4317950" y="1985946"/>
            <a:ext cx="3555900" cy="1686300"/>
          </a:xfrm>
          <a:prstGeom prst="roundRect">
            <a:avLst>
              <a:gd fmla="val 888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3"/>
          <p:cNvSpPr/>
          <p:nvPr/>
        </p:nvSpPr>
        <p:spPr>
          <a:xfrm>
            <a:off x="8026300" y="1985947"/>
            <a:ext cx="3556200" cy="1651800"/>
          </a:xfrm>
          <a:prstGeom prst="roundRect">
            <a:avLst>
              <a:gd fmla="val 888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3"/>
          <p:cNvSpPr/>
          <p:nvPr/>
        </p:nvSpPr>
        <p:spPr>
          <a:xfrm>
            <a:off x="609600" y="4533900"/>
            <a:ext cx="3555900" cy="1686300"/>
          </a:xfrm>
          <a:prstGeom prst="roundRect">
            <a:avLst>
              <a:gd fmla="val 888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3"/>
          <p:cNvSpPr/>
          <p:nvPr/>
        </p:nvSpPr>
        <p:spPr>
          <a:xfrm>
            <a:off x="4317950" y="4533900"/>
            <a:ext cx="3555900" cy="1686300"/>
          </a:xfrm>
          <a:prstGeom prst="roundRect">
            <a:avLst>
              <a:gd fmla="val 888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3"/>
          <p:cNvSpPr/>
          <p:nvPr/>
        </p:nvSpPr>
        <p:spPr>
          <a:xfrm>
            <a:off x="8026300" y="4533900"/>
            <a:ext cx="3556200" cy="1686300"/>
          </a:xfrm>
          <a:prstGeom prst="roundRect">
            <a:avLst>
              <a:gd fmla="val 888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3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ACADEMIC &amp; PROFESSIONAL GROUNDING</a:t>
            </a:r>
            <a:endParaRPr/>
          </a:p>
        </p:txBody>
      </p:sp>
      <p:sp>
        <p:nvSpPr>
          <p:cNvPr id="315" name="Google Shape;315;p23"/>
          <p:cNvSpPr txBox="1"/>
          <p:nvPr/>
        </p:nvSpPr>
        <p:spPr>
          <a:xfrm>
            <a:off x="609600" y="771525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Essential Literature in Software Ethics</a:t>
            </a:r>
            <a:endParaRPr/>
          </a:p>
        </p:txBody>
      </p:sp>
      <p:sp>
        <p:nvSpPr>
          <p:cNvPr id="316" name="Google Shape;316;p23"/>
          <p:cNvSpPr txBox="1"/>
          <p:nvPr/>
        </p:nvSpPr>
        <p:spPr>
          <a:xfrm>
            <a:off x="800100" y="2076450"/>
            <a:ext cx="3270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Cathy O'Neil</a:t>
            </a:r>
            <a:endParaRPr sz="1700"/>
          </a:p>
        </p:txBody>
      </p:sp>
      <p:sp>
        <p:nvSpPr>
          <p:cNvPr id="317" name="Google Shape;317;p23"/>
          <p:cNvSpPr txBox="1"/>
          <p:nvPr/>
        </p:nvSpPr>
        <p:spPr>
          <a:xfrm>
            <a:off x="4508450" y="2176462"/>
            <a:ext cx="3270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Ruha Benjamin</a:t>
            </a:r>
            <a:endParaRPr sz="1700"/>
          </a:p>
        </p:txBody>
      </p:sp>
      <p:sp>
        <p:nvSpPr>
          <p:cNvPr id="318" name="Google Shape;318;p23"/>
          <p:cNvSpPr txBox="1"/>
          <p:nvPr/>
        </p:nvSpPr>
        <p:spPr>
          <a:xfrm>
            <a:off x="8216800" y="2176462"/>
            <a:ext cx="3270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Virginia Eubanks</a:t>
            </a:r>
            <a:endParaRPr sz="1700"/>
          </a:p>
        </p:txBody>
      </p:sp>
      <p:sp>
        <p:nvSpPr>
          <p:cNvPr id="319" name="Google Shape;319;p23"/>
          <p:cNvSpPr txBox="1"/>
          <p:nvPr/>
        </p:nvSpPr>
        <p:spPr>
          <a:xfrm>
            <a:off x="800100" y="4724400"/>
            <a:ext cx="3270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Safiya Noble</a:t>
            </a:r>
            <a:endParaRPr sz="1700"/>
          </a:p>
        </p:txBody>
      </p:sp>
      <p:sp>
        <p:nvSpPr>
          <p:cNvPr id="320" name="Google Shape;320;p23"/>
          <p:cNvSpPr txBox="1"/>
          <p:nvPr/>
        </p:nvSpPr>
        <p:spPr>
          <a:xfrm>
            <a:off x="4508450" y="4724400"/>
            <a:ext cx="3270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Kearns &amp; Roth</a:t>
            </a:r>
            <a:endParaRPr sz="1700"/>
          </a:p>
        </p:txBody>
      </p:sp>
      <p:sp>
        <p:nvSpPr>
          <p:cNvPr id="321" name="Google Shape;321;p23"/>
          <p:cNvSpPr txBox="1"/>
          <p:nvPr/>
        </p:nvSpPr>
        <p:spPr>
          <a:xfrm>
            <a:off x="8216800" y="4724400"/>
            <a:ext cx="3270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Brian Christian</a:t>
            </a:r>
            <a:endParaRPr sz="1700"/>
          </a:p>
        </p:txBody>
      </p:sp>
      <p:sp>
        <p:nvSpPr>
          <p:cNvPr id="322" name="Google Shape;322;p23"/>
          <p:cNvSpPr txBox="1"/>
          <p:nvPr/>
        </p:nvSpPr>
        <p:spPr>
          <a:xfrm>
            <a:off x="809625" y="2314575"/>
            <a:ext cx="4142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Weapons of Math Destruction</a:t>
            </a:r>
            <a:endParaRPr sz="1700"/>
          </a:p>
        </p:txBody>
      </p:sp>
      <p:sp>
        <p:nvSpPr>
          <p:cNvPr id="323" name="Google Shape;323;p23"/>
          <p:cNvSpPr txBox="1"/>
          <p:nvPr/>
        </p:nvSpPr>
        <p:spPr>
          <a:xfrm>
            <a:off x="809625" y="2571750"/>
            <a:ext cx="32511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Exposing opaque, unregulated mathematical models driving inequality.</a:t>
            </a:r>
            <a:endParaRPr sz="1700"/>
          </a:p>
        </p:txBody>
      </p:sp>
      <p:sp>
        <p:nvSpPr>
          <p:cNvPr id="324" name="Google Shape;324;p23"/>
          <p:cNvSpPr txBox="1"/>
          <p:nvPr/>
        </p:nvSpPr>
        <p:spPr>
          <a:xfrm>
            <a:off x="4517975" y="2414587"/>
            <a:ext cx="4142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Race After Technology</a:t>
            </a:r>
            <a:endParaRPr sz="1700"/>
          </a:p>
        </p:txBody>
      </p:sp>
      <p:sp>
        <p:nvSpPr>
          <p:cNvPr id="325" name="Google Shape;325;p23"/>
          <p:cNvSpPr txBox="1"/>
          <p:nvPr/>
        </p:nvSpPr>
        <p:spPr>
          <a:xfrm>
            <a:off x="4517975" y="2671762"/>
            <a:ext cx="32511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Analyzing how systemic racial bias gets encoded into "neutral" tech.</a:t>
            </a:r>
            <a:endParaRPr sz="1700"/>
          </a:p>
        </p:txBody>
      </p:sp>
      <p:sp>
        <p:nvSpPr>
          <p:cNvPr id="326" name="Google Shape;326;p23"/>
          <p:cNvSpPr txBox="1"/>
          <p:nvPr/>
        </p:nvSpPr>
        <p:spPr>
          <a:xfrm>
            <a:off x="8226325" y="2414587"/>
            <a:ext cx="39657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Automating Inequality</a:t>
            </a:r>
            <a:endParaRPr sz="1700"/>
          </a:p>
        </p:txBody>
      </p:sp>
      <p:sp>
        <p:nvSpPr>
          <p:cNvPr id="327" name="Google Shape;327;p23"/>
          <p:cNvSpPr txBox="1"/>
          <p:nvPr/>
        </p:nvSpPr>
        <p:spPr>
          <a:xfrm>
            <a:off x="8226325" y="2671762"/>
            <a:ext cx="3251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Investigating automated decision profiling in public welfare systems.</a:t>
            </a:r>
            <a:endParaRPr sz="1700"/>
          </a:p>
        </p:txBody>
      </p:sp>
      <p:sp>
        <p:nvSpPr>
          <p:cNvPr id="328" name="Google Shape;328;p23"/>
          <p:cNvSpPr txBox="1"/>
          <p:nvPr/>
        </p:nvSpPr>
        <p:spPr>
          <a:xfrm>
            <a:off x="809625" y="4962525"/>
            <a:ext cx="4142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Algorithms of Oppression</a:t>
            </a:r>
            <a:endParaRPr sz="1700"/>
          </a:p>
        </p:txBody>
      </p:sp>
      <p:sp>
        <p:nvSpPr>
          <p:cNvPr id="329" name="Google Shape;329;p23"/>
          <p:cNvSpPr txBox="1"/>
          <p:nvPr/>
        </p:nvSpPr>
        <p:spPr>
          <a:xfrm>
            <a:off x="809625" y="5219700"/>
            <a:ext cx="32511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Structural discrimination embedded in commercial search engines.</a:t>
            </a:r>
            <a:endParaRPr sz="1700"/>
          </a:p>
        </p:txBody>
      </p:sp>
      <p:sp>
        <p:nvSpPr>
          <p:cNvPr id="330" name="Google Shape;330;p23"/>
          <p:cNvSpPr txBox="1"/>
          <p:nvPr/>
        </p:nvSpPr>
        <p:spPr>
          <a:xfrm>
            <a:off x="4517975" y="4962525"/>
            <a:ext cx="4142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Ethical Algorithm</a:t>
            </a:r>
            <a:endParaRPr sz="1700"/>
          </a:p>
        </p:txBody>
      </p:sp>
      <p:sp>
        <p:nvSpPr>
          <p:cNvPr id="331" name="Google Shape;331;p23"/>
          <p:cNvSpPr txBox="1"/>
          <p:nvPr/>
        </p:nvSpPr>
        <p:spPr>
          <a:xfrm>
            <a:off x="4517975" y="5219700"/>
            <a:ext cx="32511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Formal mathematical techniques for embedding privacy &amp; fairness.</a:t>
            </a:r>
            <a:endParaRPr sz="1700"/>
          </a:p>
        </p:txBody>
      </p:sp>
      <p:sp>
        <p:nvSpPr>
          <p:cNvPr id="332" name="Google Shape;332;p23"/>
          <p:cNvSpPr txBox="1"/>
          <p:nvPr/>
        </p:nvSpPr>
        <p:spPr>
          <a:xfrm>
            <a:off x="8226325" y="4962525"/>
            <a:ext cx="39657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Alignment Problem</a:t>
            </a:r>
            <a:endParaRPr sz="1700"/>
          </a:p>
        </p:txBody>
      </p:sp>
      <p:sp>
        <p:nvSpPr>
          <p:cNvPr id="333" name="Google Shape;333;p23"/>
          <p:cNvSpPr txBox="1"/>
          <p:nvPr/>
        </p:nvSpPr>
        <p:spPr>
          <a:xfrm>
            <a:off x="8226325" y="5219700"/>
            <a:ext cx="3251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How machine learning models learn human values and misalignments.</a:t>
            </a:r>
            <a:endParaRPr sz="17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8" name="Google Shape;33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29300" y="1738312"/>
            <a:ext cx="5334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9" name="Google Shape;339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29312" y="1871662"/>
            <a:ext cx="3333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24"/>
          <p:cNvSpPr txBox="1"/>
          <p:nvPr/>
        </p:nvSpPr>
        <p:spPr>
          <a:xfrm>
            <a:off x="970359" y="2500312"/>
            <a:ext cx="1025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Ethics is a Design Constraint, Not an Afterthought.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41" name="Google Shape;341;p24"/>
          <p:cNvSpPr txBox="1"/>
          <p:nvPr/>
        </p:nvSpPr>
        <p:spPr>
          <a:xfrm>
            <a:off x="1809750" y="3662362"/>
            <a:ext cx="8572500" cy="7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Real-world failures trace back to treating ethics as an afterthought. Ask at design time: </a:t>
            </a:r>
            <a:r>
              <a:rPr b="0" i="1" lang="en-US" sz="19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"Who could this harm, and how would we know?"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