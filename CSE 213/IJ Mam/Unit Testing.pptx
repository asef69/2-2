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  <p:sldMasterId id="2147483708" r:id="rId2"/>
  </p:sldMasterIdLst>
  <p:notesMasterIdLst>
    <p:notesMasterId r:id="rId27"/>
  </p:notesMasterIdLst>
  <p:sldIdLst>
    <p:sldId id="329" r:id="rId3"/>
    <p:sldId id="330" r:id="rId4"/>
    <p:sldId id="332" r:id="rId5"/>
    <p:sldId id="349" r:id="rId6"/>
    <p:sldId id="350" r:id="rId7"/>
    <p:sldId id="352" r:id="rId8"/>
    <p:sldId id="358" r:id="rId9"/>
    <p:sldId id="359" r:id="rId10"/>
    <p:sldId id="361" r:id="rId11"/>
    <p:sldId id="360" r:id="rId12"/>
    <p:sldId id="354" r:id="rId13"/>
    <p:sldId id="356" r:id="rId14"/>
    <p:sldId id="357" r:id="rId15"/>
    <p:sldId id="351" r:id="rId16"/>
    <p:sldId id="362" r:id="rId17"/>
    <p:sldId id="363" r:id="rId18"/>
    <p:sldId id="364" r:id="rId19"/>
    <p:sldId id="366" r:id="rId20"/>
    <p:sldId id="367" r:id="rId21"/>
    <p:sldId id="368" r:id="rId22"/>
    <p:sldId id="369" r:id="rId23"/>
    <p:sldId id="370" r:id="rId24"/>
    <p:sldId id="371" r:id="rId25"/>
    <p:sldId id="372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0033CC"/>
    <a:srgbClr val="008000"/>
    <a:srgbClr val="FCD4D4"/>
    <a:srgbClr val="E1F2F3"/>
    <a:srgbClr val="FFFFC0"/>
    <a:srgbClr val="FFF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3" autoAdjust="0"/>
    <p:restoredTop sz="88785" autoAdjust="0"/>
  </p:normalViewPr>
  <p:slideViewPr>
    <p:cSldViewPr>
      <p:cViewPr varScale="1">
        <p:scale>
          <a:sx n="66" d="100"/>
          <a:sy n="66" d="100"/>
        </p:scale>
        <p:origin x="-1152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1CAB84F-B75A-4984-8F3C-AF33274BE4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8181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138" y="3990975"/>
            <a:ext cx="4651375" cy="3781425"/>
          </a:xfrm>
        </p:spPr>
        <p:txBody>
          <a:bodyPr/>
          <a:lstStyle/>
          <a:p>
            <a:r>
              <a:rPr lang="en-US" altLang="en-US" sz="800" smtClean="0">
                <a:latin typeface="Arial" panose="020B0604020202020204" pitchFamily="34" charset="0"/>
              </a:rPr>
              <a:t>a good equals method has some initial checks like checking for null, checking whether this == that, check instanceof, etc...  then it calls compareTo</a:t>
            </a:r>
          </a:p>
        </p:txBody>
      </p:sp>
    </p:spTree>
    <p:extLst>
      <p:ext uri="{BB962C8B-B14F-4D97-AF65-F5344CB8AC3E}">
        <p14:creationId xmlns:p14="http://schemas.microsoft.com/office/powerpoint/2010/main" val="3787287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80F6-D8F9-4861-A47D-FB5C54C59CB3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78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2033"/>
            <a:ext cx="7886700" cy="859516"/>
          </a:xfrm>
        </p:spPr>
        <p:txBody>
          <a:bodyPr/>
          <a:lstStyle>
            <a:lvl1pPr algn="ctr">
              <a:defRPr>
                <a:solidFill>
                  <a:srgbClr val="0033CC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4960484"/>
          </a:xfrm>
        </p:spPr>
        <p:txBody>
          <a:bodyPr/>
          <a:lstStyle>
            <a:lvl2pPr marL="514350" indent="-171450">
              <a:buFont typeface="Calibri" panose="020F0502020204030204" pitchFamily="34" charset="0"/>
              <a:buChar char="ꟷ"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0078F-E661-48DF-8D03-D0A50507C023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40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83A8-167A-4325-AC58-C125C20F04E5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60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C363-00E5-4873-92AC-6FCDF94FB804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17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0710-5570-4B4A-AE9F-426CB1D545EA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42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CFBE-BA8E-42DA-94C4-303826948E42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26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0F559-AD7B-4E56-ABF5-FF34E2DBC8A2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49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64ED-635C-40CA-8BE7-BE2C04A36912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07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A45-0C1D-4CDA-AED5-977A475009FE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7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6BA6-EDF0-41F8-A44F-28D36A9FF955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34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9962-6CD1-4735-8959-BF829C68AEB8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009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23CF-EEE8-42B3-B379-29CA3A9AD32E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69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4CBB-8DC2-4B02-880A-5B1B61C50280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15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60FF-FF94-4CBA-8E0A-430FBA53ACAB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36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A2FF-3C94-4AD5-ADB2-25FC35199BC0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48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118A-8C73-4274-903B-9E0E12B37512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846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F233-675C-4E2D-ADE1-062026707D88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2240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D0C5-1A3B-4AF9-B1AF-82EC1777D8DE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24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099-D8CB-4603-B933-8D2B27420331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0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F949-74B6-4108-8BF4-F11AB8FB4A07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77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ABA2-14F6-4CC3-9DAC-BBBB0D99BD97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55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C58A-6D66-4D15-BB59-04E72387B4C0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3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8349D-D56D-48A9-A584-3FF7CB447BAA}" type="datetime1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6692348"/>
            <a:ext cx="9144001" cy="165652"/>
          </a:xfrm>
          <a:prstGeom prst="rect">
            <a:avLst/>
          </a:prstGeom>
          <a:solidFill>
            <a:srgbClr val="66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9pPr>
          </a:lstStyle>
          <a:p>
            <a:endParaRPr lang="en-US" kern="0" dirty="0"/>
          </a:p>
        </p:txBody>
      </p:sp>
      <p:sp>
        <p:nvSpPr>
          <p:cNvPr id="9" name="Slide Number Placeholder 3"/>
          <p:cNvSpPr txBox="1">
            <a:spLocks noGrp="1"/>
          </p:cNvSpPr>
          <p:nvPr userDrawn="1"/>
        </p:nvSpPr>
        <p:spPr bwMode="auto">
          <a:xfrm>
            <a:off x="8305800" y="6262916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fld id="{F7051C5F-0994-4C42-8BDD-F9DE4AC27786}" type="slidenum">
              <a:rPr lang="en-US" altLang="en-US" sz="1200">
                <a:solidFill>
                  <a:srgbClr val="424242"/>
                </a:solidFill>
                <a:latin typeface="+mn-lt"/>
              </a:rPr>
              <a:pPr eaLnBrk="1" hangingPunct="1">
                <a:spcBef>
                  <a:spcPts val="500"/>
                </a:spcBef>
              </a:pPr>
              <a:t>‹#›</a:t>
            </a:fld>
            <a:endParaRPr lang="en-US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376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14700"/>
            <a:ext cx="7886700" cy="899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118507"/>
            <a:ext cx="7886700" cy="5061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797AAD-96CD-4A47-B0D1-61BA85EB678F}" type="datetime1">
              <a:rPr lang="en-US" smtClean="0"/>
              <a:pPr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junit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Unit testing?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Unit tests are </a:t>
            </a:r>
            <a:r>
              <a:rPr lang="en-US" sz="3200" dirty="0" err="1">
                <a:solidFill>
                  <a:srgbClr val="FF0000"/>
                </a:solidFill>
              </a:rPr>
              <a:t>whitebox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tests written </a:t>
            </a:r>
            <a:r>
              <a:rPr lang="en-US" sz="3200" dirty="0" smtClean="0"/>
              <a:t>by </a:t>
            </a:r>
            <a:r>
              <a:rPr lang="en-US" sz="3200" dirty="0" smtClean="0">
                <a:solidFill>
                  <a:srgbClr val="00B050"/>
                </a:solidFill>
              </a:rPr>
              <a:t>developers</a:t>
            </a:r>
            <a:r>
              <a:rPr lang="en-US" sz="3200" dirty="0"/>
              <a:t>, and designed to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verify</a:t>
            </a:r>
            <a:r>
              <a:rPr lang="en-US" sz="3200" dirty="0"/>
              <a:t> </a:t>
            </a:r>
            <a:r>
              <a:rPr lang="en-US" sz="3200" dirty="0" smtClean="0">
                <a:solidFill>
                  <a:srgbClr val="00B0F0"/>
                </a:solidFill>
              </a:rPr>
              <a:t>small units </a:t>
            </a:r>
            <a:r>
              <a:rPr lang="en-US" sz="3200" dirty="0"/>
              <a:t>of program functionality.</a:t>
            </a:r>
          </a:p>
        </p:txBody>
      </p:sp>
      <p:pic>
        <p:nvPicPr>
          <p:cNvPr id="4" name="Picture 2" descr="http://www.welovebug.com/wp-content/uploads/2013/11/13UnitTest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0" t="23333" r="-1" b="19999"/>
          <a:stretch/>
        </p:blipFill>
        <p:spPr bwMode="auto">
          <a:xfrm>
            <a:off x="4800600" y="3707607"/>
            <a:ext cx="39624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40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write unit tests?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Unit tests are written by you, the </a:t>
            </a:r>
            <a:r>
              <a:rPr lang="en-US" sz="3200" dirty="0">
                <a:solidFill>
                  <a:srgbClr val="00B050"/>
                </a:solidFill>
              </a:rPr>
              <a:t>developer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FF0000"/>
                </a:solidFill>
              </a:rPr>
              <a:t>concurrently</a:t>
            </a:r>
            <a:r>
              <a:rPr lang="en-US" sz="3200" dirty="0"/>
              <a:t> with implementation.</a:t>
            </a:r>
          </a:p>
        </p:txBody>
      </p:sp>
      <p:pic>
        <p:nvPicPr>
          <p:cNvPr id="2050" name="Picture 2" descr="http://samsuggalaxynote5.com/wp-content/uploads/2014/12/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038600"/>
            <a:ext cx="33337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070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Good Unit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dirty="0" smtClean="0">
                <a:solidFill>
                  <a:srgbClr val="800000"/>
                </a:solidFill>
              </a:rPr>
              <a:t>Automatic:</a:t>
            </a:r>
            <a:r>
              <a:rPr lang="en-US" sz="2700" dirty="0" smtClean="0"/>
              <a:t> Run </a:t>
            </a:r>
            <a:r>
              <a:rPr lang="en-US" sz="2700" dirty="0"/>
              <a:t>completely by itself, without any human input. </a:t>
            </a:r>
            <a:endParaRPr lang="en-US" sz="2700" dirty="0">
              <a:solidFill>
                <a:srgbClr val="800000"/>
              </a:solidFill>
            </a:endParaRPr>
          </a:p>
          <a:p>
            <a:r>
              <a:rPr lang="en-US" sz="2700" dirty="0" smtClean="0">
                <a:solidFill>
                  <a:srgbClr val="800000"/>
                </a:solidFill>
              </a:rPr>
              <a:t>Atomic: </a:t>
            </a:r>
            <a:r>
              <a:rPr lang="en-US" sz="2700" dirty="0" smtClean="0"/>
              <a:t>Determine </a:t>
            </a:r>
            <a:r>
              <a:rPr lang="en-US" sz="2700" dirty="0"/>
              <a:t>by itself whether the function it is testing has passed or failed, without a human interpreting the results</a:t>
            </a:r>
          </a:p>
          <a:p>
            <a:r>
              <a:rPr lang="en-US" sz="2700" dirty="0" smtClean="0">
                <a:solidFill>
                  <a:srgbClr val="800000"/>
                </a:solidFill>
              </a:rPr>
              <a:t>Single responsibility: </a:t>
            </a:r>
            <a:r>
              <a:rPr lang="en-US" sz="2700" dirty="0" smtClean="0"/>
              <a:t>Test </a:t>
            </a:r>
            <a:r>
              <a:rPr lang="en-US" sz="2700" dirty="0"/>
              <a:t>exactly one feature</a:t>
            </a:r>
          </a:p>
          <a:p>
            <a:r>
              <a:rPr lang="en-US" sz="2700" dirty="0" smtClean="0">
                <a:solidFill>
                  <a:srgbClr val="800000"/>
                </a:solidFill>
              </a:rPr>
              <a:t>Independent:</a:t>
            </a:r>
            <a:r>
              <a:rPr lang="en-US" sz="2700" dirty="0" smtClean="0"/>
              <a:t> Run </a:t>
            </a:r>
            <a:r>
              <a:rPr lang="en-US" sz="2700" dirty="0"/>
              <a:t>in isolation, separate from any other test cases (even if they test the same functions)</a:t>
            </a:r>
          </a:p>
          <a:p>
            <a:r>
              <a:rPr lang="en-US" sz="2800" dirty="0" smtClean="0">
                <a:solidFill>
                  <a:srgbClr val="800000"/>
                </a:solidFill>
              </a:rPr>
              <a:t>Repeatable: </a:t>
            </a:r>
            <a:r>
              <a:rPr lang="en-US" sz="2800" dirty="0" smtClean="0"/>
              <a:t>Multiple invocations of the test should consistently return the same value.</a:t>
            </a:r>
            <a:endParaRPr lang="en-US" sz="2800" dirty="0">
              <a:solidFill>
                <a:srgbClr val="800000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1429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Unit </a:t>
            </a:r>
            <a:r>
              <a:rPr lang="en-US" dirty="0"/>
              <a:t>testing framework for the Java Programming Language</a:t>
            </a:r>
            <a:r>
              <a:rPr lang="en-US" dirty="0" smtClean="0"/>
              <a:t>.</a:t>
            </a:r>
          </a:p>
          <a:p>
            <a:r>
              <a:rPr lang="en-US" dirty="0"/>
              <a:t>O</a:t>
            </a:r>
            <a:r>
              <a:rPr lang="en-US" dirty="0" smtClean="0"/>
              <a:t>pen </a:t>
            </a:r>
            <a:r>
              <a:rPr lang="en-US" dirty="0"/>
              <a:t>source </a:t>
            </a:r>
            <a:r>
              <a:rPr lang="en-US" dirty="0" smtClean="0"/>
              <a:t>( </a:t>
            </a:r>
            <a:r>
              <a:rPr lang="en-US" dirty="0" smtClean="0">
                <a:hlinkClick r:id="rId2"/>
              </a:rPr>
              <a:t>http://Junit.org</a:t>
            </a:r>
            <a:r>
              <a:rPr lang="en-US" dirty="0" smtClean="0"/>
              <a:t> )  </a:t>
            </a:r>
          </a:p>
          <a:p>
            <a:r>
              <a:rPr lang="en-US" dirty="0" smtClean="0"/>
              <a:t> Framework for both writing and automated execution of unit tests</a:t>
            </a:r>
          </a:p>
          <a:p>
            <a:r>
              <a:rPr lang="en-US" dirty="0" smtClean="0"/>
              <a:t>Can be integrated with eclipse.</a:t>
            </a:r>
          </a:p>
          <a:p>
            <a:endParaRPr lang="en-US" dirty="0"/>
          </a:p>
        </p:txBody>
      </p:sp>
      <p:pic>
        <p:nvPicPr>
          <p:cNvPr id="6146" name="Picture 2" descr="JUn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4953000"/>
            <a:ext cx="22860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27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JUnit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package </a:t>
            </a:r>
            <a:r>
              <a:rPr 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edu.siu.cs435;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Math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+ b;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sub(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 b;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303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JUnit and Eclipse</a:t>
            </a:r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en-US" dirty="0" smtClean="0">
                <a:solidFill>
                  <a:srgbClr val="262626"/>
                </a:solidFill>
              </a:rPr>
              <a:t>To add JUnit to an Eclipse project, click:</a:t>
            </a:r>
          </a:p>
          <a:p>
            <a:pPr lvl="1"/>
            <a:r>
              <a:rPr lang="en-US" altLang="en-US" b="1" dirty="0" smtClean="0">
                <a:solidFill>
                  <a:srgbClr val="404040"/>
                </a:solidFill>
              </a:rPr>
              <a:t>Project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b="1" dirty="0" smtClean="0">
                <a:solidFill>
                  <a:srgbClr val="404040"/>
                </a:solidFill>
              </a:rPr>
              <a:t>Properties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b="1" dirty="0" smtClean="0">
                <a:solidFill>
                  <a:srgbClr val="404040"/>
                </a:solidFill>
              </a:rPr>
              <a:t>Build Path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b="1" dirty="0" smtClean="0">
                <a:solidFill>
                  <a:srgbClr val="404040"/>
                </a:solidFill>
              </a:rPr>
              <a:t>Libraries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  <a:t></a:t>
            </a:r>
            <a:b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</a:br>
            <a:r>
              <a:rPr lang="en-US" altLang="en-US" b="1" dirty="0" smtClean="0">
                <a:solidFill>
                  <a:srgbClr val="404040"/>
                </a:solidFill>
              </a:rPr>
              <a:t>Add Library...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  <a:t> </a:t>
            </a:r>
            <a:r>
              <a:rPr lang="en-US" altLang="en-US" b="1" dirty="0" smtClean="0">
                <a:solidFill>
                  <a:srgbClr val="404040"/>
                </a:solidFill>
                <a:sym typeface="Symbol" panose="05050102010706020507" pitchFamily="18" charset="2"/>
              </a:rPr>
              <a:t>JUnit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  <a:t> </a:t>
            </a:r>
            <a:r>
              <a:rPr lang="en-US" altLang="en-US" b="1" dirty="0" smtClean="0">
                <a:solidFill>
                  <a:srgbClr val="404040"/>
                </a:solidFill>
                <a:sym typeface="Symbol" panose="05050102010706020507" pitchFamily="18" charset="2"/>
              </a:rPr>
              <a:t>JUnit 4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  <a:t> </a:t>
            </a:r>
            <a:r>
              <a:rPr lang="en-US" altLang="en-US" b="1" dirty="0" smtClean="0">
                <a:solidFill>
                  <a:srgbClr val="404040"/>
                </a:solidFill>
                <a:sym typeface="Symbol" panose="05050102010706020507" pitchFamily="18" charset="2"/>
              </a:rPr>
              <a:t>Finish</a:t>
            </a:r>
            <a:endParaRPr lang="en-US" altLang="en-US" b="1" dirty="0" smtClean="0">
              <a:solidFill>
                <a:srgbClr val="404040"/>
              </a:solidFill>
            </a:endParaRPr>
          </a:p>
          <a:p>
            <a:pPr lvl="1"/>
            <a:endParaRPr lang="en-US" altLang="en-US" sz="1800" i="1" dirty="0" smtClean="0">
              <a:solidFill>
                <a:schemeClr val="bg2"/>
              </a:solidFill>
            </a:endParaRPr>
          </a:p>
          <a:p>
            <a:pPr lvl="1"/>
            <a:endParaRPr lang="en-US" altLang="en-US" sz="1800" i="1" dirty="0" smtClean="0">
              <a:solidFill>
                <a:schemeClr val="bg2"/>
              </a:solidFill>
            </a:endParaRPr>
          </a:p>
          <a:p>
            <a:r>
              <a:rPr lang="en-US" altLang="en-US" dirty="0" smtClean="0">
                <a:solidFill>
                  <a:srgbClr val="262626"/>
                </a:solidFill>
              </a:rPr>
              <a:t>To create a test case:</a:t>
            </a:r>
          </a:p>
          <a:p>
            <a:pPr lvl="1"/>
            <a:r>
              <a:rPr lang="en-US" altLang="en-US" dirty="0" smtClean="0">
                <a:solidFill>
                  <a:srgbClr val="404040"/>
                </a:solidFill>
              </a:rPr>
              <a:t>right-click a file and</a:t>
            </a:r>
            <a:br>
              <a:rPr lang="en-US" altLang="en-US" dirty="0" smtClean="0">
                <a:solidFill>
                  <a:srgbClr val="404040"/>
                </a:solidFill>
              </a:rPr>
            </a:br>
            <a:r>
              <a:rPr lang="en-US" altLang="en-US" dirty="0" smtClean="0">
                <a:solidFill>
                  <a:srgbClr val="404040"/>
                </a:solidFill>
              </a:rPr>
              <a:t>choose </a:t>
            </a:r>
            <a:r>
              <a:rPr lang="en-US" altLang="en-US" b="1" dirty="0" smtClean="0">
                <a:solidFill>
                  <a:srgbClr val="404040"/>
                </a:solidFill>
              </a:rPr>
              <a:t>New </a:t>
            </a:r>
            <a: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  <a:t></a:t>
            </a:r>
            <a:r>
              <a:rPr lang="en-US" altLang="en-US" b="1" dirty="0" smtClean="0">
                <a:solidFill>
                  <a:srgbClr val="404040"/>
                </a:solidFill>
              </a:rPr>
              <a:t> Test Case</a:t>
            </a:r>
          </a:p>
          <a:p>
            <a:pPr lvl="1"/>
            <a:r>
              <a:rPr lang="en-US" altLang="en-US" dirty="0" smtClean="0">
                <a:solidFill>
                  <a:srgbClr val="404040"/>
                </a:solidFill>
              </a:rPr>
              <a:t>or click </a:t>
            </a:r>
            <a:r>
              <a:rPr lang="en-US" altLang="en-US" b="1" dirty="0" smtClean="0">
                <a:solidFill>
                  <a:srgbClr val="404040"/>
                </a:solidFill>
              </a:rPr>
              <a:t>File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b="1" dirty="0" smtClean="0">
                <a:solidFill>
                  <a:srgbClr val="404040"/>
                </a:solidFill>
              </a:rPr>
              <a:t>New</a:t>
            </a:r>
            <a:r>
              <a:rPr lang="en-US" altLang="en-US" dirty="0" smtClean="0">
                <a:solidFill>
                  <a:srgbClr val="404040"/>
                </a:solidFill>
              </a:rPr>
              <a:t> </a:t>
            </a:r>
            <a:r>
              <a:rPr lang="en-US" altLang="en-US" dirty="0" smtClean="0">
                <a:solidFill>
                  <a:srgbClr val="40404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 smtClean="0">
                <a:solidFill>
                  <a:srgbClr val="404040"/>
                </a:solidFill>
              </a:rPr>
              <a:t/>
            </a:r>
            <a:br>
              <a:rPr lang="en-US" altLang="en-US" dirty="0" smtClean="0">
                <a:solidFill>
                  <a:srgbClr val="404040"/>
                </a:solidFill>
              </a:rPr>
            </a:br>
            <a:r>
              <a:rPr lang="en-US" altLang="en-US" dirty="0" smtClean="0">
                <a:solidFill>
                  <a:srgbClr val="404040"/>
                </a:solidFill>
              </a:rPr>
              <a:t>	</a:t>
            </a:r>
            <a:r>
              <a:rPr lang="en-US" altLang="en-US" b="1" dirty="0" smtClean="0">
                <a:solidFill>
                  <a:srgbClr val="404040"/>
                </a:solidFill>
              </a:rPr>
              <a:t>JUnit Test Case</a:t>
            </a:r>
          </a:p>
          <a:p>
            <a:pPr lvl="1"/>
            <a:endParaRPr lang="en-US" altLang="en-US" sz="1200" b="1" dirty="0" smtClean="0">
              <a:solidFill>
                <a:srgbClr val="404040"/>
              </a:solidFill>
            </a:endParaRPr>
          </a:p>
          <a:p>
            <a:pPr lvl="1"/>
            <a:r>
              <a:rPr lang="en-US" altLang="en-US" dirty="0" smtClean="0">
                <a:solidFill>
                  <a:srgbClr val="404040"/>
                </a:solidFill>
              </a:rPr>
              <a:t>Eclipse can create stubs</a:t>
            </a:r>
            <a:br>
              <a:rPr lang="en-US" altLang="en-US" dirty="0" smtClean="0">
                <a:solidFill>
                  <a:srgbClr val="404040"/>
                </a:solidFill>
              </a:rPr>
            </a:br>
            <a:r>
              <a:rPr lang="en-US" altLang="en-US" dirty="0" smtClean="0">
                <a:solidFill>
                  <a:srgbClr val="404040"/>
                </a:solidFill>
              </a:rPr>
              <a:t>of method tests for you.</a:t>
            </a:r>
          </a:p>
          <a:p>
            <a:endParaRPr lang="en-US" altLang="en-US" dirty="0" smtClean="0">
              <a:solidFill>
                <a:srgbClr val="26262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981200"/>
            <a:ext cx="4038600" cy="448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9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Junit in Eclipse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71600"/>
            <a:ext cx="4066512" cy="47692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371600"/>
            <a:ext cx="4124420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9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874328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95400" y="2514600"/>
            <a:ext cx="2895600" cy="30480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95400" y="3733800"/>
            <a:ext cx="2895600" cy="30480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3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6553200" cy="628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2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328612"/>
            <a:ext cx="8743950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3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04800"/>
            <a:ext cx="8770428" cy="5791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0" y="2362200"/>
            <a:ext cx="3048000" cy="22860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567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JUnit assertion methods</a:t>
            </a:r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4680043"/>
            <a:ext cx="7924800" cy="1295400"/>
          </a:xfrm>
        </p:spPr>
        <p:txBody>
          <a:bodyPr>
            <a:normAutofit/>
          </a:bodyPr>
          <a:lstStyle/>
          <a:p>
            <a:r>
              <a:rPr lang="en-US" altLang="en-US" dirty="0" smtClean="0">
                <a:solidFill>
                  <a:srgbClr val="262626"/>
                </a:solidFill>
              </a:rPr>
              <a:t>Each method can also be passed a string to display if it fails:</a:t>
            </a:r>
          </a:p>
          <a:p>
            <a:pPr lvl="1"/>
            <a:r>
              <a:rPr lang="en-US" altLang="en-US" dirty="0" smtClean="0">
                <a:solidFill>
                  <a:srgbClr val="404040"/>
                </a:solidFill>
              </a:rPr>
              <a:t>e.g.  </a:t>
            </a:r>
            <a:r>
              <a:rPr lang="en-US" altLang="en-US" dirty="0" err="1" smtClean="0">
                <a:solidFill>
                  <a:srgbClr val="404040"/>
                </a:solidFill>
                <a:latin typeface="Courier New" panose="02070309020205020404" pitchFamily="49" charset="0"/>
              </a:rPr>
              <a:t>assertEquals</a:t>
            </a:r>
            <a:r>
              <a:rPr lang="en-US" altLang="en-US" dirty="0" smtClean="0">
                <a:solidFill>
                  <a:srgbClr val="404040"/>
                </a:solidFill>
                <a:latin typeface="Courier New" panose="02070309020205020404" pitchFamily="49" charset="0"/>
              </a:rPr>
              <a:t>("</a:t>
            </a:r>
            <a:r>
              <a:rPr lang="en-US" altLang="en-US" b="1" dirty="0" smtClean="0">
                <a:solidFill>
                  <a:srgbClr val="404040"/>
                </a:solidFill>
              </a:rPr>
              <a:t>message</a:t>
            </a:r>
            <a:r>
              <a:rPr lang="en-US" altLang="en-US" dirty="0" smtClean="0">
                <a:solidFill>
                  <a:srgbClr val="404040"/>
                </a:solidFill>
                <a:latin typeface="Courier New" panose="02070309020205020404" pitchFamily="49" charset="0"/>
              </a:rPr>
              <a:t>", </a:t>
            </a:r>
            <a:r>
              <a:rPr lang="en-US" altLang="en-US" b="1" dirty="0" smtClean="0">
                <a:solidFill>
                  <a:srgbClr val="404040"/>
                </a:solidFill>
              </a:rPr>
              <a:t>expected</a:t>
            </a:r>
            <a:r>
              <a:rPr lang="en-US" altLang="en-US" dirty="0" smtClean="0">
                <a:solidFill>
                  <a:srgbClr val="40404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b="1" dirty="0" smtClean="0">
                <a:solidFill>
                  <a:srgbClr val="404040"/>
                </a:solidFill>
              </a:rPr>
              <a:t>actual</a:t>
            </a:r>
            <a:r>
              <a:rPr lang="en-US" altLang="en-US" dirty="0" smtClean="0">
                <a:solidFill>
                  <a:srgbClr val="404040"/>
                </a:solidFill>
                <a:latin typeface="Courier New" panose="02070309020205020404" pitchFamily="49" charset="0"/>
              </a:rPr>
              <a:t>)</a:t>
            </a:r>
          </a:p>
          <a:p>
            <a:pPr lvl="1"/>
            <a:endParaRPr lang="en-US" altLang="en-US" dirty="0" smtClean="0">
              <a:solidFill>
                <a:srgbClr val="404040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522244" name="Group 4"/>
          <p:cNvGraphicFramePr>
            <a:graphicFrameLocks noGrp="1"/>
          </p:cNvGraphicFramePr>
          <p:nvPr/>
        </p:nvGraphicFramePr>
        <p:xfrm>
          <a:off x="185738" y="1357313"/>
          <a:ext cx="8763000" cy="2926080"/>
        </p:xfrm>
        <a:graphic>
          <a:graphicData uri="http://schemas.openxmlformats.org/drawingml/2006/table">
            <a:tbl>
              <a:tblPr/>
              <a:tblGrid>
                <a:gridCol w="4495800"/>
                <a:gridCol w="4267200"/>
              </a:tblGrid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assertTrue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test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fails if the boolean test is </a:t>
                      </a:r>
                      <a:r>
                        <a:rPr kumimoji="0" lang="en-US" alt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assertFalse(</a:t>
                      </a: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test</a:t>
                      </a:r>
                      <a:r>
                        <a:rPr kumimoji="0" lang="en-US" alt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fails if the boolean test is </a:t>
                      </a:r>
                      <a:r>
                        <a:rPr kumimoji="0" lang="en-US" alt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46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assertEquals(</a:t>
                      </a: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expected</a:t>
                      </a:r>
                      <a:r>
                        <a:rPr kumimoji="0" lang="en-US" alt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actual</a:t>
                      </a:r>
                      <a:r>
                        <a:rPr kumimoji="0" lang="en-US" alt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fails if the values are not equal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assertSame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expected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actual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fails if the values are not the same (by </a:t>
                      </a: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==</a:t>
                      </a: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assertNotSame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expected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actual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fails if the values </a:t>
                      </a:r>
                      <a:r>
                        <a:rPr kumimoji="0" lang="en-US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are </a:t>
                      </a: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the same (by </a:t>
                      </a: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==</a:t>
                      </a: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assertNull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fails if the given value is </a:t>
                      </a:r>
                      <a:r>
                        <a:rPr kumimoji="0" lang="en-US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assertNotNull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Verdana" panose="020B060403050404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fails if the given value is </a:t>
                      </a: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fail()</a:t>
                      </a:r>
                      <a:endParaRPr kumimoji="0" lang="en-US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causes current test to immediately fail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48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Junit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Provides </a:t>
            </a:r>
            <a:r>
              <a:rPr lang="en-US" dirty="0"/>
              <a:t>following important features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Fixtures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Test suites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Test runners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JUnit classes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54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Fixtures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Fixtures</a:t>
            </a:r>
            <a:r>
              <a:rPr lang="en-US" dirty="0"/>
              <a:t> is a fixed state of a set of objects used as a baseline for running tests. The purpose of a test fixture is to ensure that there is a well known and fixed environment in which tests are run so that results are repeatable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@Before</a:t>
            </a:r>
          </a:p>
          <a:p>
            <a:pPr lvl="1"/>
            <a:r>
              <a:rPr lang="en-US" dirty="0"/>
              <a:t>Performs this function before each test case</a:t>
            </a:r>
          </a:p>
          <a:p>
            <a:pPr lvl="1"/>
            <a:r>
              <a:rPr lang="en-US" dirty="0"/>
              <a:t>Since each of the tests are independent, each test will receive </a:t>
            </a:r>
            <a:r>
              <a:rPr lang="en-US" i="1" dirty="0"/>
              <a:t>its own instance of whatever is created in the @Before methods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@Test</a:t>
            </a:r>
          </a:p>
          <a:p>
            <a:pPr lvl="1"/>
            <a:r>
              <a:rPr lang="en-US" dirty="0"/>
              <a:t>Indicates individual test cases</a:t>
            </a:r>
          </a:p>
          <a:p>
            <a:pPr lvl="1"/>
            <a:r>
              <a:rPr lang="en-US" dirty="0"/>
              <a:t>Must be present to tell JUnit which methods are tests and which are helpers</a:t>
            </a:r>
          </a:p>
          <a:p>
            <a:pPr lvl="1"/>
            <a:endParaRPr lang="en-US" dirty="0"/>
          </a:p>
          <a:p>
            <a:r>
              <a:rPr lang="en-US" dirty="0"/>
              <a:t>@After</a:t>
            </a:r>
          </a:p>
          <a:p>
            <a:pPr lvl="1"/>
            <a:r>
              <a:rPr lang="en-US" dirty="0"/>
              <a:t>The teardown after each test case</a:t>
            </a:r>
          </a:p>
          <a:p>
            <a:pPr lvl="1"/>
            <a:r>
              <a:rPr lang="en-US" dirty="0"/>
              <a:t>Usually need to worry about this only if you have created external resources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81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" y="76200"/>
            <a:ext cx="8763000" cy="66562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62400" y="1524000"/>
            <a:ext cx="3048000" cy="91440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35963" y="5638800"/>
            <a:ext cx="3048000" cy="91440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1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Suite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1298121"/>
          </a:xfrm>
        </p:spPr>
        <p:txBody>
          <a:bodyPr/>
          <a:lstStyle/>
          <a:p>
            <a:r>
              <a:rPr lang="en-US" b="1" dirty="0"/>
              <a:t>Test suite</a:t>
            </a:r>
            <a:r>
              <a:rPr lang="en-US" dirty="0"/>
              <a:t> means bundle a few unit test cases and run it together. In JUnit, both @</a:t>
            </a:r>
            <a:r>
              <a:rPr lang="en-US" dirty="0" err="1"/>
              <a:t>RunWith</a:t>
            </a:r>
            <a:r>
              <a:rPr lang="en-US" dirty="0"/>
              <a:t> and @Suite annotation are used to run the suite test.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895600"/>
            <a:ext cx="86360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9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Runner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1221921"/>
          </a:xfrm>
        </p:spPr>
        <p:txBody>
          <a:bodyPr/>
          <a:lstStyle/>
          <a:p>
            <a:r>
              <a:rPr lang="en-US" b="1" dirty="0"/>
              <a:t>Test runner</a:t>
            </a:r>
            <a:r>
              <a:rPr lang="en-US" dirty="0"/>
              <a:t> is used for executing the test cases.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57400"/>
            <a:ext cx="8802356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9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JUnit exercise</a:t>
            </a:r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</a:rPr>
              <a:t>Given a 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Date</a:t>
            </a:r>
            <a:r>
              <a:rPr lang="en-US" altLang="en-US" smtClean="0">
                <a:solidFill>
                  <a:srgbClr val="262626"/>
                </a:solidFill>
              </a:rPr>
              <a:t> class with the following methods: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900" smtClean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</a:pP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Date(int year, int month, int day)</a:t>
            </a:r>
          </a:p>
          <a:p>
            <a:pPr lvl="1">
              <a:lnSpc>
                <a:spcPct val="80000"/>
              </a:lnSpc>
            </a:pP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Date()                   </a:t>
            </a:r>
            <a:r>
              <a:rPr lang="en-US" altLang="en-US" sz="2000" smtClean="0">
                <a:solidFill>
                  <a:srgbClr val="008080"/>
                </a:solidFill>
                <a:latin typeface="Courier New" panose="02070309020205020404" pitchFamily="49" charset="0"/>
              </a:rPr>
              <a:t>// today</a:t>
            </a:r>
          </a:p>
          <a:p>
            <a:pPr lvl="1">
              <a:lnSpc>
                <a:spcPct val="80000"/>
              </a:lnSpc>
            </a:pP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int getDay(), getMonth(), getYear()</a:t>
            </a:r>
          </a:p>
          <a:p>
            <a:pPr lvl="1">
              <a:lnSpc>
                <a:spcPct val="80000"/>
              </a:lnSpc>
            </a:pP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void addDays(int days)   </a:t>
            </a:r>
            <a:r>
              <a:rPr lang="en-US" altLang="en-US" sz="2000" smtClean="0">
                <a:solidFill>
                  <a:srgbClr val="008080"/>
                </a:solidFill>
                <a:latin typeface="Courier New" panose="02070309020205020404" pitchFamily="49" charset="0"/>
              </a:rPr>
              <a:t>// advances by </a:t>
            </a:r>
            <a:r>
              <a:rPr lang="en-US" altLang="en-US" sz="2000" i="1" smtClean="0">
                <a:solidFill>
                  <a:srgbClr val="008080"/>
                </a:solidFill>
                <a:latin typeface="Courier New" panose="02070309020205020404" pitchFamily="49" charset="0"/>
              </a:rPr>
              <a:t>days</a:t>
            </a:r>
          </a:p>
          <a:p>
            <a:pPr lvl="1">
              <a:lnSpc>
                <a:spcPct val="80000"/>
              </a:lnSpc>
            </a:pP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int daysInMonth()</a:t>
            </a:r>
          </a:p>
          <a:p>
            <a:pPr lvl="1">
              <a:lnSpc>
                <a:spcPct val="80000"/>
              </a:lnSpc>
            </a:pP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String dayOfWeek()       </a:t>
            </a:r>
            <a:r>
              <a:rPr lang="en-US" altLang="en-US" sz="2000" smtClean="0">
                <a:solidFill>
                  <a:srgbClr val="008080"/>
                </a:solidFill>
                <a:latin typeface="Courier New" panose="02070309020205020404" pitchFamily="49" charset="0"/>
              </a:rPr>
              <a:t>// e.g. "Sunday"</a:t>
            </a:r>
            <a:endParaRPr lang="en-US" altLang="en-US" sz="2000" smtClean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</a:pP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boolean equals(Object o)</a:t>
            </a:r>
          </a:p>
          <a:p>
            <a:pPr lvl="1">
              <a:lnSpc>
                <a:spcPct val="80000"/>
              </a:lnSpc>
            </a:pP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boolean isLeapYear()</a:t>
            </a:r>
          </a:p>
          <a:p>
            <a:pPr lvl="1">
              <a:lnSpc>
                <a:spcPct val="80000"/>
              </a:lnSpc>
            </a:pP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void nextDay()           </a:t>
            </a:r>
            <a:r>
              <a:rPr lang="en-US" altLang="en-US" sz="2000" smtClean="0">
                <a:solidFill>
                  <a:srgbClr val="008080"/>
                </a:solidFill>
                <a:latin typeface="Courier New" panose="02070309020205020404" pitchFamily="49" charset="0"/>
              </a:rPr>
              <a:t>// advances by 1 day</a:t>
            </a:r>
          </a:p>
          <a:p>
            <a:pPr lvl="1">
              <a:lnSpc>
                <a:spcPct val="80000"/>
              </a:lnSpc>
            </a:pP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String toString()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smtClean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mtClean="0">
                <a:solidFill>
                  <a:srgbClr val="262626"/>
                </a:solidFill>
              </a:rPr>
              <a:t>Come up with unit tests to check the following:</a:t>
            </a:r>
          </a:p>
          <a:p>
            <a:pPr lvl="1">
              <a:lnSpc>
                <a:spcPct val="90000"/>
              </a:lnSpc>
            </a:pPr>
            <a:r>
              <a:rPr lang="en-US" altLang="en-US" smtClean="0">
                <a:solidFill>
                  <a:srgbClr val="404040"/>
                </a:solidFill>
              </a:rPr>
              <a:t>That no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Date</a:t>
            </a:r>
            <a:r>
              <a:rPr lang="en-US" altLang="en-US" smtClean="0">
                <a:solidFill>
                  <a:srgbClr val="404040"/>
                </a:solidFill>
              </a:rPr>
              <a:t> object can ever get into an invalid state.</a:t>
            </a:r>
          </a:p>
          <a:p>
            <a:pPr lvl="1">
              <a:lnSpc>
                <a:spcPct val="90000"/>
              </a:lnSpc>
            </a:pPr>
            <a:r>
              <a:rPr lang="en-US" altLang="en-US" smtClean="0">
                <a:solidFill>
                  <a:srgbClr val="404040"/>
                </a:solidFill>
              </a:rPr>
              <a:t>That the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addDays</a:t>
            </a:r>
            <a:r>
              <a:rPr lang="en-US" altLang="en-US" smtClean="0">
                <a:solidFill>
                  <a:srgbClr val="404040"/>
                </a:solidFill>
              </a:rPr>
              <a:t> method works properly.</a:t>
            </a:r>
          </a:p>
          <a:p>
            <a:pPr lvl="2">
              <a:lnSpc>
                <a:spcPct val="90000"/>
              </a:lnSpc>
            </a:pPr>
            <a:r>
              <a:rPr lang="en-US" altLang="en-US" smtClean="0"/>
              <a:t>It should be efficient enough to add 1,000,000 days in a call.</a:t>
            </a:r>
          </a:p>
        </p:txBody>
      </p:sp>
    </p:spTree>
    <p:extLst>
      <p:ext uri="{BB962C8B-B14F-4D97-AF65-F5344CB8AC3E}">
        <p14:creationId xmlns:p14="http://schemas.microsoft.com/office/powerpoint/2010/main" val="33597361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What's wrong with this?</a:t>
            </a:r>
          </a:p>
        </p:txBody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>
            <a:normAutofit lnSpcReduction="10000"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DateTest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@Test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test1()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d = new Date(2050, 2, 15);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d.addDays(4);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assertEquals(d.getYear(), 2050);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assertEquals(d.getMonth(), 2);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assertEquals(d.getDay(), 19);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8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@Test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test2()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d = new Date(2050, 2, 15);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d.addDays(14);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assertEquals(d.getYear(), 2050);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assertEquals(d.getMonth(), 3);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assertEquals(d.getDay(), 1);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882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Well-structured assertions</a:t>
            </a:r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>
            <a:normAutofit lnSpcReduction="10000"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DateTest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@Test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test1()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d = new Date(2050, 2, 15);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d.addDays(4);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2050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, d.getYear()); 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expected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, d.getMonth());   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value should 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19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, d.getDay());    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be at LEFT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8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@Test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test2()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d = new Date(2050, 2, 15);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d.addDays(14);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"year after +14 days"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, 2050, d.getYear());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"month after +14 days"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, 3, d.getMonth());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"day after +14 days"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, 1, d.getDay());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  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test cases should usually have messages explaining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}      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what is being checked, for better failure output</a:t>
            </a:r>
          </a:p>
        </p:txBody>
      </p:sp>
    </p:spTree>
    <p:extLst>
      <p:ext uri="{BB962C8B-B14F-4D97-AF65-F5344CB8AC3E}">
        <p14:creationId xmlns:p14="http://schemas.microsoft.com/office/powerpoint/2010/main" val="89924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5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15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150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150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50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50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150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50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150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Expected answer objects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DateTest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@Test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test1()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d = new Date(2050, 2, 15);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d.addDays(4);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        Date expected = new Date(2050, 2, 19);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expected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, d); 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use an expected answer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                              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object to minimize tests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                            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                           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(Date must have toString</a:t>
            </a:r>
            <a:endParaRPr lang="en-US" altLang="en-US" sz="18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@Test                          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 and equals methods)</a:t>
            </a:r>
            <a:endParaRPr lang="en-US" altLang="en-US" sz="18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test2()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d = new Date(2050, 2, 15);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d.addDays(14);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        Date expected = new Date(2050, 3, 1);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"date after +14 days"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, expected, d);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4781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Naming test cases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>
            <a:normAutofit lnSpcReduction="10000"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DateTest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@Test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test_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addDays_withinSameMonth_1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</a:t>
            </a:r>
            <a:r>
              <a:rPr lang="en-US" altLang="en-US" sz="18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actual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= new Date(2050, 2, 15);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en-US" sz="18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actual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.addDays(4);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expected = new Date(2050, 2, 19);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assertEquals("date after +4 days", expected, </a:t>
            </a:r>
            <a:r>
              <a:rPr lang="en-US" altLang="en-US" sz="18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actual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);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    // give test case methods </a:t>
            </a:r>
            <a:r>
              <a:rPr lang="en-US" altLang="en-US" sz="1800" b="1" i="1" smtClean="0">
                <a:solidFill>
                  <a:srgbClr val="008000"/>
                </a:solidFill>
                <a:latin typeface="Courier New" panose="02070309020205020404" pitchFamily="49" charset="0"/>
              </a:rPr>
              <a:t>really long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descriptive names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@Test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test_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addDays_wrapToNextMonth_2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</a:t>
            </a:r>
            <a:r>
              <a:rPr lang="en-US" altLang="en-US" sz="18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actual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= new Date(2050, 2, 15);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en-US" sz="18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actual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.addDays(14);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expected = new Date(2050, 3, 1);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assertEquals("date after +14 days", expected, </a:t>
            </a:r>
            <a:r>
              <a:rPr lang="en-US" altLang="en-US" sz="18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actual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);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give descriptive names to expected/actual values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775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What's wrong with this?</a:t>
            </a:r>
          </a:p>
        </p:txBody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DateTest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@Test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test_addDays_addJustOneDay_1()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actual = new Date(2050, 2, 15);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actual.addDays(1);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expected = new Date(2050, 2, 16);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    "should have gotten " + expected + "\n" +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    " but instead got " + actual\n", 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    expected, actual);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...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114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Good assertion messages</a:t>
            </a:r>
          </a:p>
        </p:txBody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DateTest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@Test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test_addDays_addJustOneDay_1()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actual = new Date(2050, 2, 15);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actual.addDays(1);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Date expected = new Date(2050, 2, 16);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assertEquals(</a:t>
            </a:r>
            <a:r>
              <a:rPr lang="en-US" altLang="en-US" sz="1800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"adding one day to 2050/2/15"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, 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    expected, actual);</a:t>
            </a:r>
            <a:endParaRPr lang="en-US" altLang="en-US" sz="1800" b="1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...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8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JUnit will already show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the expected and actual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values in its output;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don't need to repeat them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b="1" smtClean="0">
                <a:solidFill>
                  <a:srgbClr val="008000"/>
                </a:solidFill>
                <a:latin typeface="Courier New" panose="02070309020205020404" pitchFamily="49" charset="0"/>
              </a:rPr>
              <a:t>// in the assertion message</a:t>
            </a:r>
          </a:p>
        </p:txBody>
      </p:sp>
      <p:pic>
        <p:nvPicPr>
          <p:cNvPr id="519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810000"/>
            <a:ext cx="4257675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9173" name="Line 5"/>
          <p:cNvSpPr>
            <a:spLocks noChangeShapeType="1"/>
          </p:cNvSpPr>
          <p:nvPr/>
        </p:nvSpPr>
        <p:spPr bwMode="auto">
          <a:xfrm>
            <a:off x="3962400" y="4572000"/>
            <a:ext cx="259080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5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cture2-Lifecyc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Lecture2-Lifecycle</Template>
  <TotalTime>8733</TotalTime>
  <Words>1115</Words>
  <Application>Microsoft Office PowerPoint</Application>
  <PresentationFormat>On-screen Show (4:3)</PresentationFormat>
  <Paragraphs>213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Lecture2-Lifecycle</vt:lpstr>
      <vt:lpstr>HDOfficeLightV0</vt:lpstr>
      <vt:lpstr>What is Unit testing?</vt:lpstr>
      <vt:lpstr>When to write unit tests?</vt:lpstr>
      <vt:lpstr>Good Unit Testing</vt:lpstr>
      <vt:lpstr>JUnit</vt:lpstr>
      <vt:lpstr>JUnit in Action</vt:lpstr>
      <vt:lpstr>JUnit and Eclipse</vt:lpstr>
      <vt:lpstr>Junit in Eclipse</vt:lpstr>
      <vt:lpstr>PowerPoint Presentation</vt:lpstr>
      <vt:lpstr>PowerPoint Presentation</vt:lpstr>
      <vt:lpstr>PowerPoint Presentation</vt:lpstr>
      <vt:lpstr>PowerPoint Presentation</vt:lpstr>
      <vt:lpstr>JUnit assertion methods</vt:lpstr>
      <vt:lpstr>Junit Framework</vt:lpstr>
      <vt:lpstr>Fixtures</vt:lpstr>
      <vt:lpstr>PowerPoint Presentation</vt:lpstr>
      <vt:lpstr>Test Suite</vt:lpstr>
      <vt:lpstr>Test Runner</vt:lpstr>
      <vt:lpstr>JUnit exercise</vt:lpstr>
      <vt:lpstr>What's wrong with this?</vt:lpstr>
      <vt:lpstr>Well-structured assertions</vt:lpstr>
      <vt:lpstr>Expected answer objects</vt:lpstr>
      <vt:lpstr>Naming test cases</vt:lpstr>
      <vt:lpstr>What's wrong with this?</vt:lpstr>
      <vt:lpstr>Good assertion messages</vt:lpstr>
    </vt:vector>
  </TitlesOfParts>
  <Company>University of Washington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CS435</dc:title>
  <dc:creator>Amiangshu Bosu; Marty Stepp</dc:creator>
  <cp:keywords/>
  <dc:description>Amiangshu Bosu, SIU Carbondale</dc:description>
  <cp:lastModifiedBy>Windows User</cp:lastModifiedBy>
  <cp:revision>1060</cp:revision>
  <dcterms:created xsi:type="dcterms:W3CDTF">2008-06-28T20:57:21Z</dcterms:created>
  <dcterms:modified xsi:type="dcterms:W3CDTF">2020-03-09T06:14:56Z</dcterms:modified>
</cp:coreProperties>
</file>